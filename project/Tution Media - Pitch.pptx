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 this is Tution Media. We're building Dhaka's first tutor marketplace that owns the ongoing relationship, not just the match. The incumbent monetizes once at placement, then the tutor and guardian leave the platform. We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market. Bangladesh has a massive informal tuition economy and the incumbent — Caretutors — is 13 years old, has the supply, but tutors wait weeks for matches and the moment a tuition is confirmed, everything leaves the platform. The monthly money, the comms, the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wedge is to own the relationship and the money flow. Five principles guide every feature: be a magnet for tutors, kill the leakage, make trust the moat, stay hyperlocal, and respect bootstrap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tutor app. Easy OTP signup, browse before you verify, one-tap apply, then a verification gate before placement, then in-app trial booking and digital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is the trust object. Optional to start — but required before a tutor can be confirmed. We gate at the moment of real opportunity. Verified tutors are over three times more likely to be shortlisted.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near you is the tutor-facing heatmap. It tells a tutor where requests are clustering and which subjects are trending — so they pick service areas that maximize fill rate. Same data layer powers ops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Privacy-controlled location. A guardian's home address is never exposed to strangers — only fuzzed area + landmark, until they explicitly approve a tutor. On approval, exact pin and Google Maps navigation unlock.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moat. Auto-collected monthly payments, attendance-linked payment protection, verified reputation that only accrues on-platform, replacement guarantee, masked comms — every value layer is only available if you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phased. V1 proves the matching loop in two Dhaka clusters. V2 builds the recurring rails — that's where the moat hardens. V3 layers fintech and verticals.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Monetization maps cleanly to the phases. Placement fee in V1. Then GMV take rate and payment protection fees in V2. Eventually lending and B2B in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market is supply-first. Two areas — one in DNCC, one in DSCC — sequenced not split. We need tutor density before we open demand floodgates.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one instrumentation. We measure on-platform GMV share — the inverse of leakage. That's the north-star number that tells us whether the moat is forming.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us, why now. Android-first PWA, deep local insight, and the discipline to build the unsexy money rails the incumbent never bothered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4981309" y="773545"/>
            <a:ext cx="2468544"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PITCH · MAY 2026 · V1.1</a:t>
            </a:r>
            <a:endParaRPr lang="en-US" sz="1050" dirty="0"/>
          </a:p>
        </p:txBody>
      </p:sp>
      <p:sp>
        <p:nvSpPr>
          <p:cNvPr id="6" name="Text 4"/>
          <p:cNvSpPr/>
          <p:nvPr/>
        </p:nvSpPr>
        <p:spPr>
          <a:xfrm>
            <a:off x="914346" y="2335609"/>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DHAKA · HYPERLOCAL · TUTOR-FIRST</a:t>
            </a:r>
            <a:endParaRPr lang="en-US" sz="1050" dirty="0"/>
          </a:p>
        </p:txBody>
      </p:sp>
      <p:sp>
        <p:nvSpPr>
          <p:cNvPr id="7" name="Text 5"/>
          <p:cNvSpPr/>
          <p:nvPr/>
        </p:nvSpPr>
        <p:spPr>
          <a:xfrm>
            <a:off x="914346" y="2851637"/>
            <a:ext cx="16953086" cy="2842202"/>
          </a:xfrm>
          <a:prstGeom prst="rect">
            <a:avLst/>
          </a:prstGeom>
          <a:noFill/>
          <a:ln/>
        </p:spPr>
        <p:txBody>
          <a:bodyPr wrap="square" lIns="25400" tIns="25400" rIns="25400" bIns="25400" rtlCol="0" anchor="t">
            <a:normAutofit/>
          </a:bodyPr>
          <a:lstStyle/>
          <a:p>
            <a:pPr algn="l" indent="0" marL="0">
              <a:lnSpc>
                <a:spcPct val="92000"/>
              </a:lnSpc>
              <a:buNone/>
            </a:pPr>
            <a:r>
              <a:rPr lang="en-US" sz="12000" b="1" spc="-540" kern="0" dirty="0">
                <a:solidFill>
                  <a:srgbClr val="FFFFFF"/>
                </a:solidFill>
                <a:latin typeface="DM Sans" pitchFamily="34" charset="0"/>
                <a:ea typeface="DM Sans" pitchFamily="34" charset="-122"/>
                <a:cs typeface="DM Sans" pitchFamily="34" charset="-120"/>
              </a:rPr>
              <a:t>Match in </a:t>
            </a:r>
            <a:pPr algn="l" indent="0" marL="0">
              <a:lnSpc>
                <a:spcPct val="92000"/>
              </a:lnSpc>
              <a:buNone/>
            </a:pPr>
            <a:r>
              <a:rPr lang="en-US" sz="12000" b="1" spc="-540" kern="0" dirty="0">
                <a:solidFill>
                  <a:srgbClr val="FFC83D"/>
                </a:solidFill>
                <a:latin typeface="DM Sans" pitchFamily="34" charset="0"/>
                <a:ea typeface="DM Sans" pitchFamily="34" charset="-122"/>
                <a:cs typeface="DM Sans" pitchFamily="34" charset="-120"/>
              </a:rPr>
              <a:t>days, </a:t>
            </a:r>
            <a:pPr algn="l" indent="0" marL="0">
              <a:lnSpc>
                <a:spcPct val="92000"/>
              </a:lnSpc>
              <a:buNone/>
            </a:pPr>
            <a:r>
              <a:rPr lang="en-US" sz="12000" b="1" spc="-540" kern="0" dirty="0">
                <a:solidFill>
                  <a:srgbClr val="FFFFFF"/>
                </a:solidFill>
                <a:latin typeface="DM Sans" pitchFamily="34" charset="0"/>
                <a:ea typeface="DM Sans" pitchFamily="34" charset="-122"/>
                <a:cs typeface="DM Sans" pitchFamily="34" charset="-120"/>
              </a:rPr>
              <a:t>not </a:t>
            </a:r>
            <a:pPr algn="l" indent="0" marL="0">
              <a:lnSpc>
                <a:spcPct val="92000"/>
              </a:lnSpc>
              <a:buNone/>
            </a:pPr>
            <a:r>
              <a:rPr lang="en-US" sz="12000" b="1" strike="sngStrike" spc="-540" kern="0" dirty="0">
                <a:solidFill>
                  <a:srgbClr val="888888"/>
                </a:solidFill>
                <a:latin typeface="DM Sans" pitchFamily="34" charset="0"/>
                <a:ea typeface="DM Sans" pitchFamily="34" charset="-122"/>
                <a:cs typeface="DM Sans" pitchFamily="34" charset="-120"/>
              </a:rPr>
              <a:t>weeks.</a:t>
            </a:r>
            <a:endParaRPr lang="en-US" sz="12000" dirty="0"/>
          </a:p>
        </p:txBody>
      </p:sp>
      <p:sp>
        <p:nvSpPr>
          <p:cNvPr id="8" name="Text 6"/>
          <p:cNvSpPr/>
          <p:nvPr/>
        </p:nvSpPr>
        <p:spPr>
          <a:xfrm>
            <a:off x="914346" y="6189085"/>
            <a:ext cx="10791824" cy="795410"/>
          </a:xfrm>
          <a:prstGeom prst="rect">
            <a:avLst/>
          </a:prstGeom>
          <a:noFill/>
          <a:ln/>
        </p:spPr>
        <p:txBody>
          <a:bodyPr wrap="square" lIns="25400" tIns="25400" rIns="25400" bIns="25400" rtlCol="0" anchor="t">
            <a:normAutofit/>
          </a:bodyPr>
          <a:lstStyle/>
          <a:p>
            <a:pPr algn="l" indent="0" marL="0">
              <a:lnSpc>
                <a:spcPct val="142000"/>
              </a:lnSpc>
              <a:buNone/>
            </a:pPr>
            <a:r>
              <a:rPr lang="en-US" sz="2100" dirty="0">
                <a:solidFill>
                  <a:srgbClr val="C8C8C8"/>
                </a:solidFill>
                <a:latin typeface="Arial" pitchFamily="34" charset="0"/>
                <a:ea typeface="Arial" pitchFamily="34" charset="-122"/>
                <a:cs typeface="Arial" pitchFamily="34" charset="-120"/>
              </a:rPr>
              <a:t>A tutor marketplace that owns the ongoing relationship — and the monthly money flow. Not just the match.</a:t>
            </a:r>
            <a:endParaRPr lang="en-US" sz="2100" dirty="0"/>
          </a:p>
        </p:txBody>
      </p:sp>
      <p:sp>
        <p:nvSpPr>
          <p:cNvPr id="9" name="Shape 7"/>
          <p:cNvSpPr/>
          <p:nvPr/>
        </p:nvSpPr>
        <p:spPr>
          <a:xfrm>
            <a:off x="914346" y="8232089"/>
            <a:ext cx="1296969" cy="325437"/>
          </a:xfrm>
          <a:prstGeom prst="roundRect">
            <a:avLst>
              <a:gd name="adj" fmla="val 50000"/>
            </a:avLst>
          </a:prstGeom>
          <a:solidFill>
            <a:srgbClr val="FFC83D"/>
          </a:solidFill>
          <a:ln/>
        </p:spPr>
      </p:sp>
      <p:sp>
        <p:nvSpPr>
          <p:cNvPr id="10" name="Text 8"/>
          <p:cNvSpPr/>
          <p:nvPr/>
        </p:nvSpPr>
        <p:spPr>
          <a:xfrm>
            <a:off x="1072519" y="8314062"/>
            <a:ext cx="1056824"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0F0F0F"/>
                </a:solidFill>
                <a:latin typeface="DM Mono" pitchFamily="34" charset="0"/>
                <a:ea typeface="DM Mono" pitchFamily="34" charset="-122"/>
                <a:cs typeface="DM Mono" pitchFamily="34" charset="-120"/>
              </a:rPr>
              <a:t>SUPPLY-FIRST</a:t>
            </a:r>
            <a:endParaRPr lang="en-US" sz="975" dirty="0"/>
          </a:p>
        </p:txBody>
      </p:sp>
      <p:sp>
        <p:nvSpPr>
          <p:cNvPr id="11" name="Shape 9"/>
          <p:cNvSpPr/>
          <p:nvPr/>
        </p:nvSpPr>
        <p:spPr>
          <a:xfrm>
            <a:off x="2325597" y="8232089"/>
            <a:ext cx="1869010"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12" name="Text 10"/>
          <p:cNvSpPr/>
          <p:nvPr/>
        </p:nvSpPr>
        <p:spPr>
          <a:xfrm>
            <a:off x="2483770" y="8314062"/>
            <a:ext cx="1628865"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PWA · ANDROID-FIRST</a:t>
            </a:r>
            <a:endParaRPr lang="en-US" sz="975" dirty="0"/>
          </a:p>
        </p:txBody>
      </p:sp>
      <p:sp>
        <p:nvSpPr>
          <p:cNvPr id="13" name="Shape 11"/>
          <p:cNvSpPr/>
          <p:nvPr/>
        </p:nvSpPr>
        <p:spPr>
          <a:xfrm>
            <a:off x="4308890" y="8232089"/>
            <a:ext cx="1623850"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14" name="Text 12"/>
          <p:cNvSpPr/>
          <p:nvPr/>
        </p:nvSpPr>
        <p:spPr>
          <a:xfrm>
            <a:off x="4467062" y="8314062"/>
            <a:ext cx="1383705"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BANGLA · ENGLISH</a:t>
            </a:r>
            <a:endParaRPr lang="en-US" sz="975" dirty="0"/>
          </a:p>
        </p:txBody>
      </p:sp>
      <p:sp>
        <p:nvSpPr>
          <p:cNvPr id="15" name="Shape 13"/>
          <p:cNvSpPr/>
          <p:nvPr/>
        </p:nvSpPr>
        <p:spPr>
          <a:xfrm>
            <a:off x="6047022" y="8232089"/>
            <a:ext cx="2277702"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16" name="Text 14"/>
          <p:cNvSpPr/>
          <p:nvPr/>
        </p:nvSpPr>
        <p:spPr>
          <a:xfrm>
            <a:off x="6205194" y="8314062"/>
            <a:ext cx="2037556"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LAUNCH: 2 DHAKA CLUSTERS</a:t>
            </a:r>
            <a:endParaRPr lang="en-US" sz="975" dirty="0"/>
          </a:p>
        </p:txBody>
      </p:sp>
      <p:sp>
        <p:nvSpPr>
          <p:cNvPr id="17" name="Shape 15"/>
          <p:cNvSpPr/>
          <p:nvPr/>
        </p:nvSpPr>
        <p:spPr>
          <a:xfrm>
            <a:off x="914346" y="9129026"/>
            <a:ext cx="16459307" cy="9525"/>
          </a:xfrm>
          <a:prstGeom prst="rect">
            <a:avLst/>
          </a:prstGeom>
          <a:solidFill>
            <a:srgbClr val="FFFFFF">
              <a:alpha val="8000"/>
            </a:srgbClr>
          </a:solidFill>
          <a:ln/>
        </p:spPr>
      </p:sp>
      <p:sp>
        <p:nvSpPr>
          <p:cNvPr id="18" name="Text 16"/>
          <p:cNvSpPr/>
          <p:nvPr/>
        </p:nvSpPr>
        <p:spPr>
          <a:xfrm>
            <a:off x="914346" y="9363363"/>
            <a:ext cx="255026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CONFIDENTIAL · TUTION MEDIA</a:t>
            </a:r>
            <a:endParaRPr lang="en-US" sz="975" dirty="0"/>
          </a:p>
        </p:txBody>
      </p:sp>
      <p:sp>
        <p:nvSpPr>
          <p:cNvPr id="19" name="Text 17"/>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01 / 14</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5709393" y="773545"/>
            <a:ext cx="1740459"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02 · THE OPENING</a:t>
            </a:r>
            <a:endParaRPr lang="en-US" sz="1050" dirty="0"/>
          </a:p>
        </p:txBody>
      </p:sp>
      <p:sp>
        <p:nvSpPr>
          <p:cNvPr id="6" name="Text 4"/>
          <p:cNvSpPr/>
          <p:nvPr/>
        </p:nvSpPr>
        <p:spPr>
          <a:xfrm>
            <a:off x="914346" y="1725955"/>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THE OPENING</a:t>
            </a:r>
            <a:endParaRPr lang="en-US" sz="1050" dirty="0"/>
          </a:p>
        </p:txBody>
      </p:sp>
      <p:sp>
        <p:nvSpPr>
          <p:cNvPr id="7" name="Text 5"/>
          <p:cNvSpPr/>
          <p:nvPr/>
        </p:nvSpPr>
        <p:spPr>
          <a:xfrm>
            <a:off x="914346" y="2241983"/>
            <a:ext cx="14716124" cy="2781138"/>
          </a:xfrm>
          <a:prstGeom prst="rect">
            <a:avLst/>
          </a:prstGeom>
          <a:noFill/>
          <a:ln/>
        </p:spPr>
        <p:txBody>
          <a:bodyPr wrap="square" lIns="25400" tIns="25400" rIns="25400" bIns="25400" rtlCol="0" anchor="t">
            <a:normAutofit/>
          </a:bodyPr>
          <a:lstStyle/>
          <a:p>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Tuition in Dhaka is huge, high-frequency, and </a:t>
            </a:r>
            <a:pPr algn="l" indent="0" marL="0">
              <a:lnSpc>
                <a:spcPct val="96000"/>
              </a:lnSpc>
              <a:buNone/>
            </a:pPr>
            <a:r>
              <a:rPr lang="en-US" sz="7500" b="1" spc="-262" kern="0" dirty="0">
                <a:solidFill>
                  <a:srgbClr val="FFC83D"/>
                </a:solidFill>
                <a:latin typeface="DM Sans" pitchFamily="34" charset="0"/>
                <a:ea typeface="DM Sans" pitchFamily="34" charset="-122"/>
                <a:cs typeface="DM Sans" pitchFamily="34" charset="-120"/>
              </a:rPr>
              <a:t>untouched </a:t>
            </a:r>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by software where it counts.</a:t>
            </a:r>
            <a:endParaRPr lang="en-US" sz="7500" dirty="0"/>
          </a:p>
        </p:txBody>
      </p:sp>
      <p:sp>
        <p:nvSpPr>
          <p:cNvPr id="8" name="Shape 6"/>
          <p:cNvSpPr/>
          <p:nvPr/>
        </p:nvSpPr>
        <p:spPr>
          <a:xfrm>
            <a:off x="914346" y="5708866"/>
            <a:ext cx="5308654" cy="3077314"/>
          </a:xfrm>
          <a:prstGeom prst="roundRect">
            <a:avLst>
              <a:gd name="adj" fmla="val 8667"/>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9" name="Text 7"/>
          <p:cNvSpPr/>
          <p:nvPr/>
        </p:nvSpPr>
        <p:spPr>
          <a:xfrm>
            <a:off x="1262964" y="6057485"/>
            <a:ext cx="4749759" cy="199736"/>
          </a:xfrm>
          <a:prstGeom prst="rect">
            <a:avLst/>
          </a:prstGeom>
          <a:noFill/>
          <a:ln/>
        </p:spPr>
        <p:txBody>
          <a:bodyPr wrap="square" lIns="25400" tIns="25400" rIns="25400" bIns="25400" rtlCol="0" anchor="t">
            <a:normAutofit/>
          </a:bodyPr>
          <a:lstStyle/>
          <a:p>
            <a:pPr algn="l" indent="0" marL="0">
              <a:buNone/>
            </a:pPr>
            <a:r>
              <a:rPr lang="en-US" sz="975" spc="117" kern="0" dirty="0">
                <a:solidFill>
                  <a:srgbClr val="888888"/>
                </a:solidFill>
                <a:latin typeface="DM Mono" pitchFamily="34" charset="0"/>
                <a:ea typeface="DM Mono" pitchFamily="34" charset="-122"/>
                <a:cs typeface="DM Mono" pitchFamily="34" charset="-120"/>
              </a:rPr>
              <a:t>TUTORS WAITING ON THE INCUMBENT</a:t>
            </a:r>
            <a:endParaRPr lang="en-US" sz="975" dirty="0"/>
          </a:p>
        </p:txBody>
      </p:sp>
      <p:sp>
        <p:nvSpPr>
          <p:cNvPr id="10" name="Text 8"/>
          <p:cNvSpPr/>
          <p:nvPr/>
        </p:nvSpPr>
        <p:spPr>
          <a:xfrm>
            <a:off x="1262964" y="6333403"/>
            <a:ext cx="4749759" cy="861074"/>
          </a:xfrm>
          <a:prstGeom prst="rect">
            <a:avLst/>
          </a:prstGeom>
          <a:noFill/>
          <a:ln/>
        </p:spPr>
        <p:txBody>
          <a:bodyPr wrap="square" lIns="25400" tIns="25400" rIns="25400" bIns="25400" rtlCol="0" anchor="t">
            <a:normAutofit/>
          </a:bodyPr>
          <a:lstStyle/>
          <a:p>
            <a:pPr algn="l" indent="0" marL="0">
              <a:lnSpc>
                <a:spcPct val="90000"/>
              </a:lnSpc>
              <a:buNone/>
            </a:pPr>
            <a:r>
              <a:rPr lang="en-US" sz="7200" b="1" spc="-252" kern="0" dirty="0">
                <a:solidFill>
                  <a:srgbClr val="FFC83D"/>
                </a:solidFill>
                <a:latin typeface="Arial" pitchFamily="34" charset="0"/>
                <a:ea typeface="Arial" pitchFamily="34" charset="-122"/>
                <a:cs typeface="Arial" pitchFamily="34" charset="-120"/>
              </a:rPr>
              <a:t>2–4</a:t>
            </a:r>
            <a:pPr algn="l" indent="0" marL="0">
              <a:lnSpc>
                <a:spcPct val="90000"/>
              </a:lnSpc>
              <a:buNone/>
            </a:pPr>
            <a:r>
              <a:rPr lang="en-US" sz="3600" b="1" spc="-252" kern="0" dirty="0">
                <a:solidFill>
                  <a:srgbClr val="888888"/>
                </a:solidFill>
                <a:latin typeface="Arial" pitchFamily="34" charset="0"/>
                <a:ea typeface="Arial" pitchFamily="34" charset="-122"/>
                <a:cs typeface="Arial" pitchFamily="34" charset="-120"/>
              </a:rPr>
              <a:t>wks</a:t>
            </a:r>
            <a:endParaRPr lang="en-US" sz="7200" dirty="0"/>
          </a:p>
        </p:txBody>
      </p:sp>
      <p:sp>
        <p:nvSpPr>
          <p:cNvPr id="11" name="Text 9"/>
          <p:cNvSpPr/>
          <p:nvPr/>
        </p:nvSpPr>
        <p:spPr>
          <a:xfrm>
            <a:off x="1262964" y="7270659"/>
            <a:ext cx="4749759" cy="278119"/>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8C8C8"/>
                </a:solidFill>
                <a:latin typeface="Arial" pitchFamily="34" charset="0"/>
                <a:ea typeface="Arial" pitchFamily="34" charset="-122"/>
                <a:cs typeface="Arial" pitchFamily="34" charset="-120"/>
              </a:rPr>
              <a:t>From signup to first match. We cut it to days.</a:t>
            </a:r>
            <a:endParaRPr lang="en-US" sz="1350" dirty="0"/>
          </a:p>
        </p:txBody>
      </p:sp>
      <p:sp>
        <p:nvSpPr>
          <p:cNvPr id="12" name="Shape 10"/>
          <p:cNvSpPr/>
          <p:nvPr/>
        </p:nvSpPr>
        <p:spPr>
          <a:xfrm>
            <a:off x="6489627" y="5708866"/>
            <a:ext cx="5308654" cy="3077314"/>
          </a:xfrm>
          <a:prstGeom prst="roundRect">
            <a:avLst>
              <a:gd name="adj" fmla="val 8667"/>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3" name="Text 11"/>
          <p:cNvSpPr/>
          <p:nvPr/>
        </p:nvSpPr>
        <p:spPr>
          <a:xfrm>
            <a:off x="6838246" y="6057485"/>
            <a:ext cx="4749759" cy="199736"/>
          </a:xfrm>
          <a:prstGeom prst="rect">
            <a:avLst/>
          </a:prstGeom>
          <a:noFill/>
          <a:ln/>
        </p:spPr>
        <p:txBody>
          <a:bodyPr wrap="square" lIns="25400" tIns="25400" rIns="25400" bIns="25400" rtlCol="0" anchor="t">
            <a:normAutofit/>
          </a:bodyPr>
          <a:lstStyle/>
          <a:p>
            <a:pPr algn="l" indent="0" marL="0">
              <a:buNone/>
            </a:pPr>
            <a:r>
              <a:rPr lang="en-US" sz="975" spc="117" kern="0" dirty="0">
                <a:solidFill>
                  <a:srgbClr val="888888"/>
                </a:solidFill>
                <a:latin typeface="DM Mono" pitchFamily="34" charset="0"/>
                <a:ea typeface="DM Mono" pitchFamily="34" charset="-122"/>
                <a:cs typeface="DM Mono" pitchFamily="34" charset="-120"/>
              </a:rPr>
              <a:t>OF THE MONEY FLOW HAPPENS OFF-PLATFORM</a:t>
            </a:r>
            <a:endParaRPr lang="en-US" sz="975" dirty="0"/>
          </a:p>
        </p:txBody>
      </p:sp>
      <p:sp>
        <p:nvSpPr>
          <p:cNvPr id="14" name="Text 12"/>
          <p:cNvSpPr/>
          <p:nvPr/>
        </p:nvSpPr>
        <p:spPr>
          <a:xfrm>
            <a:off x="6838246" y="6333403"/>
            <a:ext cx="4749759" cy="861074"/>
          </a:xfrm>
          <a:prstGeom prst="rect">
            <a:avLst/>
          </a:prstGeom>
          <a:noFill/>
          <a:ln/>
        </p:spPr>
        <p:txBody>
          <a:bodyPr wrap="square" lIns="25400" tIns="25400" rIns="25400" bIns="25400" rtlCol="0" anchor="t">
            <a:normAutofit/>
          </a:bodyPr>
          <a:lstStyle/>
          <a:p>
            <a:pPr algn="l" indent="0" marL="0">
              <a:lnSpc>
                <a:spcPct val="90000"/>
              </a:lnSpc>
              <a:buNone/>
            </a:pPr>
            <a:r>
              <a:rPr lang="en-US" sz="7200" b="1" spc="-252" kern="0" dirty="0">
                <a:solidFill>
                  <a:srgbClr val="FFC83D"/>
                </a:solidFill>
                <a:latin typeface="Arial" pitchFamily="34" charset="0"/>
                <a:ea typeface="Arial" pitchFamily="34" charset="-122"/>
                <a:cs typeface="Arial" pitchFamily="34" charset="-120"/>
              </a:rPr>
              <a:t>~100</a:t>
            </a:r>
            <a:pPr algn="l" indent="0" marL="0">
              <a:lnSpc>
                <a:spcPct val="90000"/>
              </a:lnSpc>
              <a:buNone/>
            </a:pPr>
            <a:r>
              <a:rPr lang="en-US" sz="3600" b="1" spc="-252" kern="0" dirty="0">
                <a:solidFill>
                  <a:srgbClr val="888888"/>
                </a:solidFill>
                <a:latin typeface="Arial" pitchFamily="34" charset="0"/>
                <a:ea typeface="Arial" pitchFamily="34" charset="-122"/>
                <a:cs typeface="Arial" pitchFamily="34" charset="-120"/>
              </a:rPr>
              <a:t>%</a:t>
            </a:r>
            <a:endParaRPr lang="en-US" sz="7200" dirty="0"/>
          </a:p>
        </p:txBody>
      </p:sp>
      <p:sp>
        <p:nvSpPr>
          <p:cNvPr id="15" name="Text 13"/>
          <p:cNvSpPr/>
          <p:nvPr/>
        </p:nvSpPr>
        <p:spPr>
          <a:xfrm>
            <a:off x="6838246" y="7270659"/>
            <a:ext cx="4749759" cy="278119"/>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8C8C8"/>
                </a:solidFill>
                <a:latin typeface="Arial" pitchFamily="34" charset="0"/>
                <a:ea typeface="Arial" pitchFamily="34" charset="-122"/>
                <a:cs typeface="Arial" pitchFamily="34" charset="-120"/>
              </a:rPr>
              <a:t>Caretutors monetizes once. Then cash leaves the building.</a:t>
            </a:r>
            <a:endParaRPr lang="en-US" sz="1350" dirty="0"/>
          </a:p>
        </p:txBody>
      </p:sp>
      <p:sp>
        <p:nvSpPr>
          <p:cNvPr id="16" name="Shape 14"/>
          <p:cNvSpPr/>
          <p:nvPr/>
        </p:nvSpPr>
        <p:spPr>
          <a:xfrm>
            <a:off x="12064909" y="5708866"/>
            <a:ext cx="5308654" cy="3077314"/>
          </a:xfrm>
          <a:prstGeom prst="roundRect">
            <a:avLst>
              <a:gd name="adj" fmla="val 8667"/>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7" name="Text 15"/>
          <p:cNvSpPr/>
          <p:nvPr/>
        </p:nvSpPr>
        <p:spPr>
          <a:xfrm>
            <a:off x="12413527" y="6057485"/>
            <a:ext cx="4749759" cy="199736"/>
          </a:xfrm>
          <a:prstGeom prst="rect">
            <a:avLst/>
          </a:prstGeom>
          <a:noFill/>
          <a:ln/>
        </p:spPr>
        <p:txBody>
          <a:bodyPr wrap="square" lIns="25400" tIns="25400" rIns="25400" bIns="25400" rtlCol="0" anchor="t">
            <a:normAutofit/>
          </a:bodyPr>
          <a:lstStyle/>
          <a:p>
            <a:pPr algn="l" indent="0" marL="0">
              <a:buNone/>
            </a:pPr>
            <a:r>
              <a:rPr lang="en-US" sz="975" spc="117" kern="0" dirty="0">
                <a:solidFill>
                  <a:srgbClr val="888888"/>
                </a:solidFill>
                <a:latin typeface="DM Mono" pitchFamily="34" charset="0"/>
                <a:ea typeface="DM Mono" pitchFamily="34" charset="-122"/>
                <a:cs typeface="DM Mono" pitchFamily="34" charset="-120"/>
              </a:rPr>
              <a:t>YEARS INCUMBENT HAS HAD TO FIX THIS</a:t>
            </a:r>
            <a:endParaRPr lang="en-US" sz="975" dirty="0"/>
          </a:p>
        </p:txBody>
      </p:sp>
      <p:sp>
        <p:nvSpPr>
          <p:cNvPr id="18" name="Text 16"/>
          <p:cNvSpPr/>
          <p:nvPr/>
        </p:nvSpPr>
        <p:spPr>
          <a:xfrm>
            <a:off x="12413527" y="6333403"/>
            <a:ext cx="4749759" cy="861074"/>
          </a:xfrm>
          <a:prstGeom prst="rect">
            <a:avLst/>
          </a:prstGeom>
          <a:noFill/>
          <a:ln/>
        </p:spPr>
        <p:txBody>
          <a:bodyPr wrap="square" lIns="25400" tIns="25400" rIns="25400" bIns="25400" rtlCol="0" anchor="t">
            <a:normAutofit/>
          </a:bodyPr>
          <a:lstStyle/>
          <a:p>
            <a:pPr algn="l" indent="0" marL="0">
              <a:lnSpc>
                <a:spcPct val="90000"/>
              </a:lnSpc>
              <a:buNone/>
            </a:pPr>
            <a:r>
              <a:rPr lang="en-US" sz="7200" b="1" spc="-252" kern="0" dirty="0">
                <a:solidFill>
                  <a:srgbClr val="FFC83D"/>
                </a:solidFill>
                <a:latin typeface="Arial" pitchFamily="34" charset="0"/>
                <a:ea typeface="Arial" pitchFamily="34" charset="-122"/>
                <a:cs typeface="Arial" pitchFamily="34" charset="-120"/>
              </a:rPr>
              <a:t>13</a:t>
            </a:r>
            <a:endParaRPr lang="en-US" sz="7200" dirty="0"/>
          </a:p>
        </p:txBody>
      </p:sp>
      <p:sp>
        <p:nvSpPr>
          <p:cNvPr id="19" name="Text 17"/>
          <p:cNvSpPr/>
          <p:nvPr/>
        </p:nvSpPr>
        <p:spPr>
          <a:xfrm>
            <a:off x="12413527" y="7270659"/>
            <a:ext cx="4749759" cy="278119"/>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C8C8C8"/>
                </a:solidFill>
                <a:latin typeface="Arial" pitchFamily="34" charset="0"/>
                <a:ea typeface="Arial" pitchFamily="34" charset="-122"/>
                <a:cs typeface="Arial" pitchFamily="34" charset="-120"/>
              </a:rPr>
              <a:t>They haven't. We out-engineer and out-focus.</a:t>
            </a:r>
            <a:endParaRPr lang="en-US" sz="1350" dirty="0"/>
          </a:p>
        </p:txBody>
      </p:sp>
      <p:sp>
        <p:nvSpPr>
          <p:cNvPr id="20" name="Shape 18"/>
          <p:cNvSpPr/>
          <p:nvPr/>
        </p:nvSpPr>
        <p:spPr>
          <a:xfrm>
            <a:off x="914346" y="9129026"/>
            <a:ext cx="16459307" cy="9525"/>
          </a:xfrm>
          <a:prstGeom prst="rect">
            <a:avLst/>
          </a:prstGeom>
          <a:solidFill>
            <a:srgbClr val="FFFFFF">
              <a:alpha val="8000"/>
            </a:srgbClr>
          </a:solidFill>
          <a:ln/>
        </p:spPr>
      </p:sp>
      <p:sp>
        <p:nvSpPr>
          <p:cNvPr id="21" name="Text 19"/>
          <p:cNvSpPr/>
          <p:nvPr/>
        </p:nvSpPr>
        <p:spPr>
          <a:xfrm>
            <a:off x="914346"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WHY NOW</a:t>
            </a:r>
            <a:endParaRPr lang="en-US" sz="975" dirty="0"/>
          </a:p>
        </p:txBody>
      </p:sp>
      <p:sp>
        <p:nvSpPr>
          <p:cNvPr id="22" name="Text 20"/>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02 / 14</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5917392" y="773545"/>
            <a:ext cx="1532461"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03 · THE WEDGE</a:t>
            </a:r>
            <a:endParaRPr lang="en-US" sz="1050" dirty="0"/>
          </a:p>
        </p:txBody>
      </p:sp>
      <p:sp>
        <p:nvSpPr>
          <p:cNvPr id="6" name="Text 4"/>
          <p:cNvSpPr/>
          <p:nvPr/>
        </p:nvSpPr>
        <p:spPr>
          <a:xfrm>
            <a:off x="914346" y="1725955"/>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THE WEDGE</a:t>
            </a:r>
            <a:endParaRPr lang="en-US" sz="1050" dirty="0"/>
          </a:p>
        </p:txBody>
      </p:sp>
      <p:sp>
        <p:nvSpPr>
          <p:cNvPr id="7" name="Text 5"/>
          <p:cNvSpPr/>
          <p:nvPr/>
        </p:nvSpPr>
        <p:spPr>
          <a:xfrm>
            <a:off x="914346" y="2241983"/>
            <a:ext cx="14716124" cy="2781138"/>
          </a:xfrm>
          <a:prstGeom prst="rect">
            <a:avLst/>
          </a:prstGeom>
          <a:noFill/>
          <a:ln/>
        </p:spPr>
        <p:txBody>
          <a:bodyPr wrap="square" lIns="25400" tIns="25400" rIns="25400" bIns="25400" rtlCol="0" anchor="t">
            <a:normAutofit/>
          </a:bodyPr>
          <a:lstStyle/>
          <a:p>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Own the </a:t>
            </a:r>
            <a:pPr algn="l" indent="0" marL="0">
              <a:lnSpc>
                <a:spcPct val="96000"/>
              </a:lnSpc>
              <a:buNone/>
            </a:pPr>
            <a:r>
              <a:rPr lang="en-US" sz="7500" b="1" spc="-262" kern="0" dirty="0">
                <a:solidFill>
                  <a:srgbClr val="FFC83D"/>
                </a:solidFill>
                <a:latin typeface="DM Sans" pitchFamily="34" charset="0"/>
                <a:ea typeface="DM Sans" pitchFamily="34" charset="-122"/>
                <a:cs typeface="DM Sans" pitchFamily="34" charset="-120"/>
              </a:rPr>
              <a:t>ongoing relationship </a:t>
            </a:r>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and the </a:t>
            </a:r>
            <a:pPr algn="l" indent="0" marL="0">
              <a:lnSpc>
                <a:spcPct val="96000"/>
              </a:lnSpc>
              <a:buNone/>
            </a:pPr>
            <a:r>
              <a:rPr lang="en-US" sz="7500" b="1" spc="-262" kern="0" dirty="0">
                <a:solidFill>
                  <a:srgbClr val="FFC83D"/>
                </a:solidFill>
                <a:latin typeface="DM Sans" pitchFamily="34" charset="0"/>
                <a:ea typeface="DM Sans" pitchFamily="34" charset="-122"/>
                <a:cs typeface="DM Sans" pitchFamily="34" charset="-120"/>
              </a:rPr>
              <a:t>money flow </a:t>
            </a:r>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 not just the match.</a:t>
            </a:r>
            <a:endParaRPr lang="en-US" sz="7500" dirty="0"/>
          </a:p>
        </p:txBody>
      </p:sp>
      <p:sp>
        <p:nvSpPr>
          <p:cNvPr id="8" name="Shape 6"/>
          <p:cNvSpPr/>
          <p:nvPr/>
        </p:nvSpPr>
        <p:spPr>
          <a:xfrm>
            <a:off x="914346" y="5556430"/>
            <a:ext cx="8058185" cy="3229751"/>
          </a:xfrm>
          <a:prstGeom prst="roundRect">
            <a:avLst>
              <a:gd name="adj" fmla="val 8258"/>
            </a:avLst>
          </a:prstGeom>
          <a:solidFill>
            <a:srgbClr val="F5F5F5"/>
          </a:solidFill>
          <a:ln w="5773">
            <a:solidFill>
              <a:srgbClr val="000000">
                <a:alpha val="5000"/>
              </a:srgbClr>
            </a:solidFill>
            <a:prstDash val="solid"/>
          </a:ln>
          <a:effectLst>
            <a:outerShdw sx="100000" sy="100000" kx="0" ky="0" algn="bl" rotWithShape="0" blurRad="342900" dist="133350" dir="5400000">
              <a:srgbClr val="000000">
                <a:alpha val="35000"/>
              </a:srgbClr>
            </a:outerShdw>
          </a:effectLst>
        </p:spPr>
      </p:sp>
      <p:sp>
        <p:nvSpPr>
          <p:cNvPr id="9" name="Text 7"/>
          <p:cNvSpPr/>
          <p:nvPr/>
        </p:nvSpPr>
        <p:spPr>
          <a:xfrm>
            <a:off x="1262964" y="5905049"/>
            <a:ext cx="7581777"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0F0F0F">
                    <a:alpha val="55000"/>
                  </a:srgbClr>
                </a:solidFill>
                <a:latin typeface="DM Mono" pitchFamily="34" charset="0"/>
                <a:ea typeface="DM Mono" pitchFamily="34" charset="-122"/>
                <a:cs typeface="DM Mono" pitchFamily="34" charset="-120"/>
              </a:rPr>
              <a:t>INCUMBENT · CARETUTORS</a:t>
            </a:r>
            <a:endParaRPr lang="en-US" sz="1050" dirty="0"/>
          </a:p>
        </p:txBody>
      </p:sp>
      <p:sp>
        <p:nvSpPr>
          <p:cNvPr id="10" name="Text 8"/>
          <p:cNvSpPr/>
          <p:nvPr/>
        </p:nvSpPr>
        <p:spPr>
          <a:xfrm>
            <a:off x="1262964" y="6268730"/>
            <a:ext cx="7581777"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0F0F0F"/>
                </a:solidFill>
                <a:latin typeface="Arial" pitchFamily="34" charset="0"/>
                <a:ea typeface="Arial" pitchFamily="34" charset="-122"/>
                <a:cs typeface="Arial" pitchFamily="34" charset="-120"/>
              </a:rPr>
              <a:t>Match · monetize · move on.</a:t>
            </a:r>
            <a:endParaRPr lang="en-US" sz="2700" dirty="0"/>
          </a:p>
        </p:txBody>
      </p:sp>
      <p:sp>
        <p:nvSpPr>
          <p:cNvPr id="11" name="Shape 9"/>
          <p:cNvSpPr/>
          <p:nvPr/>
        </p:nvSpPr>
        <p:spPr>
          <a:xfrm>
            <a:off x="1262964" y="6829587"/>
            <a:ext cx="1787290"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12" name="Text 10"/>
          <p:cNvSpPr/>
          <p:nvPr/>
        </p:nvSpPr>
        <p:spPr>
          <a:xfrm>
            <a:off x="1421137" y="6911559"/>
            <a:ext cx="1547145"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PLACEMENT FEE ONLY</a:t>
            </a:r>
            <a:endParaRPr lang="en-US" sz="975" dirty="0"/>
          </a:p>
        </p:txBody>
      </p:sp>
      <p:sp>
        <p:nvSpPr>
          <p:cNvPr id="13" name="Shape 11"/>
          <p:cNvSpPr/>
          <p:nvPr/>
        </p:nvSpPr>
        <p:spPr>
          <a:xfrm>
            <a:off x="3164537" y="6829587"/>
            <a:ext cx="1950731"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14" name="Text 12"/>
          <p:cNvSpPr/>
          <p:nvPr/>
        </p:nvSpPr>
        <p:spPr>
          <a:xfrm>
            <a:off x="3322710" y="6911559"/>
            <a:ext cx="1710585"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COMMS LEAVE PLATFORM</a:t>
            </a:r>
            <a:endParaRPr lang="en-US" sz="975" dirty="0"/>
          </a:p>
        </p:txBody>
      </p:sp>
      <p:sp>
        <p:nvSpPr>
          <p:cNvPr id="15" name="Shape 13"/>
          <p:cNvSpPr/>
          <p:nvPr/>
        </p:nvSpPr>
        <p:spPr>
          <a:xfrm>
            <a:off x="5229549" y="6829587"/>
            <a:ext cx="1787290"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16" name="Text 14"/>
          <p:cNvSpPr/>
          <p:nvPr/>
        </p:nvSpPr>
        <p:spPr>
          <a:xfrm>
            <a:off x="5387722" y="6911559"/>
            <a:ext cx="1547145"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NO RECURRING RAILS</a:t>
            </a:r>
            <a:endParaRPr lang="en-US" sz="975" dirty="0"/>
          </a:p>
        </p:txBody>
      </p:sp>
      <p:sp>
        <p:nvSpPr>
          <p:cNvPr id="17" name="Shape 15"/>
          <p:cNvSpPr/>
          <p:nvPr/>
        </p:nvSpPr>
        <p:spPr>
          <a:xfrm>
            <a:off x="1262964" y="7269306"/>
            <a:ext cx="1705570"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18" name="Text 16"/>
          <p:cNvSpPr/>
          <p:nvPr/>
        </p:nvSpPr>
        <p:spPr>
          <a:xfrm>
            <a:off x="1421137" y="7351279"/>
            <a:ext cx="1465425"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NO ACCOUNTABILITY</a:t>
            </a:r>
            <a:endParaRPr lang="en-US" sz="975" dirty="0"/>
          </a:p>
        </p:txBody>
      </p:sp>
      <p:sp>
        <p:nvSpPr>
          <p:cNvPr id="19" name="Text 17"/>
          <p:cNvSpPr/>
          <p:nvPr/>
        </p:nvSpPr>
        <p:spPr>
          <a:xfrm>
            <a:off x="1262964" y="8180405"/>
            <a:ext cx="7581777" cy="295257"/>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0F0F">
                    <a:alpha val="70000"/>
                  </a:srgbClr>
                </a:solidFill>
                <a:latin typeface="Arial" pitchFamily="34" charset="0"/>
                <a:ea typeface="Arial" pitchFamily="34" charset="-122"/>
                <a:cs typeface="Arial" pitchFamily="34" charset="-120"/>
              </a:rPr>
              <a:t>Day 1 they earn. Day 2 onward, value walks out the door — and so does the relationship.</a:t>
            </a:r>
            <a:endParaRPr lang="en-US" sz="1350" dirty="0"/>
          </a:p>
        </p:txBody>
      </p:sp>
      <p:sp>
        <p:nvSpPr>
          <p:cNvPr id="20" name="Shape 18"/>
          <p:cNvSpPr/>
          <p:nvPr/>
        </p:nvSpPr>
        <p:spPr>
          <a:xfrm>
            <a:off x="9315377" y="5556430"/>
            <a:ext cx="8058276" cy="3229751"/>
          </a:xfrm>
          <a:prstGeom prst="roundRect">
            <a:avLst>
              <a:gd name="adj" fmla="val 8258"/>
            </a:avLst>
          </a:prstGeom>
          <a:solidFill>
            <a:srgbClr val="FFC83D"/>
          </a:solidFill>
          <a:ln/>
          <a:effectLst>
            <a:outerShdw sx="100000" sy="100000" kx="0" ky="0" algn="bl" rotWithShape="0" blurRad="342900" dist="133350" dir="5400000">
              <a:srgbClr val="000000">
                <a:alpha val="35000"/>
              </a:srgbClr>
            </a:outerShdw>
          </a:effectLst>
        </p:spPr>
      </p:sp>
      <p:sp>
        <p:nvSpPr>
          <p:cNvPr id="21" name="Text 19"/>
          <p:cNvSpPr/>
          <p:nvPr/>
        </p:nvSpPr>
        <p:spPr>
          <a:xfrm>
            <a:off x="9663996" y="5905049"/>
            <a:ext cx="7581870"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0F0F0F">
                    <a:alpha val="60000"/>
                  </a:srgbClr>
                </a:solidFill>
                <a:latin typeface="DM Mono" pitchFamily="34" charset="0"/>
                <a:ea typeface="DM Mono" pitchFamily="34" charset="-122"/>
                <a:cs typeface="DM Mono" pitchFamily="34" charset="-120"/>
              </a:rPr>
              <a:t>TUTION.MEDIA</a:t>
            </a:r>
            <a:endParaRPr lang="en-US" sz="1050" dirty="0"/>
          </a:p>
        </p:txBody>
      </p:sp>
      <p:sp>
        <p:nvSpPr>
          <p:cNvPr id="22" name="Text 20"/>
          <p:cNvSpPr/>
          <p:nvPr/>
        </p:nvSpPr>
        <p:spPr>
          <a:xfrm>
            <a:off x="9663996" y="6268730"/>
            <a:ext cx="7581870"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0F0F0F"/>
                </a:solidFill>
                <a:latin typeface="Arial" pitchFamily="34" charset="0"/>
                <a:ea typeface="Arial" pitchFamily="34" charset="-122"/>
                <a:cs typeface="Arial" pitchFamily="34" charset="-120"/>
              </a:rPr>
              <a:t>Match · stay · compound.</a:t>
            </a:r>
            <a:endParaRPr lang="en-US" sz="2700" dirty="0"/>
          </a:p>
        </p:txBody>
      </p:sp>
      <p:sp>
        <p:nvSpPr>
          <p:cNvPr id="23" name="Shape 21"/>
          <p:cNvSpPr/>
          <p:nvPr/>
        </p:nvSpPr>
        <p:spPr>
          <a:xfrm>
            <a:off x="9663996" y="6829587"/>
            <a:ext cx="2195981" cy="325437"/>
          </a:xfrm>
          <a:prstGeom prst="roundRect">
            <a:avLst>
              <a:gd name="adj" fmla="val 50000"/>
            </a:avLst>
          </a:prstGeom>
          <a:solidFill>
            <a:srgbClr val="0F0F0F">
              <a:alpha val="10000"/>
            </a:srgbClr>
          </a:solidFill>
          <a:ln/>
        </p:spPr>
      </p:sp>
      <p:sp>
        <p:nvSpPr>
          <p:cNvPr id="24" name="Text 22"/>
          <p:cNvSpPr/>
          <p:nvPr/>
        </p:nvSpPr>
        <p:spPr>
          <a:xfrm>
            <a:off x="9822168" y="6911559"/>
            <a:ext cx="1955836"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0F0F0F"/>
                </a:solidFill>
                <a:latin typeface="DM Mono" pitchFamily="34" charset="0"/>
                <a:ea typeface="DM Mono" pitchFamily="34" charset="-122"/>
                <a:cs typeface="DM Mono" pitchFamily="34" charset="-120"/>
              </a:rPr>
              <a:t>RECURRING MONTHLY RAILS</a:t>
            </a:r>
            <a:endParaRPr lang="en-US" sz="975" dirty="0"/>
          </a:p>
        </p:txBody>
      </p:sp>
      <p:sp>
        <p:nvSpPr>
          <p:cNvPr id="25" name="Shape 23"/>
          <p:cNvSpPr/>
          <p:nvPr/>
        </p:nvSpPr>
        <p:spPr>
          <a:xfrm>
            <a:off x="11974259" y="6829587"/>
            <a:ext cx="1869010" cy="325437"/>
          </a:xfrm>
          <a:prstGeom prst="roundRect">
            <a:avLst>
              <a:gd name="adj" fmla="val 50000"/>
            </a:avLst>
          </a:prstGeom>
          <a:solidFill>
            <a:srgbClr val="0F0F0F">
              <a:alpha val="10000"/>
            </a:srgbClr>
          </a:solidFill>
          <a:ln/>
        </p:spPr>
      </p:sp>
      <p:sp>
        <p:nvSpPr>
          <p:cNvPr id="26" name="Text 24"/>
          <p:cNvSpPr/>
          <p:nvPr/>
        </p:nvSpPr>
        <p:spPr>
          <a:xfrm>
            <a:off x="12132431" y="6911559"/>
            <a:ext cx="1628865"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0F0F0F"/>
                </a:solidFill>
                <a:latin typeface="DM Mono" pitchFamily="34" charset="0"/>
                <a:ea typeface="DM Mono" pitchFamily="34" charset="-122"/>
                <a:cs typeface="DM Mono" pitchFamily="34" charset="-120"/>
              </a:rPr>
              <a:t>MASKED IN-APP COMMS</a:t>
            </a:r>
            <a:endParaRPr lang="en-US" sz="975" dirty="0"/>
          </a:p>
        </p:txBody>
      </p:sp>
      <p:sp>
        <p:nvSpPr>
          <p:cNvPr id="27" name="Shape 25"/>
          <p:cNvSpPr/>
          <p:nvPr/>
        </p:nvSpPr>
        <p:spPr>
          <a:xfrm>
            <a:off x="13957552" y="6829587"/>
            <a:ext cx="1869010" cy="325437"/>
          </a:xfrm>
          <a:prstGeom prst="roundRect">
            <a:avLst>
              <a:gd name="adj" fmla="val 50000"/>
            </a:avLst>
          </a:prstGeom>
          <a:solidFill>
            <a:srgbClr val="0F0F0F">
              <a:alpha val="10000"/>
            </a:srgbClr>
          </a:solidFill>
          <a:ln/>
        </p:spPr>
      </p:sp>
      <p:sp>
        <p:nvSpPr>
          <p:cNvPr id="28" name="Text 26"/>
          <p:cNvSpPr/>
          <p:nvPr/>
        </p:nvSpPr>
        <p:spPr>
          <a:xfrm>
            <a:off x="14115724" y="6911559"/>
            <a:ext cx="1628865"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0F0F0F"/>
                </a:solidFill>
                <a:latin typeface="DM Mono" pitchFamily="34" charset="0"/>
                <a:ea typeface="DM Mono" pitchFamily="34" charset="-122"/>
                <a:cs typeface="DM Mono" pitchFamily="34" charset="-120"/>
              </a:rPr>
              <a:t>VERIFIED REPUTATION</a:t>
            </a:r>
            <a:endParaRPr lang="en-US" sz="975" dirty="0"/>
          </a:p>
        </p:txBody>
      </p:sp>
      <p:sp>
        <p:nvSpPr>
          <p:cNvPr id="29" name="Shape 27"/>
          <p:cNvSpPr/>
          <p:nvPr/>
        </p:nvSpPr>
        <p:spPr>
          <a:xfrm>
            <a:off x="9663996" y="7269306"/>
            <a:ext cx="1787290" cy="325437"/>
          </a:xfrm>
          <a:prstGeom prst="roundRect">
            <a:avLst>
              <a:gd name="adj" fmla="val 50000"/>
            </a:avLst>
          </a:prstGeom>
          <a:solidFill>
            <a:srgbClr val="0F0F0F">
              <a:alpha val="10000"/>
            </a:srgbClr>
          </a:solidFill>
          <a:ln/>
        </p:spPr>
      </p:sp>
      <p:sp>
        <p:nvSpPr>
          <p:cNvPr id="30" name="Text 28"/>
          <p:cNvSpPr/>
          <p:nvPr/>
        </p:nvSpPr>
        <p:spPr>
          <a:xfrm>
            <a:off x="9822168" y="7351279"/>
            <a:ext cx="1547145"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0F0F0F"/>
                </a:solidFill>
                <a:latin typeface="DM Mono" pitchFamily="34" charset="0"/>
                <a:ea typeface="DM Mono" pitchFamily="34" charset="-122"/>
                <a:cs typeface="DM Mono" pitchFamily="34" charset="-120"/>
              </a:rPr>
              <a:t>PAYMENT PROTECTION</a:t>
            </a:r>
            <a:endParaRPr lang="en-US" sz="975" dirty="0"/>
          </a:p>
        </p:txBody>
      </p:sp>
      <p:sp>
        <p:nvSpPr>
          <p:cNvPr id="31" name="Text 29"/>
          <p:cNvSpPr/>
          <p:nvPr/>
        </p:nvSpPr>
        <p:spPr>
          <a:xfrm>
            <a:off x="9663996" y="8180405"/>
            <a:ext cx="7581870" cy="295257"/>
          </a:xfrm>
          <a:prstGeom prst="rect">
            <a:avLst/>
          </a:prstGeom>
          <a:noFill/>
          <a:ln/>
        </p:spPr>
        <p:txBody>
          <a:bodyPr wrap="square" lIns="25400" tIns="25400" rIns="25400" bIns="25400" rtlCol="0" anchor="t">
            <a:normAutofit/>
          </a:bodyPr>
          <a:lstStyle/>
          <a:p>
            <a:pPr algn="l" indent="0" marL="0">
              <a:lnSpc>
                <a:spcPct val="150000"/>
              </a:lnSpc>
              <a:buNone/>
            </a:pPr>
            <a:r>
              <a:rPr lang="en-US" sz="1350" dirty="0">
                <a:solidFill>
                  <a:srgbClr val="0F0F0F">
                    <a:alpha val="85000"/>
                  </a:srgbClr>
                </a:solidFill>
                <a:latin typeface="Arial" pitchFamily="34" charset="0"/>
                <a:ea typeface="Arial" pitchFamily="34" charset="-122"/>
                <a:cs typeface="Arial" pitchFamily="34" charset="-120"/>
              </a:rPr>
              <a:t>Every recurring month is revenue, every class taught is data, every review is moat.</a:t>
            </a:r>
            <a:endParaRPr lang="en-US" sz="1350" dirty="0"/>
          </a:p>
        </p:txBody>
      </p:sp>
      <p:sp>
        <p:nvSpPr>
          <p:cNvPr id="32" name="Shape 30"/>
          <p:cNvSpPr/>
          <p:nvPr/>
        </p:nvSpPr>
        <p:spPr>
          <a:xfrm>
            <a:off x="914346" y="9129026"/>
            <a:ext cx="16459307" cy="9525"/>
          </a:xfrm>
          <a:prstGeom prst="rect">
            <a:avLst/>
          </a:prstGeom>
          <a:solidFill>
            <a:srgbClr val="FFFFFF">
              <a:alpha val="8000"/>
            </a:srgbClr>
          </a:solidFill>
          <a:ln/>
        </p:spPr>
      </p:sp>
      <p:sp>
        <p:nvSpPr>
          <p:cNvPr id="33" name="Text 31"/>
          <p:cNvSpPr/>
          <p:nvPr/>
        </p:nvSpPr>
        <p:spPr>
          <a:xfrm>
            <a:off x="914346" y="9363363"/>
            <a:ext cx="1542292"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WHERE WE DIVERGE</a:t>
            </a:r>
            <a:endParaRPr lang="en-US" sz="975" dirty="0"/>
          </a:p>
        </p:txBody>
      </p:sp>
      <p:sp>
        <p:nvSpPr>
          <p:cNvPr id="34" name="Text 32"/>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03 / 14</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5813393" y="773545"/>
            <a:ext cx="1636460"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04 · PRINCIPLES</a:t>
            </a:r>
            <a:endParaRPr lang="en-US" sz="1050" dirty="0"/>
          </a:p>
        </p:txBody>
      </p:sp>
      <p:sp>
        <p:nvSpPr>
          <p:cNvPr id="6" name="Text 4"/>
          <p:cNvSpPr/>
          <p:nvPr/>
        </p:nvSpPr>
        <p:spPr>
          <a:xfrm>
            <a:off x="914346" y="1725955"/>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FIVE PRODUCT PRINCIPLES</a:t>
            </a:r>
            <a:endParaRPr lang="en-US" sz="1050" dirty="0"/>
          </a:p>
        </p:txBody>
      </p:sp>
      <p:sp>
        <p:nvSpPr>
          <p:cNvPr id="7" name="Text 5"/>
          <p:cNvSpPr/>
          <p:nvPr/>
        </p:nvSpPr>
        <p:spPr>
          <a:xfrm>
            <a:off x="914346" y="2241983"/>
            <a:ext cx="14716124" cy="952446"/>
          </a:xfrm>
          <a:prstGeom prst="rect">
            <a:avLst/>
          </a:prstGeom>
          <a:noFill/>
          <a:ln/>
        </p:spPr>
        <p:txBody>
          <a:bodyPr wrap="square" lIns="25400" tIns="25400" rIns="25400" bIns="25400" rtlCol="0" anchor="t">
            <a:normAutofit/>
          </a:bodyPr>
          <a:lstStyle/>
          <a:p>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Every feature serves at least one.</a:t>
            </a:r>
            <a:endParaRPr lang="en-US" sz="7500" dirty="0"/>
          </a:p>
        </p:txBody>
      </p:sp>
      <p:sp>
        <p:nvSpPr>
          <p:cNvPr id="8" name="Shape 6"/>
          <p:cNvSpPr/>
          <p:nvPr/>
        </p:nvSpPr>
        <p:spPr>
          <a:xfrm>
            <a:off x="914346" y="3880174"/>
            <a:ext cx="3139462" cy="4906006"/>
          </a:xfrm>
          <a:prstGeom prst="roundRect">
            <a:avLst>
              <a:gd name="adj" fmla="val 8495"/>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9" name="Text 7"/>
          <p:cNvSpPr/>
          <p:nvPr/>
        </p:nvSpPr>
        <p:spPr>
          <a:xfrm>
            <a:off x="1186746" y="4152575"/>
            <a:ext cx="2672500"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FFC83D"/>
                </a:solidFill>
                <a:latin typeface="DM Mono" pitchFamily="34" charset="0"/>
                <a:ea typeface="DM Mono" pitchFamily="34" charset="-122"/>
                <a:cs typeface="DM Mono" pitchFamily="34" charset="-120"/>
              </a:rPr>
              <a:t>01</a:t>
            </a:r>
            <a:endParaRPr lang="en-US" sz="1050" dirty="0"/>
          </a:p>
        </p:txBody>
      </p:sp>
      <p:sp>
        <p:nvSpPr>
          <p:cNvPr id="10" name="Text 8"/>
          <p:cNvSpPr/>
          <p:nvPr/>
        </p:nvSpPr>
        <p:spPr>
          <a:xfrm>
            <a:off x="1186746" y="4497135"/>
            <a:ext cx="2672500" cy="305540"/>
          </a:xfrm>
          <a:prstGeom prst="rect">
            <a:avLst/>
          </a:prstGeom>
          <a:noFill/>
          <a:ln/>
        </p:spPr>
        <p:txBody>
          <a:bodyPr wrap="square" lIns="25400" tIns="25400" rIns="25400" bIns="25400" rtlCol="0" anchor="t">
            <a:normAutofit/>
          </a:bodyPr>
          <a:lstStyle/>
          <a:p>
            <a:pPr algn="l" indent="0" marL="0">
              <a:lnSpc>
                <a:spcPct val="108000"/>
              </a:lnSpc>
              <a:buNone/>
            </a:pPr>
            <a:r>
              <a:rPr lang="en-US" sz="1950" b="1" spc="-29" kern="0" dirty="0">
                <a:solidFill>
                  <a:srgbClr val="FFFFFF"/>
                </a:solidFill>
                <a:latin typeface="Arial" pitchFamily="34" charset="0"/>
                <a:ea typeface="Arial" pitchFamily="34" charset="-122"/>
                <a:cs typeface="Arial" pitchFamily="34" charset="-120"/>
              </a:rPr>
              <a:t>Be a magnet for tutors</a:t>
            </a:r>
            <a:endParaRPr lang="en-US" sz="1950" dirty="0"/>
          </a:p>
        </p:txBody>
      </p:sp>
      <p:sp>
        <p:nvSpPr>
          <p:cNvPr id="11" name="Text 9"/>
          <p:cNvSpPr/>
          <p:nvPr/>
        </p:nvSpPr>
        <p:spPr>
          <a:xfrm>
            <a:off x="1186746" y="4916920"/>
            <a:ext cx="2672500" cy="466725"/>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8C8C8"/>
                </a:solidFill>
                <a:latin typeface="Arial" pitchFamily="34" charset="0"/>
                <a:ea typeface="Arial" pitchFamily="34" charset="-122"/>
                <a:cs typeface="Arial" pitchFamily="34" charset="-120"/>
              </a:rPr>
              <a:t>Fast money, fast matches, reputation that compounds.</a:t>
            </a:r>
            <a:endParaRPr lang="en-US" sz="1125" dirty="0"/>
          </a:p>
        </p:txBody>
      </p:sp>
      <p:sp>
        <p:nvSpPr>
          <p:cNvPr id="12" name="Shape 10"/>
          <p:cNvSpPr/>
          <p:nvPr/>
        </p:nvSpPr>
        <p:spPr>
          <a:xfrm>
            <a:off x="4244307" y="3880174"/>
            <a:ext cx="3139462" cy="4906006"/>
          </a:xfrm>
          <a:prstGeom prst="roundRect">
            <a:avLst>
              <a:gd name="adj" fmla="val 8495"/>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3" name="Text 11"/>
          <p:cNvSpPr/>
          <p:nvPr/>
        </p:nvSpPr>
        <p:spPr>
          <a:xfrm>
            <a:off x="4516708" y="4152575"/>
            <a:ext cx="2672500"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FFC83D"/>
                </a:solidFill>
                <a:latin typeface="DM Mono" pitchFamily="34" charset="0"/>
                <a:ea typeface="DM Mono" pitchFamily="34" charset="-122"/>
                <a:cs typeface="DM Mono" pitchFamily="34" charset="-120"/>
              </a:rPr>
              <a:t>02</a:t>
            </a:r>
            <a:endParaRPr lang="en-US" sz="1050" dirty="0"/>
          </a:p>
        </p:txBody>
      </p:sp>
      <p:sp>
        <p:nvSpPr>
          <p:cNvPr id="14" name="Text 12"/>
          <p:cNvSpPr/>
          <p:nvPr/>
        </p:nvSpPr>
        <p:spPr>
          <a:xfrm>
            <a:off x="4516708" y="4497135"/>
            <a:ext cx="2672500" cy="305540"/>
          </a:xfrm>
          <a:prstGeom prst="rect">
            <a:avLst/>
          </a:prstGeom>
          <a:noFill/>
          <a:ln/>
        </p:spPr>
        <p:txBody>
          <a:bodyPr wrap="square" lIns="25400" tIns="25400" rIns="25400" bIns="25400" rtlCol="0" anchor="t">
            <a:normAutofit/>
          </a:bodyPr>
          <a:lstStyle/>
          <a:p>
            <a:pPr algn="l" indent="0" marL="0">
              <a:lnSpc>
                <a:spcPct val="108000"/>
              </a:lnSpc>
              <a:buNone/>
            </a:pPr>
            <a:r>
              <a:rPr lang="en-US" sz="1950" b="1" spc="-29" kern="0" dirty="0">
                <a:solidFill>
                  <a:srgbClr val="FFFFFF"/>
                </a:solidFill>
                <a:latin typeface="Arial" pitchFamily="34" charset="0"/>
                <a:ea typeface="Arial" pitchFamily="34" charset="-122"/>
                <a:cs typeface="Arial" pitchFamily="34" charset="-120"/>
              </a:rPr>
              <a:t>Kill the leakage</a:t>
            </a:r>
            <a:endParaRPr lang="en-US" sz="1950" dirty="0"/>
          </a:p>
        </p:txBody>
      </p:sp>
      <p:sp>
        <p:nvSpPr>
          <p:cNvPr id="15" name="Text 13"/>
          <p:cNvSpPr/>
          <p:nvPr/>
        </p:nvSpPr>
        <p:spPr>
          <a:xfrm>
            <a:off x="4516708" y="4916920"/>
            <a:ext cx="2672500" cy="466725"/>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8C8C8"/>
                </a:solidFill>
                <a:latin typeface="Arial" pitchFamily="34" charset="0"/>
                <a:ea typeface="Arial" pitchFamily="34" charset="-122"/>
                <a:cs typeface="Arial" pitchFamily="34" charset="-120"/>
              </a:rPr>
              <a:t>Every feature makes staying easier and safer than leaving.</a:t>
            </a:r>
            <a:endParaRPr lang="en-US" sz="1125" dirty="0"/>
          </a:p>
        </p:txBody>
      </p:sp>
      <p:sp>
        <p:nvSpPr>
          <p:cNvPr id="16" name="Shape 14"/>
          <p:cNvSpPr/>
          <p:nvPr/>
        </p:nvSpPr>
        <p:spPr>
          <a:xfrm>
            <a:off x="7574268" y="3880174"/>
            <a:ext cx="3139462" cy="4906006"/>
          </a:xfrm>
          <a:prstGeom prst="roundRect">
            <a:avLst>
              <a:gd name="adj" fmla="val 8495"/>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7" name="Text 15"/>
          <p:cNvSpPr/>
          <p:nvPr/>
        </p:nvSpPr>
        <p:spPr>
          <a:xfrm>
            <a:off x="7846669" y="4152575"/>
            <a:ext cx="2672500"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FFC83D"/>
                </a:solidFill>
                <a:latin typeface="DM Mono" pitchFamily="34" charset="0"/>
                <a:ea typeface="DM Mono" pitchFamily="34" charset="-122"/>
                <a:cs typeface="DM Mono" pitchFamily="34" charset="-120"/>
              </a:rPr>
              <a:t>03</a:t>
            </a:r>
            <a:endParaRPr lang="en-US" sz="1050" dirty="0"/>
          </a:p>
        </p:txBody>
      </p:sp>
      <p:sp>
        <p:nvSpPr>
          <p:cNvPr id="18" name="Text 16"/>
          <p:cNvSpPr/>
          <p:nvPr/>
        </p:nvSpPr>
        <p:spPr>
          <a:xfrm>
            <a:off x="7846669" y="4497135"/>
            <a:ext cx="2672500" cy="305540"/>
          </a:xfrm>
          <a:prstGeom prst="rect">
            <a:avLst/>
          </a:prstGeom>
          <a:noFill/>
          <a:ln/>
        </p:spPr>
        <p:txBody>
          <a:bodyPr wrap="square" lIns="25400" tIns="25400" rIns="25400" bIns="25400" rtlCol="0" anchor="t">
            <a:normAutofit/>
          </a:bodyPr>
          <a:lstStyle/>
          <a:p>
            <a:pPr algn="l" indent="0" marL="0">
              <a:lnSpc>
                <a:spcPct val="108000"/>
              </a:lnSpc>
              <a:buNone/>
            </a:pPr>
            <a:r>
              <a:rPr lang="en-US" sz="1950" b="1" spc="-29" kern="0" dirty="0">
                <a:solidFill>
                  <a:srgbClr val="FFFFFF"/>
                </a:solidFill>
                <a:latin typeface="Arial" pitchFamily="34" charset="0"/>
                <a:ea typeface="Arial" pitchFamily="34" charset="-122"/>
                <a:cs typeface="Arial" pitchFamily="34" charset="-120"/>
              </a:rPr>
              <a:t>Trust is the moat</a:t>
            </a:r>
            <a:endParaRPr lang="en-US" sz="1950" dirty="0"/>
          </a:p>
        </p:txBody>
      </p:sp>
      <p:sp>
        <p:nvSpPr>
          <p:cNvPr id="19" name="Text 17"/>
          <p:cNvSpPr/>
          <p:nvPr/>
        </p:nvSpPr>
        <p:spPr>
          <a:xfrm>
            <a:off x="7846669" y="4916920"/>
            <a:ext cx="2672500" cy="466725"/>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8C8C8"/>
                </a:solidFill>
                <a:latin typeface="Arial" pitchFamily="34" charset="0"/>
                <a:ea typeface="Arial" pitchFamily="34" charset="-122"/>
                <a:cs typeface="Arial" pitchFamily="34" charset="-120"/>
              </a:rPr>
              <a:t>Verification, verified reviews, accountability. Out-engineer 13 years.</a:t>
            </a:r>
            <a:endParaRPr lang="en-US" sz="1125" dirty="0"/>
          </a:p>
        </p:txBody>
      </p:sp>
      <p:sp>
        <p:nvSpPr>
          <p:cNvPr id="20" name="Shape 18"/>
          <p:cNvSpPr/>
          <p:nvPr/>
        </p:nvSpPr>
        <p:spPr>
          <a:xfrm>
            <a:off x="10904230" y="3880174"/>
            <a:ext cx="3139462" cy="4906006"/>
          </a:xfrm>
          <a:prstGeom prst="roundRect">
            <a:avLst>
              <a:gd name="adj" fmla="val 8495"/>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21" name="Text 19"/>
          <p:cNvSpPr/>
          <p:nvPr/>
        </p:nvSpPr>
        <p:spPr>
          <a:xfrm>
            <a:off x="11176631" y="4152575"/>
            <a:ext cx="2672500"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FFC83D"/>
                </a:solidFill>
                <a:latin typeface="DM Mono" pitchFamily="34" charset="0"/>
                <a:ea typeface="DM Mono" pitchFamily="34" charset="-122"/>
                <a:cs typeface="DM Mono" pitchFamily="34" charset="-120"/>
              </a:rPr>
              <a:t>04</a:t>
            </a:r>
            <a:endParaRPr lang="en-US" sz="1050" dirty="0"/>
          </a:p>
        </p:txBody>
      </p:sp>
      <p:sp>
        <p:nvSpPr>
          <p:cNvPr id="22" name="Text 20"/>
          <p:cNvSpPr/>
          <p:nvPr/>
        </p:nvSpPr>
        <p:spPr>
          <a:xfrm>
            <a:off x="11176631" y="4497135"/>
            <a:ext cx="2672500" cy="305540"/>
          </a:xfrm>
          <a:prstGeom prst="rect">
            <a:avLst/>
          </a:prstGeom>
          <a:noFill/>
          <a:ln/>
        </p:spPr>
        <p:txBody>
          <a:bodyPr wrap="square" lIns="25400" tIns="25400" rIns="25400" bIns="25400" rtlCol="0" anchor="t">
            <a:normAutofit/>
          </a:bodyPr>
          <a:lstStyle/>
          <a:p>
            <a:pPr algn="l" indent="0" marL="0">
              <a:lnSpc>
                <a:spcPct val="108000"/>
              </a:lnSpc>
              <a:buNone/>
            </a:pPr>
            <a:r>
              <a:rPr lang="en-US" sz="1950" b="1" spc="-29" kern="0" dirty="0">
                <a:solidFill>
                  <a:srgbClr val="FFFFFF"/>
                </a:solidFill>
                <a:latin typeface="Arial" pitchFamily="34" charset="0"/>
                <a:ea typeface="Arial" pitchFamily="34" charset="-122"/>
                <a:cs typeface="Arial" pitchFamily="34" charset="-120"/>
              </a:rPr>
              <a:t>Hyperlocal, not Dhaka</a:t>
            </a:r>
            <a:endParaRPr lang="en-US" sz="1950" dirty="0"/>
          </a:p>
        </p:txBody>
      </p:sp>
      <p:sp>
        <p:nvSpPr>
          <p:cNvPr id="23" name="Text 21"/>
          <p:cNvSpPr/>
          <p:nvPr/>
        </p:nvSpPr>
        <p:spPr>
          <a:xfrm>
            <a:off x="11176631" y="4916920"/>
            <a:ext cx="2672500" cy="466725"/>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8C8C8"/>
                </a:solidFill>
                <a:latin typeface="Arial" pitchFamily="34" charset="0"/>
                <a:ea typeface="Arial" pitchFamily="34" charset="-122"/>
                <a:cs typeface="Arial" pitchFamily="34" charset="-120"/>
              </a:rPr>
              <a:t>The neighborhood is the market. Match at thana granularity.</a:t>
            </a:r>
            <a:endParaRPr lang="en-US" sz="1125" dirty="0"/>
          </a:p>
        </p:txBody>
      </p:sp>
      <p:sp>
        <p:nvSpPr>
          <p:cNvPr id="24" name="Shape 22"/>
          <p:cNvSpPr/>
          <p:nvPr/>
        </p:nvSpPr>
        <p:spPr>
          <a:xfrm>
            <a:off x="14234192" y="3880174"/>
            <a:ext cx="3139462" cy="4906006"/>
          </a:xfrm>
          <a:prstGeom prst="roundRect">
            <a:avLst>
              <a:gd name="adj" fmla="val 8495"/>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25" name="Text 23"/>
          <p:cNvSpPr/>
          <p:nvPr/>
        </p:nvSpPr>
        <p:spPr>
          <a:xfrm>
            <a:off x="14506592" y="4152575"/>
            <a:ext cx="2672500"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FFC83D"/>
                </a:solidFill>
                <a:latin typeface="DM Mono" pitchFamily="34" charset="0"/>
                <a:ea typeface="DM Mono" pitchFamily="34" charset="-122"/>
                <a:cs typeface="DM Mono" pitchFamily="34" charset="-120"/>
              </a:rPr>
              <a:t>05</a:t>
            </a:r>
            <a:endParaRPr lang="en-US" sz="1050" dirty="0"/>
          </a:p>
        </p:txBody>
      </p:sp>
      <p:sp>
        <p:nvSpPr>
          <p:cNvPr id="26" name="Text 24"/>
          <p:cNvSpPr/>
          <p:nvPr/>
        </p:nvSpPr>
        <p:spPr>
          <a:xfrm>
            <a:off x="14506592" y="4497135"/>
            <a:ext cx="2672500" cy="305540"/>
          </a:xfrm>
          <a:prstGeom prst="rect">
            <a:avLst/>
          </a:prstGeom>
          <a:noFill/>
          <a:ln/>
        </p:spPr>
        <p:txBody>
          <a:bodyPr wrap="square" lIns="25400" tIns="25400" rIns="25400" bIns="25400" rtlCol="0" anchor="t">
            <a:normAutofit/>
          </a:bodyPr>
          <a:lstStyle/>
          <a:p>
            <a:pPr algn="l" indent="0" marL="0">
              <a:lnSpc>
                <a:spcPct val="108000"/>
              </a:lnSpc>
              <a:buNone/>
            </a:pPr>
            <a:r>
              <a:rPr lang="en-US" sz="1950" b="1" spc="-29" kern="0" dirty="0">
                <a:solidFill>
                  <a:srgbClr val="FFFFFF"/>
                </a:solidFill>
                <a:latin typeface="Arial" pitchFamily="34" charset="0"/>
                <a:ea typeface="Arial" pitchFamily="34" charset="-122"/>
                <a:cs typeface="Arial" pitchFamily="34" charset="-120"/>
              </a:rPr>
              <a:t>Bootstrap discipline</a:t>
            </a:r>
            <a:endParaRPr lang="en-US" sz="1950" dirty="0"/>
          </a:p>
        </p:txBody>
      </p:sp>
      <p:sp>
        <p:nvSpPr>
          <p:cNvPr id="27" name="Text 25"/>
          <p:cNvSpPr/>
          <p:nvPr/>
        </p:nvSpPr>
        <p:spPr>
          <a:xfrm>
            <a:off x="14506592" y="4916920"/>
            <a:ext cx="2672500" cy="466725"/>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8C8C8"/>
                </a:solidFill>
                <a:latin typeface="Arial" pitchFamily="34" charset="0"/>
                <a:ea typeface="Arial" pitchFamily="34" charset="-122"/>
                <a:cs typeface="Arial" pitchFamily="34" charset="-120"/>
              </a:rPr>
              <a:t>Prove the matching loop first. Then layer the moat.</a:t>
            </a:r>
            <a:endParaRPr lang="en-US" sz="1125" dirty="0"/>
          </a:p>
        </p:txBody>
      </p:sp>
      <p:sp>
        <p:nvSpPr>
          <p:cNvPr id="28" name="Shape 26"/>
          <p:cNvSpPr/>
          <p:nvPr/>
        </p:nvSpPr>
        <p:spPr>
          <a:xfrm>
            <a:off x="914346" y="9129026"/>
            <a:ext cx="16459307" cy="9525"/>
          </a:xfrm>
          <a:prstGeom prst="rect">
            <a:avLst/>
          </a:prstGeom>
          <a:solidFill>
            <a:srgbClr val="FFFFFF">
              <a:alpha val="8000"/>
            </a:srgbClr>
          </a:solidFill>
          <a:ln/>
        </p:spPr>
      </p:sp>
      <p:sp>
        <p:nvSpPr>
          <p:cNvPr id="29" name="Text 27"/>
          <p:cNvSpPr/>
          <p:nvPr/>
        </p:nvSpPr>
        <p:spPr>
          <a:xfrm>
            <a:off x="914346" y="9363363"/>
            <a:ext cx="1450740"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FIVE PRINCIPLES</a:t>
            </a:r>
            <a:endParaRPr lang="en-US" sz="975" dirty="0"/>
          </a:p>
        </p:txBody>
      </p:sp>
      <p:sp>
        <p:nvSpPr>
          <p:cNvPr id="30" name="Text 28"/>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04 / 14</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5917392" y="773545"/>
            <a:ext cx="1532461"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05 · THE SPINE</a:t>
            </a:r>
            <a:endParaRPr lang="en-US" sz="1050" dirty="0"/>
          </a:p>
        </p:txBody>
      </p:sp>
      <p:sp>
        <p:nvSpPr>
          <p:cNvPr id="6" name="Text 4"/>
          <p:cNvSpPr/>
          <p:nvPr/>
        </p:nvSpPr>
        <p:spPr>
          <a:xfrm>
            <a:off x="914346" y="1573609"/>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THE CORE FLOW · TUTOR SIDE</a:t>
            </a:r>
            <a:endParaRPr lang="en-US" sz="1050" dirty="0"/>
          </a:p>
        </p:txBody>
      </p:sp>
      <p:sp>
        <p:nvSpPr>
          <p:cNvPr id="7" name="Text 5"/>
          <p:cNvSpPr/>
          <p:nvPr/>
        </p:nvSpPr>
        <p:spPr>
          <a:xfrm>
            <a:off x="914346" y="2089637"/>
            <a:ext cx="14716124" cy="710082"/>
          </a:xfrm>
          <a:prstGeom prst="rect">
            <a:avLst/>
          </a:prstGeom>
          <a:noFill/>
          <a:ln/>
        </p:spPr>
        <p:txBody>
          <a:bodyPr wrap="square" lIns="25400" tIns="25400" rIns="25400" bIns="25400" rtlCol="0" anchor="t">
            <a:normAutofit/>
          </a:bodyPr>
          <a:lstStyle/>
          <a:p>
            <a:pPr algn="l" indent="0" marL="0">
              <a:lnSpc>
                <a:spcPct val="98000"/>
              </a:lnSpc>
              <a:buNone/>
            </a:pPr>
            <a:r>
              <a:rPr lang="en-US" sz="5400" b="1" spc="-135" kern="0" dirty="0">
                <a:solidFill>
                  <a:srgbClr val="FFFFFF"/>
                </a:solidFill>
                <a:latin typeface="DM Sans" pitchFamily="34" charset="0"/>
                <a:ea typeface="DM Sans" pitchFamily="34" charset="-122"/>
                <a:cs typeface="DM Sans" pitchFamily="34" charset="-120"/>
              </a:rPr>
              <a:t>From OTP to </a:t>
            </a:r>
            <a:pPr algn="l" indent="0" marL="0">
              <a:lnSpc>
                <a:spcPct val="98000"/>
              </a:lnSpc>
              <a:buNone/>
            </a:pPr>
            <a:r>
              <a:rPr lang="en-US" sz="5400" b="1" spc="-135" kern="0" dirty="0">
                <a:solidFill>
                  <a:srgbClr val="FFC83D"/>
                </a:solidFill>
                <a:latin typeface="DM Sans" pitchFamily="34" charset="0"/>
                <a:ea typeface="DM Sans" pitchFamily="34" charset="-122"/>
                <a:cs typeface="DM Sans" pitchFamily="34" charset="-120"/>
              </a:rPr>
              <a:t>first paycheck </a:t>
            </a:r>
            <a:pPr algn="l" indent="0" marL="0">
              <a:lnSpc>
                <a:spcPct val="98000"/>
              </a:lnSpc>
              <a:buNone/>
            </a:pPr>
            <a:r>
              <a:rPr lang="en-US" sz="5400" b="1" spc="-135" kern="0" dirty="0">
                <a:solidFill>
                  <a:srgbClr val="FFFFFF"/>
                </a:solidFill>
                <a:latin typeface="DM Sans" pitchFamily="34" charset="0"/>
                <a:ea typeface="DM Sans" pitchFamily="34" charset="-122"/>
                <a:cs typeface="DM Sans" pitchFamily="34" charset="-120"/>
              </a:rPr>
              <a:t>in one app.</a:t>
            </a:r>
            <a:endParaRPr lang="en-US" sz="5400" dirty="0"/>
          </a:p>
        </p:txBody>
      </p:sp>
      <p:sp>
        <p:nvSpPr>
          <p:cNvPr id="8" name="Shape 6"/>
          <p:cNvSpPr/>
          <p:nvPr/>
        </p:nvSpPr>
        <p:spPr>
          <a:xfrm>
            <a:off x="914346" y="3333028"/>
            <a:ext cx="12423088" cy="520628"/>
          </a:xfrm>
          <a:prstGeom prst="roundRect">
            <a:avLst>
              <a:gd name="adj" fmla="val 36590"/>
            </a:avLst>
          </a:prstGeom>
          <a:solidFill>
            <a:srgbClr val="FFFFFF">
              <a:alpha val="3000"/>
            </a:srgbClr>
          </a:solidFill>
          <a:ln w="5773">
            <a:solidFill>
              <a:srgbClr val="FFFFFF">
                <a:alpha val="8000"/>
              </a:srgbClr>
            </a:solidFill>
            <a:prstDash val="solid"/>
          </a:ln>
        </p:spPr>
      </p:sp>
      <p:sp>
        <p:nvSpPr>
          <p:cNvPr id="9" name="Text 7"/>
          <p:cNvSpPr/>
          <p:nvPr/>
        </p:nvSpPr>
        <p:spPr>
          <a:xfrm>
            <a:off x="1148682" y="3495206"/>
            <a:ext cx="761982" cy="234373"/>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888888"/>
                </a:solidFill>
                <a:latin typeface="DM Mono" pitchFamily="34" charset="0"/>
                <a:ea typeface="DM Mono" pitchFamily="34" charset="-122"/>
                <a:cs typeface="DM Mono" pitchFamily="34" charset="-120"/>
              </a:rPr>
              <a:t>01</a:t>
            </a:r>
            <a:endParaRPr lang="en-US" sz="1200" dirty="0"/>
          </a:p>
        </p:txBody>
      </p:sp>
      <p:sp>
        <p:nvSpPr>
          <p:cNvPr id="10" name="Text 8"/>
          <p:cNvSpPr/>
          <p:nvPr/>
        </p:nvSpPr>
        <p:spPr>
          <a:xfrm>
            <a:off x="2063028" y="3472115"/>
            <a:ext cx="10528718" cy="280555"/>
          </a:xfrm>
          <a:prstGeom prst="rect">
            <a:avLst/>
          </a:prstGeom>
          <a:noFill/>
          <a:ln/>
        </p:spPr>
        <p:txBody>
          <a:bodyPr wrap="square" lIns="25400" tIns="25400" rIns="25400" bIns="25400" rtlCol="0" anchor="t">
            <a:normAutofit/>
          </a:bodyPr>
          <a:lstStyle/>
          <a:p>
            <a:pPr algn="l" indent="0" marL="0">
              <a:buNone/>
            </a:pPr>
            <a:r>
              <a:rPr lang="en-US" sz="1650" spc="-16" kern="0" dirty="0">
                <a:solidFill>
                  <a:srgbClr val="FFFFFF"/>
                </a:solidFill>
                <a:latin typeface="Arial" pitchFamily="34" charset="0"/>
                <a:ea typeface="Arial" pitchFamily="34" charset="-122"/>
                <a:cs typeface="Arial" pitchFamily="34" charset="-120"/>
              </a:rPr>
              <a:t>OTP signup — no documents</a:t>
            </a:r>
            <a:endParaRPr lang="en-US" sz="1650" dirty="0"/>
          </a:p>
        </p:txBody>
      </p:sp>
      <p:sp>
        <p:nvSpPr>
          <p:cNvPr id="11" name="Text 9"/>
          <p:cNvSpPr/>
          <p:nvPr/>
        </p:nvSpPr>
        <p:spPr>
          <a:xfrm>
            <a:off x="12513648" y="3512524"/>
            <a:ext cx="665650" cy="199736"/>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888888"/>
                </a:solidFill>
                <a:latin typeface="DM Mono" pitchFamily="34" charset="0"/>
                <a:ea typeface="DM Mono" pitchFamily="34" charset="-122"/>
                <a:cs typeface="DM Mono" pitchFamily="34" charset="-120"/>
              </a:rPr>
              <a:t>~30 SEC</a:t>
            </a:r>
            <a:endParaRPr lang="en-US" sz="975" dirty="0"/>
          </a:p>
        </p:txBody>
      </p:sp>
      <p:sp>
        <p:nvSpPr>
          <p:cNvPr id="12" name="Shape 10"/>
          <p:cNvSpPr/>
          <p:nvPr/>
        </p:nvSpPr>
        <p:spPr>
          <a:xfrm>
            <a:off x="914346" y="3948906"/>
            <a:ext cx="12423088" cy="520628"/>
          </a:xfrm>
          <a:prstGeom prst="roundRect">
            <a:avLst>
              <a:gd name="adj" fmla="val 36590"/>
            </a:avLst>
          </a:prstGeom>
          <a:solidFill>
            <a:srgbClr val="FFFFFF">
              <a:alpha val="3000"/>
            </a:srgbClr>
          </a:solidFill>
          <a:ln w="5773">
            <a:solidFill>
              <a:srgbClr val="FFFFFF">
                <a:alpha val="8000"/>
              </a:srgbClr>
            </a:solidFill>
            <a:prstDash val="solid"/>
          </a:ln>
        </p:spPr>
      </p:sp>
      <p:sp>
        <p:nvSpPr>
          <p:cNvPr id="13" name="Text 11"/>
          <p:cNvSpPr/>
          <p:nvPr/>
        </p:nvSpPr>
        <p:spPr>
          <a:xfrm>
            <a:off x="1148682" y="4111084"/>
            <a:ext cx="761982" cy="234373"/>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888888"/>
                </a:solidFill>
                <a:latin typeface="DM Mono" pitchFamily="34" charset="0"/>
                <a:ea typeface="DM Mono" pitchFamily="34" charset="-122"/>
                <a:cs typeface="DM Mono" pitchFamily="34" charset="-120"/>
              </a:rPr>
              <a:t>02</a:t>
            </a:r>
            <a:endParaRPr lang="en-US" sz="1200" dirty="0"/>
          </a:p>
        </p:txBody>
      </p:sp>
      <p:sp>
        <p:nvSpPr>
          <p:cNvPr id="14" name="Text 12"/>
          <p:cNvSpPr/>
          <p:nvPr/>
        </p:nvSpPr>
        <p:spPr>
          <a:xfrm>
            <a:off x="2063028" y="4087993"/>
            <a:ext cx="10615398" cy="280555"/>
          </a:xfrm>
          <a:prstGeom prst="rect">
            <a:avLst/>
          </a:prstGeom>
          <a:noFill/>
          <a:ln/>
        </p:spPr>
        <p:txBody>
          <a:bodyPr wrap="square" lIns="25400" tIns="25400" rIns="25400" bIns="25400" rtlCol="0" anchor="t">
            <a:normAutofit/>
          </a:bodyPr>
          <a:lstStyle/>
          <a:p>
            <a:pPr algn="l" indent="0" marL="0">
              <a:buNone/>
            </a:pPr>
            <a:r>
              <a:rPr lang="en-US" sz="1650" spc="-16" kern="0" dirty="0">
                <a:solidFill>
                  <a:srgbClr val="FFFFFF"/>
                </a:solidFill>
                <a:latin typeface="Arial" pitchFamily="34" charset="0"/>
                <a:ea typeface="Arial" pitchFamily="34" charset="-122"/>
                <a:cs typeface="Arial" pitchFamily="34" charset="-120"/>
              </a:rPr>
              <a:t>Profile · subjects, levels, areas</a:t>
            </a:r>
            <a:endParaRPr lang="en-US" sz="1650" dirty="0"/>
          </a:p>
        </p:txBody>
      </p:sp>
      <p:sp>
        <p:nvSpPr>
          <p:cNvPr id="15" name="Text 13"/>
          <p:cNvSpPr/>
          <p:nvPr/>
        </p:nvSpPr>
        <p:spPr>
          <a:xfrm>
            <a:off x="12597804" y="4128402"/>
            <a:ext cx="581494" cy="199736"/>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888888"/>
                </a:solidFill>
                <a:latin typeface="DM Mono" pitchFamily="34" charset="0"/>
                <a:ea typeface="DM Mono" pitchFamily="34" charset="-122"/>
                <a:cs typeface="DM Mono" pitchFamily="34" charset="-120"/>
              </a:rPr>
              <a:t>~3 MIN</a:t>
            </a:r>
            <a:endParaRPr lang="en-US" sz="975" dirty="0"/>
          </a:p>
        </p:txBody>
      </p:sp>
      <p:sp>
        <p:nvSpPr>
          <p:cNvPr id="16" name="Shape 14"/>
          <p:cNvSpPr/>
          <p:nvPr/>
        </p:nvSpPr>
        <p:spPr>
          <a:xfrm>
            <a:off x="914346" y="4564784"/>
            <a:ext cx="12423088" cy="520628"/>
          </a:xfrm>
          <a:prstGeom prst="roundRect">
            <a:avLst>
              <a:gd name="adj" fmla="val 36590"/>
            </a:avLst>
          </a:prstGeom>
          <a:solidFill>
            <a:srgbClr val="FFFFFF">
              <a:alpha val="3000"/>
            </a:srgbClr>
          </a:solidFill>
          <a:ln w="5773">
            <a:solidFill>
              <a:srgbClr val="FFFFFF">
                <a:alpha val="8000"/>
              </a:srgbClr>
            </a:solidFill>
            <a:prstDash val="solid"/>
          </a:ln>
        </p:spPr>
      </p:sp>
      <p:sp>
        <p:nvSpPr>
          <p:cNvPr id="17" name="Text 15"/>
          <p:cNvSpPr/>
          <p:nvPr/>
        </p:nvSpPr>
        <p:spPr>
          <a:xfrm>
            <a:off x="1148682" y="4726961"/>
            <a:ext cx="761982" cy="234373"/>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888888"/>
                </a:solidFill>
                <a:latin typeface="DM Mono" pitchFamily="34" charset="0"/>
                <a:ea typeface="DM Mono" pitchFamily="34" charset="-122"/>
                <a:cs typeface="DM Mono" pitchFamily="34" charset="-120"/>
              </a:rPr>
              <a:t>03</a:t>
            </a:r>
            <a:endParaRPr lang="en-US" sz="1200" dirty="0"/>
          </a:p>
        </p:txBody>
      </p:sp>
      <p:sp>
        <p:nvSpPr>
          <p:cNvPr id="18" name="Text 16"/>
          <p:cNvSpPr/>
          <p:nvPr/>
        </p:nvSpPr>
        <p:spPr>
          <a:xfrm>
            <a:off x="2063028" y="4703870"/>
            <a:ext cx="10181811" cy="280555"/>
          </a:xfrm>
          <a:prstGeom prst="rect">
            <a:avLst/>
          </a:prstGeom>
          <a:noFill/>
          <a:ln/>
        </p:spPr>
        <p:txBody>
          <a:bodyPr wrap="square" lIns="25400" tIns="25400" rIns="25400" bIns="25400" rtlCol="0" anchor="t">
            <a:normAutofit/>
          </a:bodyPr>
          <a:lstStyle/>
          <a:p>
            <a:pPr algn="l" indent="0" marL="0">
              <a:buNone/>
            </a:pPr>
            <a:r>
              <a:rPr lang="en-US" sz="1650" spc="-16" kern="0" dirty="0">
                <a:solidFill>
                  <a:srgbClr val="FFFFFF"/>
                </a:solidFill>
                <a:latin typeface="Arial" pitchFamily="34" charset="0"/>
                <a:ea typeface="Arial" pitchFamily="34" charset="-122"/>
                <a:cs typeface="Arial" pitchFamily="34" charset="-120"/>
              </a:rPr>
              <a:t>Browse live job feed</a:t>
            </a:r>
            <a:endParaRPr lang="en-US" sz="1650" dirty="0"/>
          </a:p>
        </p:txBody>
      </p:sp>
      <p:sp>
        <p:nvSpPr>
          <p:cNvPr id="19" name="Text 17"/>
          <p:cNvSpPr/>
          <p:nvPr/>
        </p:nvSpPr>
        <p:spPr>
          <a:xfrm>
            <a:off x="12176846" y="4744280"/>
            <a:ext cx="1002452" cy="199736"/>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888888"/>
                </a:solidFill>
                <a:latin typeface="DM Mono" pitchFamily="34" charset="0"/>
                <a:ea typeface="DM Mono" pitchFamily="34" charset="-122"/>
                <a:cs typeface="DM Mono" pitchFamily="34" charset="-120"/>
              </a:rPr>
              <a:t>IMMEDIATELY</a:t>
            </a:r>
            <a:endParaRPr lang="en-US" sz="975" dirty="0"/>
          </a:p>
        </p:txBody>
      </p:sp>
      <p:sp>
        <p:nvSpPr>
          <p:cNvPr id="20" name="Shape 18"/>
          <p:cNvSpPr/>
          <p:nvPr/>
        </p:nvSpPr>
        <p:spPr>
          <a:xfrm>
            <a:off x="914346" y="5180662"/>
            <a:ext cx="12423088" cy="520628"/>
          </a:xfrm>
          <a:prstGeom prst="roundRect">
            <a:avLst>
              <a:gd name="adj" fmla="val 36590"/>
            </a:avLst>
          </a:prstGeom>
          <a:solidFill>
            <a:srgbClr val="FFC83D">
              <a:alpha val="10000"/>
            </a:srgbClr>
          </a:solidFill>
          <a:ln w="5773">
            <a:solidFill>
              <a:srgbClr val="FFC83D"/>
            </a:solidFill>
            <a:prstDash val="solid"/>
          </a:ln>
        </p:spPr>
      </p:sp>
      <p:sp>
        <p:nvSpPr>
          <p:cNvPr id="21" name="Text 19"/>
          <p:cNvSpPr/>
          <p:nvPr/>
        </p:nvSpPr>
        <p:spPr>
          <a:xfrm>
            <a:off x="1148682" y="5342839"/>
            <a:ext cx="761982" cy="234373"/>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FFC83D"/>
                </a:solidFill>
                <a:latin typeface="DM Mono" pitchFamily="34" charset="0"/>
                <a:ea typeface="DM Mono" pitchFamily="34" charset="-122"/>
                <a:cs typeface="DM Mono" pitchFamily="34" charset="-120"/>
              </a:rPr>
              <a:t>04</a:t>
            </a:r>
            <a:endParaRPr lang="en-US" sz="1200" dirty="0"/>
          </a:p>
        </p:txBody>
      </p:sp>
      <p:sp>
        <p:nvSpPr>
          <p:cNvPr id="22" name="Text 20"/>
          <p:cNvSpPr/>
          <p:nvPr/>
        </p:nvSpPr>
        <p:spPr>
          <a:xfrm>
            <a:off x="2063028" y="5319748"/>
            <a:ext cx="10268491" cy="280555"/>
          </a:xfrm>
          <a:prstGeom prst="rect">
            <a:avLst/>
          </a:prstGeom>
          <a:noFill/>
          <a:ln/>
        </p:spPr>
        <p:txBody>
          <a:bodyPr wrap="square" lIns="25400" tIns="25400" rIns="25400" bIns="25400" rtlCol="0" anchor="t">
            <a:normAutofit/>
          </a:bodyPr>
          <a:lstStyle/>
          <a:p>
            <a:pPr algn="l" indent="0" marL="0">
              <a:buNone/>
            </a:pPr>
            <a:r>
              <a:rPr lang="en-US" sz="1650" spc="-16" kern="0" dirty="0">
                <a:solidFill>
                  <a:srgbClr val="FFC83D"/>
                </a:solidFill>
                <a:latin typeface="Arial" pitchFamily="34" charset="0"/>
                <a:ea typeface="Arial" pitchFamily="34" charset="-122"/>
                <a:cs typeface="Arial" pitchFamily="34" charset="-120"/>
              </a:rPr>
              <a:t>1-tap apply with match score</a:t>
            </a:r>
            <a:endParaRPr lang="en-US" sz="1650" dirty="0"/>
          </a:p>
        </p:txBody>
      </p:sp>
      <p:sp>
        <p:nvSpPr>
          <p:cNvPr id="23" name="Text 21"/>
          <p:cNvSpPr/>
          <p:nvPr/>
        </p:nvSpPr>
        <p:spPr>
          <a:xfrm>
            <a:off x="12261002" y="5360157"/>
            <a:ext cx="918297" cy="199736"/>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FFC83D"/>
                </a:solidFill>
                <a:latin typeface="DM Mono" pitchFamily="34" charset="0"/>
                <a:ea typeface="DM Mono" pitchFamily="34" charset="-122"/>
                <a:cs typeface="DM Mono" pitchFamily="34" charset="-120"/>
              </a:rPr>
              <a:t>PUSH + SMS</a:t>
            </a:r>
            <a:endParaRPr lang="en-US" sz="975" dirty="0"/>
          </a:p>
        </p:txBody>
      </p:sp>
      <p:sp>
        <p:nvSpPr>
          <p:cNvPr id="24" name="Shape 22"/>
          <p:cNvSpPr/>
          <p:nvPr/>
        </p:nvSpPr>
        <p:spPr>
          <a:xfrm>
            <a:off x="914346" y="5796539"/>
            <a:ext cx="12423088" cy="520628"/>
          </a:xfrm>
          <a:prstGeom prst="roundRect">
            <a:avLst>
              <a:gd name="adj" fmla="val 36590"/>
            </a:avLst>
          </a:prstGeom>
          <a:solidFill>
            <a:srgbClr val="FFFFFF">
              <a:alpha val="3000"/>
            </a:srgbClr>
          </a:solidFill>
          <a:ln w="5773">
            <a:solidFill>
              <a:srgbClr val="FFFFFF">
                <a:alpha val="8000"/>
              </a:srgbClr>
            </a:solidFill>
            <a:prstDash val="solid"/>
          </a:ln>
        </p:spPr>
      </p:sp>
      <p:sp>
        <p:nvSpPr>
          <p:cNvPr id="25" name="Text 23"/>
          <p:cNvSpPr/>
          <p:nvPr/>
        </p:nvSpPr>
        <p:spPr>
          <a:xfrm>
            <a:off x="1148682" y="5958717"/>
            <a:ext cx="761982" cy="234373"/>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888888"/>
                </a:solidFill>
                <a:latin typeface="DM Mono" pitchFamily="34" charset="0"/>
                <a:ea typeface="DM Mono" pitchFamily="34" charset="-122"/>
                <a:cs typeface="DM Mono" pitchFamily="34" charset="-120"/>
              </a:rPr>
              <a:t>05</a:t>
            </a:r>
            <a:endParaRPr lang="en-US" sz="1200" dirty="0"/>
          </a:p>
        </p:txBody>
      </p:sp>
      <p:sp>
        <p:nvSpPr>
          <p:cNvPr id="26" name="Text 24"/>
          <p:cNvSpPr/>
          <p:nvPr/>
        </p:nvSpPr>
        <p:spPr>
          <a:xfrm>
            <a:off x="2063028" y="5935626"/>
            <a:ext cx="10268491" cy="280555"/>
          </a:xfrm>
          <a:prstGeom prst="rect">
            <a:avLst/>
          </a:prstGeom>
          <a:noFill/>
          <a:ln/>
        </p:spPr>
        <p:txBody>
          <a:bodyPr wrap="square" lIns="25400" tIns="25400" rIns="25400" bIns="25400" rtlCol="0" anchor="t">
            <a:normAutofit/>
          </a:bodyPr>
          <a:lstStyle/>
          <a:p>
            <a:pPr algn="l" indent="0" marL="0">
              <a:buNone/>
            </a:pPr>
            <a:r>
              <a:rPr lang="en-US" sz="1650" spc="-16" kern="0" dirty="0">
                <a:solidFill>
                  <a:srgbClr val="FFFFFF"/>
                </a:solidFill>
                <a:latin typeface="Arial" pitchFamily="34" charset="0"/>
                <a:ea typeface="Arial" pitchFamily="34" charset="-122"/>
                <a:cs typeface="Arial" pitchFamily="34" charset="-120"/>
              </a:rPr>
              <a:t>Verification gate · before placement</a:t>
            </a:r>
            <a:endParaRPr lang="en-US" sz="1650" dirty="0"/>
          </a:p>
        </p:txBody>
      </p:sp>
      <p:sp>
        <p:nvSpPr>
          <p:cNvPr id="27" name="Text 25"/>
          <p:cNvSpPr/>
          <p:nvPr/>
        </p:nvSpPr>
        <p:spPr>
          <a:xfrm>
            <a:off x="12261002" y="5976035"/>
            <a:ext cx="918297" cy="199736"/>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888888"/>
                </a:solidFill>
                <a:latin typeface="DM Mono" pitchFamily="34" charset="0"/>
                <a:ea typeface="DM Mono" pitchFamily="34" charset="-122"/>
                <a:cs typeface="DM Mono" pitchFamily="34" charset="-120"/>
              </a:rPr>
              <a:t>TIER 1 + 2</a:t>
            </a:r>
            <a:endParaRPr lang="en-US" sz="975" dirty="0"/>
          </a:p>
        </p:txBody>
      </p:sp>
      <p:sp>
        <p:nvSpPr>
          <p:cNvPr id="28" name="Shape 26"/>
          <p:cNvSpPr/>
          <p:nvPr/>
        </p:nvSpPr>
        <p:spPr>
          <a:xfrm>
            <a:off x="914346" y="6412417"/>
            <a:ext cx="12423088" cy="520628"/>
          </a:xfrm>
          <a:prstGeom prst="roundRect">
            <a:avLst>
              <a:gd name="adj" fmla="val 36590"/>
            </a:avLst>
          </a:prstGeom>
          <a:solidFill>
            <a:srgbClr val="FFFFFF">
              <a:alpha val="3000"/>
            </a:srgbClr>
          </a:solidFill>
          <a:ln w="5773">
            <a:solidFill>
              <a:srgbClr val="FFFFFF">
                <a:alpha val="8000"/>
              </a:srgbClr>
            </a:solidFill>
            <a:prstDash val="solid"/>
          </a:ln>
        </p:spPr>
      </p:sp>
      <p:sp>
        <p:nvSpPr>
          <p:cNvPr id="29" name="Text 27"/>
          <p:cNvSpPr/>
          <p:nvPr/>
        </p:nvSpPr>
        <p:spPr>
          <a:xfrm>
            <a:off x="1148682" y="6574595"/>
            <a:ext cx="761982" cy="234373"/>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888888"/>
                </a:solidFill>
                <a:latin typeface="DM Mono" pitchFamily="34" charset="0"/>
                <a:ea typeface="DM Mono" pitchFamily="34" charset="-122"/>
                <a:cs typeface="DM Mono" pitchFamily="34" charset="-120"/>
              </a:rPr>
              <a:t>06</a:t>
            </a:r>
            <a:endParaRPr lang="en-US" sz="1200" dirty="0"/>
          </a:p>
        </p:txBody>
      </p:sp>
      <p:sp>
        <p:nvSpPr>
          <p:cNvPr id="30" name="Text 28"/>
          <p:cNvSpPr/>
          <p:nvPr/>
        </p:nvSpPr>
        <p:spPr>
          <a:xfrm>
            <a:off x="2063028" y="6551504"/>
            <a:ext cx="10181811" cy="280555"/>
          </a:xfrm>
          <a:prstGeom prst="rect">
            <a:avLst/>
          </a:prstGeom>
          <a:noFill/>
          <a:ln/>
        </p:spPr>
        <p:txBody>
          <a:bodyPr wrap="square" lIns="25400" tIns="25400" rIns="25400" bIns="25400" rtlCol="0" anchor="t">
            <a:normAutofit/>
          </a:bodyPr>
          <a:lstStyle/>
          <a:p>
            <a:pPr algn="l" indent="0" marL="0">
              <a:buNone/>
            </a:pPr>
            <a:r>
              <a:rPr lang="en-US" sz="1650" spc="-16" kern="0" dirty="0">
                <a:solidFill>
                  <a:srgbClr val="FFFFFF"/>
                </a:solidFill>
                <a:latin typeface="Arial" pitchFamily="34" charset="0"/>
                <a:ea typeface="Arial" pitchFamily="34" charset="-122"/>
                <a:cs typeface="Arial" pitchFamily="34" charset="-120"/>
              </a:rPr>
              <a:t>Location unlock + Maps</a:t>
            </a:r>
            <a:endParaRPr lang="en-US" sz="1650" dirty="0"/>
          </a:p>
        </p:txBody>
      </p:sp>
      <p:sp>
        <p:nvSpPr>
          <p:cNvPr id="31" name="Text 29"/>
          <p:cNvSpPr/>
          <p:nvPr/>
        </p:nvSpPr>
        <p:spPr>
          <a:xfrm>
            <a:off x="12176846" y="6591913"/>
            <a:ext cx="1002452" cy="199736"/>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888888"/>
                </a:solidFill>
                <a:latin typeface="DM Mono" pitchFamily="34" charset="0"/>
                <a:ea typeface="DM Mono" pitchFamily="34" charset="-122"/>
                <a:cs typeface="DM Mono" pitchFamily="34" charset="-120"/>
              </a:rPr>
              <a:t>ON APPROVAL</a:t>
            </a:r>
            <a:endParaRPr lang="en-US" sz="975" dirty="0"/>
          </a:p>
        </p:txBody>
      </p:sp>
      <p:sp>
        <p:nvSpPr>
          <p:cNvPr id="32" name="Shape 30"/>
          <p:cNvSpPr/>
          <p:nvPr/>
        </p:nvSpPr>
        <p:spPr>
          <a:xfrm>
            <a:off x="914346" y="7028295"/>
            <a:ext cx="12423088" cy="520628"/>
          </a:xfrm>
          <a:prstGeom prst="roundRect">
            <a:avLst>
              <a:gd name="adj" fmla="val 36590"/>
            </a:avLst>
          </a:prstGeom>
          <a:solidFill>
            <a:srgbClr val="FFFFFF">
              <a:alpha val="3000"/>
            </a:srgbClr>
          </a:solidFill>
          <a:ln w="5773">
            <a:solidFill>
              <a:srgbClr val="FFFFFF">
                <a:alpha val="8000"/>
              </a:srgbClr>
            </a:solidFill>
            <a:prstDash val="solid"/>
          </a:ln>
        </p:spPr>
      </p:sp>
      <p:sp>
        <p:nvSpPr>
          <p:cNvPr id="33" name="Text 31"/>
          <p:cNvSpPr/>
          <p:nvPr/>
        </p:nvSpPr>
        <p:spPr>
          <a:xfrm>
            <a:off x="1148682" y="7190473"/>
            <a:ext cx="761982" cy="234373"/>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888888"/>
                </a:solidFill>
                <a:latin typeface="DM Mono" pitchFamily="34" charset="0"/>
                <a:ea typeface="DM Mono" pitchFamily="34" charset="-122"/>
                <a:cs typeface="DM Mono" pitchFamily="34" charset="-120"/>
              </a:rPr>
              <a:t>07</a:t>
            </a:r>
            <a:endParaRPr lang="en-US" sz="1200" dirty="0"/>
          </a:p>
        </p:txBody>
      </p:sp>
      <p:sp>
        <p:nvSpPr>
          <p:cNvPr id="34" name="Text 32"/>
          <p:cNvSpPr/>
          <p:nvPr/>
        </p:nvSpPr>
        <p:spPr>
          <a:xfrm>
            <a:off x="2063028" y="7167382"/>
            <a:ext cx="10615398" cy="280555"/>
          </a:xfrm>
          <a:prstGeom prst="rect">
            <a:avLst/>
          </a:prstGeom>
          <a:noFill/>
          <a:ln/>
        </p:spPr>
        <p:txBody>
          <a:bodyPr wrap="square" lIns="25400" tIns="25400" rIns="25400" bIns="25400" rtlCol="0" anchor="t">
            <a:normAutofit/>
          </a:bodyPr>
          <a:lstStyle/>
          <a:p>
            <a:pPr algn="l" indent="0" marL="0">
              <a:buNone/>
            </a:pPr>
            <a:r>
              <a:rPr lang="en-US" sz="1650" spc="-16" kern="0" dirty="0">
                <a:solidFill>
                  <a:srgbClr val="FFFFFF"/>
                </a:solidFill>
                <a:latin typeface="Arial" pitchFamily="34" charset="0"/>
                <a:ea typeface="Arial" pitchFamily="34" charset="-122"/>
                <a:cs typeface="Arial" pitchFamily="34" charset="-120"/>
              </a:rPr>
              <a:t>Trial · digital agreement</a:t>
            </a:r>
            <a:endParaRPr lang="en-US" sz="1650" dirty="0"/>
          </a:p>
        </p:txBody>
      </p:sp>
      <p:sp>
        <p:nvSpPr>
          <p:cNvPr id="35" name="Text 33"/>
          <p:cNvSpPr/>
          <p:nvPr/>
        </p:nvSpPr>
        <p:spPr>
          <a:xfrm>
            <a:off x="12597804" y="7207791"/>
            <a:ext cx="581494" cy="199736"/>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888888"/>
                </a:solidFill>
                <a:latin typeface="DM Mono" pitchFamily="34" charset="0"/>
                <a:ea typeface="DM Mono" pitchFamily="34" charset="-122"/>
                <a:cs typeface="DM Mono" pitchFamily="34" charset="-120"/>
              </a:rPr>
              <a:t>IN-APP</a:t>
            </a:r>
            <a:endParaRPr lang="en-US" sz="975" dirty="0"/>
          </a:p>
        </p:txBody>
      </p:sp>
      <p:sp>
        <p:nvSpPr>
          <p:cNvPr id="36" name="Shape 34"/>
          <p:cNvSpPr/>
          <p:nvPr/>
        </p:nvSpPr>
        <p:spPr>
          <a:xfrm>
            <a:off x="914346" y="7644173"/>
            <a:ext cx="12423088" cy="520628"/>
          </a:xfrm>
          <a:prstGeom prst="roundRect">
            <a:avLst>
              <a:gd name="adj" fmla="val 36590"/>
            </a:avLst>
          </a:prstGeom>
          <a:solidFill>
            <a:srgbClr val="7ED9A8">
              <a:alpha val="10000"/>
            </a:srgbClr>
          </a:solidFill>
          <a:ln w="5773">
            <a:solidFill>
              <a:srgbClr val="7ED9A8"/>
            </a:solidFill>
            <a:prstDash val="solid"/>
          </a:ln>
        </p:spPr>
      </p:sp>
      <p:sp>
        <p:nvSpPr>
          <p:cNvPr id="37" name="Text 35"/>
          <p:cNvSpPr/>
          <p:nvPr/>
        </p:nvSpPr>
        <p:spPr>
          <a:xfrm>
            <a:off x="1148682" y="7806350"/>
            <a:ext cx="761982" cy="234373"/>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7ED9A8"/>
                </a:solidFill>
                <a:latin typeface="DM Mono" pitchFamily="34" charset="0"/>
                <a:ea typeface="DM Mono" pitchFamily="34" charset="-122"/>
                <a:cs typeface="DM Mono" pitchFamily="34" charset="-120"/>
              </a:rPr>
              <a:t>08</a:t>
            </a:r>
            <a:endParaRPr lang="en-US" sz="1200" dirty="0"/>
          </a:p>
        </p:txBody>
      </p:sp>
      <p:sp>
        <p:nvSpPr>
          <p:cNvPr id="38" name="Text 36"/>
          <p:cNvSpPr/>
          <p:nvPr/>
        </p:nvSpPr>
        <p:spPr>
          <a:xfrm>
            <a:off x="2063028" y="7783259"/>
            <a:ext cx="10441945" cy="280555"/>
          </a:xfrm>
          <a:prstGeom prst="rect">
            <a:avLst/>
          </a:prstGeom>
          <a:noFill/>
          <a:ln/>
        </p:spPr>
        <p:txBody>
          <a:bodyPr wrap="square" lIns="25400" tIns="25400" rIns="25400" bIns="25400" rtlCol="0" anchor="t">
            <a:normAutofit/>
          </a:bodyPr>
          <a:lstStyle/>
          <a:p>
            <a:pPr algn="l" indent="0" marL="0">
              <a:buNone/>
            </a:pPr>
            <a:r>
              <a:rPr lang="en-US" sz="1650" spc="-16" kern="0" dirty="0">
                <a:solidFill>
                  <a:srgbClr val="7ED9A8"/>
                </a:solidFill>
                <a:latin typeface="Arial" pitchFamily="34" charset="0"/>
                <a:ea typeface="Arial" pitchFamily="34" charset="-122"/>
                <a:cs typeface="Arial" pitchFamily="34" charset="-120"/>
              </a:rPr>
              <a:t>Recurring payment auto-collected</a:t>
            </a:r>
            <a:endParaRPr lang="en-US" sz="1650" dirty="0"/>
          </a:p>
        </p:txBody>
      </p:sp>
      <p:sp>
        <p:nvSpPr>
          <p:cNvPr id="39" name="Text 37"/>
          <p:cNvSpPr/>
          <p:nvPr/>
        </p:nvSpPr>
        <p:spPr>
          <a:xfrm>
            <a:off x="12429403" y="7823668"/>
            <a:ext cx="749895" cy="199736"/>
          </a:xfrm>
          <a:prstGeom prst="rect">
            <a:avLst/>
          </a:prstGeom>
          <a:noFill/>
          <a:ln/>
        </p:spPr>
        <p:txBody>
          <a:bodyPr wrap="square" lIns="25400" tIns="25400" rIns="25400" bIns="25400" rtlCol="0" anchor="t">
            <a:normAutofit/>
          </a:bodyPr>
          <a:lstStyle/>
          <a:p>
            <a:pPr algn="l" indent="0" marL="0">
              <a:buNone/>
            </a:pPr>
            <a:r>
              <a:rPr lang="en-US" sz="975" spc="78" kern="0" dirty="0">
                <a:solidFill>
                  <a:srgbClr val="7ED9A8"/>
                </a:solidFill>
                <a:latin typeface="DM Mono" pitchFamily="34" charset="0"/>
                <a:ea typeface="DM Mono" pitchFamily="34" charset="-122"/>
                <a:cs typeface="DM Mono" pitchFamily="34" charset="-120"/>
              </a:rPr>
              <a:t>THE MOAT</a:t>
            </a:r>
            <a:endParaRPr lang="en-US" sz="975" dirty="0"/>
          </a:p>
        </p:txBody>
      </p:sp>
      <p:sp>
        <p:nvSpPr>
          <p:cNvPr id="40" name="Shape 38"/>
          <p:cNvSpPr/>
          <p:nvPr/>
        </p:nvSpPr>
        <p:spPr>
          <a:xfrm>
            <a:off x="13794563" y="3333028"/>
            <a:ext cx="3579091" cy="7008090"/>
          </a:xfrm>
          <a:prstGeom prst="roundRect">
            <a:avLst>
              <a:gd name="adj" fmla="val 9581"/>
            </a:avLst>
          </a:prstGeom>
          <a:solidFill>
            <a:srgbClr val="0F0F0F"/>
          </a:solidFill>
          <a:ln w="75045">
            <a:solidFill>
              <a:srgbClr val="2A2A2A"/>
            </a:solidFill>
            <a:prstDash val="solid"/>
          </a:ln>
          <a:effectLst>
            <a:outerShdw sx="100000" sy="100000" kx="0" ky="0" algn="bl" rotWithShape="0" blurRad="762000" dist="381000" dir="5400000">
              <a:srgbClr val="000000">
                <a:alpha val="40000"/>
              </a:srgbClr>
            </a:outerShdw>
          </a:effectLst>
        </p:spPr>
      </p:sp>
      <p:sp>
        <p:nvSpPr>
          <p:cNvPr id="41" name="Text 39"/>
          <p:cNvSpPr/>
          <p:nvPr/>
        </p:nvSpPr>
        <p:spPr>
          <a:xfrm>
            <a:off x="14079139" y="3617606"/>
            <a:ext cx="350585" cy="188191"/>
          </a:xfrm>
          <a:prstGeom prst="rect">
            <a:avLst/>
          </a:prstGeom>
          <a:noFill/>
          <a:ln/>
        </p:spPr>
        <p:txBody>
          <a:bodyPr wrap="square" lIns="25400" tIns="25400" rIns="25400" bIns="25400" rtlCol="0" anchor="t">
            <a:normAutofit/>
          </a:bodyPr>
          <a:lstStyle/>
          <a:p>
            <a:pPr algn="l" indent="0" marL="0">
              <a:buNone/>
            </a:pPr>
            <a:r>
              <a:rPr lang="en-US" sz="900" dirty="0">
                <a:solidFill>
                  <a:srgbClr val="888888"/>
                </a:solidFill>
                <a:latin typeface="DM Mono" pitchFamily="34" charset="0"/>
                <a:ea typeface="DM Mono" pitchFamily="34" charset="-122"/>
                <a:cs typeface="DM Mono" pitchFamily="34" charset="-120"/>
              </a:rPr>
              <a:t>9:30</a:t>
            </a:r>
            <a:endParaRPr lang="en-US" sz="900" dirty="0"/>
          </a:p>
        </p:txBody>
      </p:sp>
      <p:sp>
        <p:nvSpPr>
          <p:cNvPr id="42" name="Text 40"/>
          <p:cNvSpPr/>
          <p:nvPr/>
        </p:nvSpPr>
        <p:spPr>
          <a:xfrm>
            <a:off x="16346649" y="3617606"/>
            <a:ext cx="818627" cy="188191"/>
          </a:xfrm>
          <a:prstGeom prst="rect">
            <a:avLst/>
          </a:prstGeom>
          <a:noFill/>
          <a:ln/>
        </p:spPr>
        <p:txBody>
          <a:bodyPr wrap="square" lIns="25400" tIns="25400" rIns="25400" bIns="25400" rtlCol="0" anchor="t">
            <a:normAutofit/>
          </a:bodyPr>
          <a:lstStyle/>
          <a:p>
            <a:pPr algn="l" indent="0" marL="0">
              <a:buNone/>
            </a:pPr>
            <a:r>
              <a:rPr lang="en-US" sz="900" dirty="0">
                <a:solidFill>
                  <a:srgbClr val="888888"/>
                </a:solidFill>
                <a:latin typeface="DM Mono" pitchFamily="34" charset="0"/>
                <a:ea typeface="DM Mono" pitchFamily="34" charset="-122"/>
                <a:cs typeface="DM Mono" pitchFamily="34" charset="-120"/>
              </a:rPr>
              <a:t>● ●●● ▮▮▮</a:t>
            </a:r>
            <a:endParaRPr lang="en-US" sz="900" dirty="0"/>
          </a:p>
        </p:txBody>
      </p:sp>
      <p:sp>
        <p:nvSpPr>
          <p:cNvPr id="43" name="Text 41"/>
          <p:cNvSpPr/>
          <p:nvPr/>
        </p:nvSpPr>
        <p:spPr>
          <a:xfrm>
            <a:off x="14079139" y="3958106"/>
            <a:ext cx="3100234"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GOOD MORNING, TANVIR</a:t>
            </a:r>
            <a:endParaRPr lang="en-US" sz="1050" dirty="0"/>
          </a:p>
        </p:txBody>
      </p:sp>
      <p:sp>
        <p:nvSpPr>
          <p:cNvPr id="44" name="Text 42"/>
          <p:cNvSpPr/>
          <p:nvPr/>
        </p:nvSpPr>
        <p:spPr>
          <a:xfrm>
            <a:off x="14079139" y="4188384"/>
            <a:ext cx="3100234" cy="349827"/>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FFFFFF"/>
                </a:solidFill>
                <a:latin typeface="Arial" pitchFamily="34" charset="0"/>
                <a:ea typeface="Arial" pitchFamily="34" charset="-122"/>
                <a:cs typeface="Arial" pitchFamily="34" charset="-120"/>
              </a:rPr>
              <a:t>12 new jobs near you</a:t>
            </a:r>
            <a:endParaRPr lang="en-US" sz="2100" dirty="0"/>
          </a:p>
        </p:txBody>
      </p:sp>
      <p:sp>
        <p:nvSpPr>
          <p:cNvPr id="45" name="Shape 43"/>
          <p:cNvSpPr/>
          <p:nvPr/>
        </p:nvSpPr>
        <p:spPr>
          <a:xfrm>
            <a:off x="14079139" y="4709553"/>
            <a:ext cx="3009936" cy="1571625"/>
          </a:xfrm>
          <a:prstGeom prst="roundRect">
            <a:avLst>
              <a:gd name="adj" fmla="val 10909"/>
            </a:avLst>
          </a:prstGeom>
          <a:solidFill>
            <a:srgbClr val="181818"/>
          </a:solidFill>
          <a:ln w="5773">
            <a:solidFill>
              <a:srgbClr val="FFFFFF">
                <a:alpha val="8000"/>
              </a:srgbClr>
            </a:solidFill>
            <a:prstDash val="solid"/>
          </a:ln>
        </p:spPr>
      </p:sp>
      <p:sp>
        <p:nvSpPr>
          <p:cNvPr id="46" name="Shape 44"/>
          <p:cNvSpPr/>
          <p:nvPr/>
        </p:nvSpPr>
        <p:spPr>
          <a:xfrm>
            <a:off x="14237258" y="4867671"/>
            <a:ext cx="767863" cy="208901"/>
          </a:xfrm>
          <a:prstGeom prst="roundRect">
            <a:avLst>
              <a:gd name="adj" fmla="val 50000"/>
            </a:avLst>
          </a:prstGeom>
          <a:solidFill>
            <a:srgbClr val="FFC83D"/>
          </a:solidFill>
          <a:ln/>
        </p:spPr>
      </p:sp>
      <p:sp>
        <p:nvSpPr>
          <p:cNvPr id="47" name="Text 45"/>
          <p:cNvSpPr/>
          <p:nvPr/>
        </p:nvSpPr>
        <p:spPr>
          <a:xfrm>
            <a:off x="14338280" y="4911544"/>
            <a:ext cx="642017" cy="159255"/>
          </a:xfrm>
          <a:prstGeom prst="rect">
            <a:avLst/>
          </a:prstGeom>
          <a:noFill/>
          <a:ln/>
        </p:spPr>
        <p:txBody>
          <a:bodyPr wrap="square" lIns="25400" tIns="25400" rIns="25400" bIns="25400" rtlCol="0" anchor="ctr">
            <a:normAutofit/>
          </a:bodyPr>
          <a:lstStyle/>
          <a:p>
            <a:pPr algn="l" indent="0" marL="0">
              <a:buNone/>
            </a:pPr>
            <a:r>
              <a:rPr lang="en-US" sz="750" spc="45" kern="0" dirty="0">
                <a:solidFill>
                  <a:srgbClr val="0F0F0F"/>
                </a:solidFill>
                <a:latin typeface="DM Mono" pitchFamily="34" charset="0"/>
                <a:ea typeface="DM Mono" pitchFamily="34" charset="-122"/>
                <a:cs typeface="DM Mono" pitchFamily="34" charset="-120"/>
              </a:rPr>
              <a:t>94% MATCH</a:t>
            </a:r>
            <a:endParaRPr lang="en-US" sz="750" dirty="0"/>
          </a:p>
        </p:txBody>
      </p:sp>
      <p:sp>
        <p:nvSpPr>
          <p:cNvPr id="48" name="Text 46"/>
          <p:cNvSpPr/>
          <p:nvPr/>
        </p:nvSpPr>
        <p:spPr>
          <a:xfrm>
            <a:off x="16416553" y="4911508"/>
            <a:ext cx="590604" cy="159327"/>
          </a:xfrm>
          <a:prstGeom prst="rect">
            <a:avLst/>
          </a:prstGeom>
          <a:noFill/>
          <a:ln/>
        </p:spPr>
        <p:txBody>
          <a:bodyPr wrap="square" lIns="25400" tIns="25400" rIns="25400" bIns="25400" rtlCol="0" anchor="t">
            <a:normAutofit/>
          </a:bodyPr>
          <a:lstStyle/>
          <a:p>
            <a:pPr algn="l" indent="0" marL="0">
              <a:buNone/>
            </a:pPr>
            <a:r>
              <a:rPr lang="en-US" sz="750" dirty="0">
                <a:solidFill>
                  <a:srgbClr val="888888"/>
                </a:solidFill>
                <a:latin typeface="DM Mono" pitchFamily="34" charset="0"/>
                <a:ea typeface="DM Mono" pitchFamily="34" charset="-122"/>
                <a:cs typeface="DM Mono" pitchFamily="34" charset="-120"/>
              </a:rPr>
              <a:t>8 MIN AGO</a:t>
            </a:r>
            <a:endParaRPr lang="en-US" sz="750" dirty="0"/>
          </a:p>
        </p:txBody>
      </p:sp>
      <p:sp>
        <p:nvSpPr>
          <p:cNvPr id="49" name="Text 47"/>
          <p:cNvSpPr/>
          <p:nvPr/>
        </p:nvSpPr>
        <p:spPr>
          <a:xfrm>
            <a:off x="14237258" y="5190854"/>
            <a:ext cx="2774510" cy="297873"/>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FFFFFF"/>
                </a:solidFill>
                <a:latin typeface="Arial" pitchFamily="34" charset="0"/>
                <a:ea typeface="Arial" pitchFamily="34" charset="-122"/>
                <a:cs typeface="Arial" pitchFamily="34" charset="-120"/>
              </a:rPr>
              <a:t>Physics + Higher Math</a:t>
            </a:r>
            <a:endParaRPr lang="en-US" sz="1800" dirty="0"/>
          </a:p>
        </p:txBody>
      </p:sp>
      <p:sp>
        <p:nvSpPr>
          <p:cNvPr id="50" name="Text 48"/>
          <p:cNvSpPr/>
          <p:nvPr/>
        </p:nvSpPr>
        <p:spPr>
          <a:xfrm>
            <a:off x="14237258" y="5488691"/>
            <a:ext cx="2774510" cy="182418"/>
          </a:xfrm>
          <a:prstGeom prst="rect">
            <a:avLst/>
          </a:prstGeom>
          <a:noFill/>
          <a:ln/>
        </p:spPr>
        <p:txBody>
          <a:bodyPr wrap="square" lIns="25400" tIns="25400" rIns="25400" bIns="25400" rtlCol="0" anchor="t">
            <a:normAutofit/>
          </a:bodyPr>
          <a:lstStyle/>
          <a:p>
            <a:pPr algn="l" indent="0" marL="0">
              <a:buNone/>
            </a:pPr>
            <a:r>
              <a:rPr lang="en-US" sz="975" dirty="0">
                <a:solidFill>
                  <a:srgbClr val="C8C8C8"/>
                </a:solidFill>
                <a:latin typeface="Arial" pitchFamily="34" charset="0"/>
                <a:ea typeface="Arial" pitchFamily="34" charset="-122"/>
                <a:cs typeface="Arial" pitchFamily="34" charset="-120"/>
              </a:rPr>
              <a:t>HSC · National · Dhanmondi 27</a:t>
            </a:r>
            <a:endParaRPr lang="en-US" sz="975" dirty="0"/>
          </a:p>
        </p:txBody>
      </p:sp>
      <p:sp>
        <p:nvSpPr>
          <p:cNvPr id="51" name="Shape 49"/>
          <p:cNvSpPr/>
          <p:nvPr/>
        </p:nvSpPr>
        <p:spPr>
          <a:xfrm>
            <a:off x="14237258" y="5766323"/>
            <a:ext cx="2693699" cy="9525"/>
          </a:xfrm>
          <a:prstGeom prst="rect">
            <a:avLst/>
          </a:prstGeom>
          <a:solidFill>
            <a:srgbClr val="FFFFFF">
              <a:alpha val="8000"/>
            </a:srgbClr>
          </a:solidFill>
          <a:ln/>
        </p:spPr>
      </p:sp>
      <p:sp>
        <p:nvSpPr>
          <p:cNvPr id="52" name="Text 50"/>
          <p:cNvSpPr/>
          <p:nvPr/>
        </p:nvSpPr>
        <p:spPr>
          <a:xfrm>
            <a:off x="14237258" y="5932559"/>
            <a:ext cx="750617" cy="182418"/>
          </a:xfrm>
          <a:prstGeom prst="rect">
            <a:avLst/>
          </a:prstGeom>
          <a:noFill/>
          <a:ln/>
        </p:spPr>
        <p:txBody>
          <a:bodyPr wrap="square" lIns="25400" tIns="25400" rIns="25400" bIns="25400" rtlCol="0" anchor="t">
            <a:normAutofit/>
          </a:bodyPr>
          <a:lstStyle/>
          <a:p>
            <a:pPr algn="l" indent="0" marL="0">
              <a:buNone/>
            </a:pPr>
            <a:r>
              <a:rPr lang="en-US" sz="975" dirty="0">
                <a:solidFill>
                  <a:srgbClr val="C8C8C8"/>
                </a:solidFill>
                <a:latin typeface="Arial" pitchFamily="34" charset="0"/>
                <a:ea typeface="Arial" pitchFamily="34" charset="-122"/>
                <a:cs typeface="Arial" pitchFamily="34" charset="-120"/>
              </a:rPr>
              <a:t>Mr. Rahman</a:t>
            </a:r>
            <a:endParaRPr lang="en-US" sz="975" dirty="0"/>
          </a:p>
        </p:txBody>
      </p:sp>
      <p:sp>
        <p:nvSpPr>
          <p:cNvPr id="53" name="Text 51"/>
          <p:cNvSpPr/>
          <p:nvPr/>
        </p:nvSpPr>
        <p:spPr>
          <a:xfrm>
            <a:off x="16175091" y="5886377"/>
            <a:ext cx="832066" cy="274782"/>
          </a:xfrm>
          <a:prstGeom prst="rect">
            <a:avLst/>
          </a:prstGeom>
          <a:noFill/>
          <a:ln/>
        </p:spPr>
        <p:txBody>
          <a:bodyPr wrap="square" lIns="25400" tIns="25400" rIns="25400" bIns="25400" rtlCol="0" anchor="t">
            <a:normAutofit/>
          </a:bodyPr>
          <a:lstStyle/>
          <a:p>
            <a:pPr algn="l" indent="0" marL="0">
              <a:buNone/>
            </a:pPr>
            <a:r>
              <a:rPr lang="en-US" sz="1350" b="1" dirty="0">
                <a:solidFill>
                  <a:srgbClr val="FFFFFF"/>
                </a:solidFill>
                <a:latin typeface="DM Mono" pitchFamily="34" charset="0"/>
                <a:ea typeface="DM Mono" pitchFamily="34" charset="-122"/>
                <a:cs typeface="DM Mono" pitchFamily="34" charset="-120"/>
              </a:rPr>
              <a:t>৳12,000</a:t>
            </a:r>
            <a:endParaRPr lang="en-US" sz="1350" dirty="0"/>
          </a:p>
        </p:txBody>
      </p:sp>
      <p:sp>
        <p:nvSpPr>
          <p:cNvPr id="54" name="Shape 52"/>
          <p:cNvSpPr/>
          <p:nvPr/>
        </p:nvSpPr>
        <p:spPr>
          <a:xfrm>
            <a:off x="14079139" y="6414492"/>
            <a:ext cx="3009936" cy="1064256"/>
          </a:xfrm>
          <a:prstGeom prst="roundRect">
            <a:avLst>
              <a:gd name="adj" fmla="val 16110"/>
            </a:avLst>
          </a:prstGeom>
          <a:solidFill>
            <a:srgbClr val="181818">
              <a:alpha val="90000"/>
            </a:srgbClr>
          </a:solidFill>
          <a:ln w="5773">
            <a:solidFill>
              <a:srgbClr val="FFFFFF">
                <a:alpha val="7000"/>
              </a:srgbClr>
            </a:solidFill>
            <a:prstDash val="solid"/>
          </a:ln>
        </p:spPr>
      </p:sp>
      <p:sp>
        <p:nvSpPr>
          <p:cNvPr id="55" name="Shape 53"/>
          <p:cNvSpPr/>
          <p:nvPr/>
        </p:nvSpPr>
        <p:spPr>
          <a:xfrm>
            <a:off x="14237258" y="6572610"/>
            <a:ext cx="767863" cy="208901"/>
          </a:xfrm>
          <a:prstGeom prst="roundRect">
            <a:avLst>
              <a:gd name="adj" fmla="val 50000"/>
            </a:avLst>
          </a:prstGeom>
          <a:solidFill>
            <a:srgbClr val="FFFFFF">
              <a:alpha val="6000"/>
            </a:srgbClr>
          </a:solidFill>
          <a:ln w="5773">
            <a:solidFill>
              <a:srgbClr val="FFFFFF">
                <a:alpha val="14000"/>
              </a:srgbClr>
            </a:solidFill>
            <a:prstDash val="solid"/>
          </a:ln>
        </p:spPr>
      </p:sp>
      <p:sp>
        <p:nvSpPr>
          <p:cNvPr id="56" name="Text 54"/>
          <p:cNvSpPr/>
          <p:nvPr/>
        </p:nvSpPr>
        <p:spPr>
          <a:xfrm>
            <a:off x="14338280" y="6616483"/>
            <a:ext cx="642017" cy="159255"/>
          </a:xfrm>
          <a:prstGeom prst="rect">
            <a:avLst/>
          </a:prstGeom>
          <a:noFill/>
          <a:ln/>
        </p:spPr>
        <p:txBody>
          <a:bodyPr wrap="square" lIns="25400" tIns="25400" rIns="25400" bIns="25400" rtlCol="0" anchor="ctr">
            <a:normAutofit/>
          </a:bodyPr>
          <a:lstStyle/>
          <a:p>
            <a:pPr algn="l" indent="0" marL="0">
              <a:buNone/>
            </a:pPr>
            <a:r>
              <a:rPr lang="en-US" sz="750" spc="45" kern="0" dirty="0">
                <a:solidFill>
                  <a:srgbClr val="C8C8C8"/>
                </a:solidFill>
                <a:latin typeface="DM Mono" pitchFamily="34" charset="0"/>
                <a:ea typeface="DM Mono" pitchFamily="34" charset="-122"/>
                <a:cs typeface="DM Mono" pitchFamily="34" charset="-120"/>
              </a:rPr>
              <a:t>88% MATCH</a:t>
            </a:r>
            <a:endParaRPr lang="en-US" sz="750" dirty="0"/>
          </a:p>
        </p:txBody>
      </p:sp>
      <p:sp>
        <p:nvSpPr>
          <p:cNvPr id="57" name="Text 55"/>
          <p:cNvSpPr/>
          <p:nvPr/>
        </p:nvSpPr>
        <p:spPr>
          <a:xfrm>
            <a:off x="16588021" y="6616447"/>
            <a:ext cx="419136" cy="159327"/>
          </a:xfrm>
          <a:prstGeom prst="rect">
            <a:avLst/>
          </a:prstGeom>
          <a:noFill/>
          <a:ln/>
        </p:spPr>
        <p:txBody>
          <a:bodyPr wrap="square" lIns="25400" tIns="25400" rIns="25400" bIns="25400" rtlCol="0" anchor="t">
            <a:normAutofit/>
          </a:bodyPr>
          <a:lstStyle/>
          <a:p>
            <a:pPr algn="l" indent="0" marL="0">
              <a:buNone/>
            </a:pPr>
            <a:r>
              <a:rPr lang="en-US" sz="750" dirty="0">
                <a:solidFill>
                  <a:srgbClr val="888888"/>
                </a:solidFill>
                <a:latin typeface="DM Mono" pitchFamily="34" charset="0"/>
                <a:ea typeface="DM Mono" pitchFamily="34" charset="-122"/>
                <a:cs typeface="DM Mono" pitchFamily="34" charset="-120"/>
              </a:rPr>
              <a:t>32 MIN</a:t>
            </a:r>
            <a:endParaRPr lang="en-US" sz="750" dirty="0"/>
          </a:p>
        </p:txBody>
      </p:sp>
      <p:sp>
        <p:nvSpPr>
          <p:cNvPr id="58" name="Text 56"/>
          <p:cNvSpPr/>
          <p:nvPr/>
        </p:nvSpPr>
        <p:spPr>
          <a:xfrm>
            <a:off x="14237258" y="6895793"/>
            <a:ext cx="2774510" cy="28055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Arial" pitchFamily="34" charset="0"/>
                <a:ea typeface="Arial" pitchFamily="34" charset="-122"/>
                <a:cs typeface="Arial" pitchFamily="34" charset="-120"/>
              </a:rPr>
              <a:t>Math + Physics</a:t>
            </a:r>
            <a:endParaRPr lang="en-US" sz="1650" dirty="0"/>
          </a:p>
        </p:txBody>
      </p:sp>
      <p:sp>
        <p:nvSpPr>
          <p:cNvPr id="59" name="Text 57"/>
          <p:cNvSpPr/>
          <p:nvPr/>
        </p:nvSpPr>
        <p:spPr>
          <a:xfrm>
            <a:off x="14237258" y="7176311"/>
            <a:ext cx="2774510" cy="182418"/>
          </a:xfrm>
          <a:prstGeom prst="rect">
            <a:avLst/>
          </a:prstGeom>
          <a:noFill/>
          <a:ln/>
        </p:spPr>
        <p:txBody>
          <a:bodyPr wrap="square" lIns="25400" tIns="25400" rIns="25400" bIns="25400" rtlCol="0" anchor="t">
            <a:normAutofit/>
          </a:bodyPr>
          <a:lstStyle/>
          <a:p>
            <a:pPr algn="l" indent="0" marL="0">
              <a:buNone/>
            </a:pPr>
            <a:r>
              <a:rPr lang="en-US" sz="975" dirty="0">
                <a:solidFill>
                  <a:srgbClr val="C8C8C8"/>
                </a:solidFill>
                <a:latin typeface="Arial" pitchFamily="34" charset="0"/>
                <a:ea typeface="Arial" pitchFamily="34" charset="-122"/>
                <a:cs typeface="Arial" pitchFamily="34" charset="-120"/>
              </a:rPr>
              <a:t>Class 10 · Mohammadpur</a:t>
            </a:r>
            <a:endParaRPr lang="en-US" sz="975" dirty="0"/>
          </a:p>
        </p:txBody>
      </p:sp>
      <p:sp>
        <p:nvSpPr>
          <p:cNvPr id="60" name="Shape 58"/>
          <p:cNvSpPr/>
          <p:nvPr/>
        </p:nvSpPr>
        <p:spPr>
          <a:xfrm>
            <a:off x="914346" y="10683964"/>
            <a:ext cx="16459307" cy="9525"/>
          </a:xfrm>
          <a:prstGeom prst="rect">
            <a:avLst/>
          </a:prstGeom>
          <a:solidFill>
            <a:srgbClr val="FFFFFF">
              <a:alpha val="8000"/>
            </a:srgbClr>
          </a:solidFill>
          <a:ln/>
        </p:spPr>
      </p:sp>
      <p:sp>
        <p:nvSpPr>
          <p:cNvPr id="61" name="Text 59"/>
          <p:cNvSpPr/>
          <p:nvPr/>
        </p:nvSpPr>
        <p:spPr>
          <a:xfrm>
            <a:off x="914346" y="10918301"/>
            <a:ext cx="1267456"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THE CORE FLOW</a:t>
            </a:r>
            <a:endParaRPr lang="en-US" sz="975" dirty="0"/>
          </a:p>
        </p:txBody>
      </p:sp>
      <p:sp>
        <p:nvSpPr>
          <p:cNvPr id="62" name="Text 60"/>
          <p:cNvSpPr/>
          <p:nvPr/>
        </p:nvSpPr>
        <p:spPr>
          <a:xfrm>
            <a:off x="16732159" y="10918301"/>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05 / 14</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5605394" y="773545"/>
            <a:ext cx="1844458"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06 · TRUST LADDER</a:t>
            </a:r>
            <a:endParaRPr lang="en-US" sz="1050" dirty="0"/>
          </a:p>
        </p:txBody>
      </p:sp>
      <p:sp>
        <p:nvSpPr>
          <p:cNvPr id="6" name="Text 4"/>
          <p:cNvSpPr/>
          <p:nvPr/>
        </p:nvSpPr>
        <p:spPr>
          <a:xfrm>
            <a:off x="914346" y="1725955"/>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VERIFICATION — GATED WHERE IT MATTERS</a:t>
            </a:r>
            <a:endParaRPr lang="en-US" sz="1050" dirty="0"/>
          </a:p>
        </p:txBody>
      </p:sp>
      <p:sp>
        <p:nvSpPr>
          <p:cNvPr id="7" name="Text 5"/>
          <p:cNvSpPr/>
          <p:nvPr/>
        </p:nvSpPr>
        <p:spPr>
          <a:xfrm>
            <a:off x="914346" y="2241983"/>
            <a:ext cx="15697199" cy="1866792"/>
          </a:xfrm>
          <a:prstGeom prst="rect">
            <a:avLst/>
          </a:prstGeom>
          <a:noFill/>
          <a:ln/>
        </p:spPr>
        <p:txBody>
          <a:bodyPr wrap="square" lIns="25400" tIns="25400" rIns="25400" bIns="25400" rtlCol="0" anchor="t">
            <a:normAutofit/>
          </a:bodyPr>
          <a:lstStyle/>
          <a:p>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Open to browse. </a:t>
            </a:r>
            <a:pPr algn="l" indent="0" marL="0">
              <a:lnSpc>
                <a:spcPct val="96000"/>
              </a:lnSpc>
              <a:buNone/>
            </a:pPr>
            <a:r>
              <a:rPr lang="en-US" sz="7500" b="1" spc="-262" kern="0" dirty="0">
                <a:solidFill>
                  <a:srgbClr val="FFC83D"/>
                </a:solidFill>
                <a:latin typeface="DM Sans" pitchFamily="34" charset="0"/>
                <a:ea typeface="DM Sans" pitchFamily="34" charset="-122"/>
                <a:cs typeface="DM Sans" pitchFamily="34" charset="-120"/>
              </a:rPr>
              <a:t>Verified to be hired.</a:t>
            </a:r>
            <a:endParaRPr lang="en-US" sz="7500" dirty="0"/>
          </a:p>
        </p:txBody>
      </p:sp>
      <p:sp>
        <p:nvSpPr>
          <p:cNvPr id="8" name="Text 6"/>
          <p:cNvSpPr/>
          <p:nvPr/>
        </p:nvSpPr>
        <p:spPr>
          <a:xfrm>
            <a:off x="914346" y="4680148"/>
            <a:ext cx="12753974" cy="795410"/>
          </a:xfrm>
          <a:prstGeom prst="rect">
            <a:avLst/>
          </a:prstGeom>
          <a:noFill/>
          <a:ln/>
        </p:spPr>
        <p:txBody>
          <a:bodyPr wrap="square" lIns="25400" tIns="25400" rIns="25400" bIns="25400" rtlCol="0" anchor="t">
            <a:normAutofit/>
          </a:bodyPr>
          <a:lstStyle/>
          <a:p>
            <a:pPr algn="l" indent="0" marL="0">
              <a:lnSpc>
                <a:spcPct val="142000"/>
              </a:lnSpc>
              <a:buNone/>
            </a:pPr>
            <a:r>
              <a:rPr lang="en-US" sz="2100" dirty="0">
                <a:solidFill>
                  <a:srgbClr val="C8C8C8"/>
                </a:solidFill>
                <a:latin typeface="Arial" pitchFamily="34" charset="0"/>
                <a:ea typeface="Arial" pitchFamily="34" charset="-122"/>
                <a:cs typeface="Arial" pitchFamily="34" charset="-120"/>
              </a:rPr>
              <a:t>We don't gate signup with documents (the incumbent's #1 friction). We gate placement. Tutors verify the moment a real job is on the line — when conversion is highest.</a:t>
            </a:r>
            <a:endParaRPr lang="en-US" sz="2100" dirty="0"/>
          </a:p>
        </p:txBody>
      </p:sp>
      <p:sp>
        <p:nvSpPr>
          <p:cNvPr id="9" name="Shape 7"/>
          <p:cNvSpPr/>
          <p:nvPr/>
        </p:nvSpPr>
        <p:spPr>
          <a:xfrm>
            <a:off x="914346" y="6237431"/>
            <a:ext cx="3943404" cy="2588978"/>
          </a:xfrm>
          <a:prstGeom prst="roundRect">
            <a:avLst>
              <a:gd name="adj" fmla="val 10301"/>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0" name="Text 8"/>
          <p:cNvSpPr/>
          <p:nvPr/>
        </p:nvSpPr>
        <p:spPr>
          <a:xfrm>
            <a:off x="1262964" y="6586050"/>
            <a:ext cx="3343552"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TIER 0 · PHONE</a:t>
            </a:r>
            <a:endParaRPr lang="en-US" sz="1050" dirty="0"/>
          </a:p>
        </p:txBody>
      </p:sp>
      <p:sp>
        <p:nvSpPr>
          <p:cNvPr id="11" name="Text 9"/>
          <p:cNvSpPr/>
          <p:nvPr/>
        </p:nvSpPr>
        <p:spPr>
          <a:xfrm>
            <a:off x="1262964" y="6892546"/>
            <a:ext cx="3343552"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FFFFFF"/>
                </a:solidFill>
                <a:latin typeface="Arial" pitchFamily="34" charset="0"/>
                <a:ea typeface="Arial" pitchFamily="34" charset="-122"/>
                <a:cs typeface="Arial" pitchFamily="34" charset="-120"/>
              </a:rPr>
              <a:t>Auto at signup</a:t>
            </a:r>
            <a:endParaRPr lang="en-US" sz="2700" dirty="0"/>
          </a:p>
        </p:txBody>
      </p:sp>
      <p:sp>
        <p:nvSpPr>
          <p:cNvPr id="12" name="Text 10"/>
          <p:cNvSpPr/>
          <p:nvPr/>
        </p:nvSpPr>
        <p:spPr>
          <a:xfrm>
            <a:off x="1262964" y="7377184"/>
            <a:ext cx="3343552" cy="252412"/>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8C8C8"/>
                </a:solidFill>
                <a:latin typeface="Arial" pitchFamily="34" charset="0"/>
                <a:ea typeface="Arial" pitchFamily="34" charset="-122"/>
                <a:cs typeface="Arial" pitchFamily="34" charset="-120"/>
              </a:rPr>
              <a:t>OTP. Always on.</a:t>
            </a:r>
            <a:endParaRPr lang="en-US" sz="1125" dirty="0"/>
          </a:p>
        </p:txBody>
      </p:sp>
      <p:sp>
        <p:nvSpPr>
          <p:cNvPr id="13" name="Shape 11"/>
          <p:cNvSpPr/>
          <p:nvPr/>
        </p:nvSpPr>
        <p:spPr>
          <a:xfrm>
            <a:off x="1262964" y="7781997"/>
            <a:ext cx="643208" cy="325437"/>
          </a:xfrm>
          <a:prstGeom prst="roundRect">
            <a:avLst>
              <a:gd name="adj" fmla="val 50000"/>
            </a:avLst>
          </a:prstGeom>
          <a:solidFill>
            <a:srgbClr val="7ED9A8">
              <a:alpha val="14000"/>
            </a:srgbClr>
          </a:solidFill>
          <a:ln/>
        </p:spPr>
      </p:sp>
      <p:sp>
        <p:nvSpPr>
          <p:cNvPr id="14" name="Text 12"/>
          <p:cNvSpPr/>
          <p:nvPr/>
        </p:nvSpPr>
        <p:spPr>
          <a:xfrm>
            <a:off x="1421137" y="7863969"/>
            <a:ext cx="403063"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7ED9A8"/>
                </a:solidFill>
                <a:latin typeface="DM Mono" pitchFamily="34" charset="0"/>
                <a:ea typeface="DM Mono" pitchFamily="34" charset="-122"/>
                <a:cs typeface="DM Mono" pitchFamily="34" charset="-120"/>
              </a:rPr>
              <a:t>DONE</a:t>
            </a:r>
            <a:endParaRPr lang="en-US" sz="975" dirty="0"/>
          </a:p>
        </p:txBody>
      </p:sp>
      <p:sp>
        <p:nvSpPr>
          <p:cNvPr id="15" name="Shape 13"/>
          <p:cNvSpPr/>
          <p:nvPr/>
        </p:nvSpPr>
        <p:spPr>
          <a:xfrm>
            <a:off x="5086313" y="6237431"/>
            <a:ext cx="3943404" cy="2588978"/>
          </a:xfrm>
          <a:prstGeom prst="roundRect">
            <a:avLst>
              <a:gd name="adj" fmla="val 10301"/>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6" name="Text 14"/>
          <p:cNvSpPr/>
          <p:nvPr/>
        </p:nvSpPr>
        <p:spPr>
          <a:xfrm>
            <a:off x="5434932" y="6586050"/>
            <a:ext cx="3343552"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TIER 1 · NATIONAL ID</a:t>
            </a:r>
            <a:endParaRPr lang="en-US" sz="1050" dirty="0"/>
          </a:p>
        </p:txBody>
      </p:sp>
      <p:sp>
        <p:nvSpPr>
          <p:cNvPr id="17" name="Text 15"/>
          <p:cNvSpPr/>
          <p:nvPr/>
        </p:nvSpPr>
        <p:spPr>
          <a:xfrm>
            <a:off x="5434932" y="6892546"/>
            <a:ext cx="3343552"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FFFFFF"/>
                </a:solidFill>
                <a:latin typeface="Arial" pitchFamily="34" charset="0"/>
                <a:ea typeface="Arial" pitchFamily="34" charset="-122"/>
                <a:cs typeface="Arial" pitchFamily="34" charset="-120"/>
              </a:rPr>
              <a:t>Porichoy lookup</a:t>
            </a:r>
            <a:endParaRPr lang="en-US" sz="2700" dirty="0"/>
          </a:p>
        </p:txBody>
      </p:sp>
      <p:sp>
        <p:nvSpPr>
          <p:cNvPr id="18" name="Text 16"/>
          <p:cNvSpPr/>
          <p:nvPr/>
        </p:nvSpPr>
        <p:spPr>
          <a:xfrm>
            <a:off x="5434932" y="7377184"/>
            <a:ext cx="3343552" cy="252412"/>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8C8C8"/>
                </a:solidFill>
                <a:latin typeface="Arial" pitchFamily="34" charset="0"/>
                <a:ea typeface="Arial" pitchFamily="34" charset="-122"/>
                <a:cs typeface="Arial" pitchFamily="34" charset="-120"/>
              </a:rPr>
              <a:t>Identity confirmed against govt registry.</a:t>
            </a:r>
            <a:endParaRPr lang="en-US" sz="1125" dirty="0"/>
          </a:p>
        </p:txBody>
      </p:sp>
      <p:sp>
        <p:nvSpPr>
          <p:cNvPr id="19" name="Shape 17"/>
          <p:cNvSpPr/>
          <p:nvPr/>
        </p:nvSpPr>
        <p:spPr>
          <a:xfrm>
            <a:off x="5434932" y="7781997"/>
            <a:ext cx="643208" cy="325437"/>
          </a:xfrm>
          <a:prstGeom prst="roundRect">
            <a:avLst>
              <a:gd name="adj" fmla="val 50000"/>
            </a:avLst>
          </a:prstGeom>
          <a:solidFill>
            <a:srgbClr val="7ED9A8">
              <a:alpha val="14000"/>
            </a:srgbClr>
          </a:solidFill>
          <a:ln/>
        </p:spPr>
      </p:sp>
      <p:sp>
        <p:nvSpPr>
          <p:cNvPr id="20" name="Text 18"/>
          <p:cNvSpPr/>
          <p:nvPr/>
        </p:nvSpPr>
        <p:spPr>
          <a:xfrm>
            <a:off x="5593105" y="7863969"/>
            <a:ext cx="403063"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7ED9A8"/>
                </a:solidFill>
                <a:latin typeface="DM Mono" pitchFamily="34" charset="0"/>
                <a:ea typeface="DM Mono" pitchFamily="34" charset="-122"/>
                <a:cs typeface="DM Mono" pitchFamily="34" charset="-120"/>
              </a:rPr>
              <a:t>DONE</a:t>
            </a:r>
            <a:endParaRPr lang="en-US" sz="975" dirty="0"/>
          </a:p>
        </p:txBody>
      </p:sp>
      <p:sp>
        <p:nvSpPr>
          <p:cNvPr id="21" name="Shape 19"/>
          <p:cNvSpPr/>
          <p:nvPr/>
        </p:nvSpPr>
        <p:spPr>
          <a:xfrm>
            <a:off x="9258281" y="6237431"/>
            <a:ext cx="3943404" cy="2588978"/>
          </a:xfrm>
          <a:prstGeom prst="roundRect">
            <a:avLst>
              <a:gd name="adj" fmla="val 10301"/>
            </a:avLst>
          </a:prstGeom>
          <a:solidFill>
            <a:srgbClr val="FFC83D"/>
          </a:solidFill>
          <a:ln/>
          <a:effectLst>
            <a:outerShdw sx="100000" sy="100000" kx="0" ky="0" algn="bl" rotWithShape="0" blurRad="342900" dist="133350" dir="5400000">
              <a:srgbClr val="000000">
                <a:alpha val="35000"/>
              </a:srgbClr>
            </a:outerShdw>
          </a:effectLst>
        </p:spPr>
      </p:sp>
      <p:sp>
        <p:nvSpPr>
          <p:cNvPr id="22" name="Text 20"/>
          <p:cNvSpPr/>
          <p:nvPr/>
        </p:nvSpPr>
        <p:spPr>
          <a:xfrm>
            <a:off x="9606900" y="6586050"/>
            <a:ext cx="3343552"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0F0F0F">
                    <a:alpha val="60000"/>
                  </a:srgbClr>
                </a:solidFill>
                <a:latin typeface="DM Mono" pitchFamily="34" charset="0"/>
                <a:ea typeface="DM Mono" pitchFamily="34" charset="-122"/>
                <a:cs typeface="DM Mono" pitchFamily="34" charset="-120"/>
              </a:rPr>
              <a:t>TIER 2 · EDUCATION</a:t>
            </a:r>
            <a:endParaRPr lang="en-US" sz="1050" dirty="0"/>
          </a:p>
        </p:txBody>
      </p:sp>
      <p:sp>
        <p:nvSpPr>
          <p:cNvPr id="23" name="Text 21"/>
          <p:cNvSpPr/>
          <p:nvPr/>
        </p:nvSpPr>
        <p:spPr>
          <a:xfrm>
            <a:off x="9606900" y="6892546"/>
            <a:ext cx="3343552" cy="778813"/>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0F0F0F"/>
                </a:solidFill>
                <a:latin typeface="Arial" pitchFamily="34" charset="0"/>
                <a:ea typeface="Arial" pitchFamily="34" charset="-122"/>
                <a:cs typeface="Arial" pitchFamily="34" charset="-120"/>
              </a:rPr>
              <a:t>Student ID + board result</a:t>
            </a:r>
            <a:endParaRPr lang="en-US" sz="2700" dirty="0"/>
          </a:p>
        </p:txBody>
      </p:sp>
      <p:sp>
        <p:nvSpPr>
          <p:cNvPr id="24" name="Text 22"/>
          <p:cNvSpPr/>
          <p:nvPr/>
        </p:nvSpPr>
        <p:spPr>
          <a:xfrm>
            <a:off x="9606900" y="7747540"/>
            <a:ext cx="3343552" cy="252412"/>
          </a:xfrm>
          <a:prstGeom prst="rect">
            <a:avLst/>
          </a:prstGeom>
          <a:noFill/>
          <a:ln/>
        </p:spPr>
        <p:txBody>
          <a:bodyPr wrap="square" lIns="25400" tIns="25400" rIns="25400" bIns="25400" rtlCol="0" anchor="t">
            <a:normAutofit/>
          </a:bodyPr>
          <a:lstStyle/>
          <a:p>
            <a:pPr algn="l" indent="0" marL="0">
              <a:lnSpc>
                <a:spcPct val="150000"/>
              </a:lnSpc>
              <a:buNone/>
            </a:pPr>
            <a:r>
              <a:rPr lang="en-US" sz="1125" b="1" dirty="0">
                <a:solidFill>
                  <a:srgbClr val="0F0F0F">
                    <a:alpha val="75000"/>
                  </a:srgbClr>
                </a:solidFill>
                <a:latin typeface="Arial" pitchFamily="34" charset="0"/>
                <a:ea typeface="Arial" pitchFamily="34" charset="-122"/>
                <a:cs typeface="Arial" pitchFamily="34" charset="-120"/>
              </a:rPr>
              <a:t>Required before placement.</a:t>
            </a:r>
            <a:endParaRPr lang="en-US" sz="1125" dirty="0"/>
          </a:p>
        </p:txBody>
      </p:sp>
      <p:sp>
        <p:nvSpPr>
          <p:cNvPr id="25" name="Shape 23"/>
          <p:cNvSpPr/>
          <p:nvPr/>
        </p:nvSpPr>
        <p:spPr>
          <a:xfrm>
            <a:off x="9606900" y="8152353"/>
            <a:ext cx="1215249" cy="325437"/>
          </a:xfrm>
          <a:prstGeom prst="roundRect">
            <a:avLst>
              <a:gd name="adj" fmla="val 50000"/>
            </a:avLst>
          </a:prstGeom>
          <a:solidFill>
            <a:srgbClr val="0F0F0F">
              <a:alpha val="12000"/>
            </a:srgbClr>
          </a:solidFill>
          <a:ln/>
        </p:spPr>
      </p:sp>
      <p:sp>
        <p:nvSpPr>
          <p:cNvPr id="26" name="Text 24"/>
          <p:cNvSpPr/>
          <p:nvPr/>
        </p:nvSpPr>
        <p:spPr>
          <a:xfrm>
            <a:off x="9765072" y="8234326"/>
            <a:ext cx="975104"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0F0F0F"/>
                </a:solidFill>
                <a:latin typeface="DM Mono" pitchFamily="34" charset="0"/>
                <a:ea typeface="DM Mono" pitchFamily="34" charset="-122"/>
                <a:cs typeface="DM Mono" pitchFamily="34" charset="-120"/>
              </a:rPr>
              <a:t>GATING STEP</a:t>
            </a:r>
            <a:endParaRPr lang="en-US" sz="975" dirty="0"/>
          </a:p>
        </p:txBody>
      </p:sp>
      <p:sp>
        <p:nvSpPr>
          <p:cNvPr id="27" name="Shape 25"/>
          <p:cNvSpPr/>
          <p:nvPr/>
        </p:nvSpPr>
        <p:spPr>
          <a:xfrm>
            <a:off x="13430249" y="6237431"/>
            <a:ext cx="3943404" cy="2588978"/>
          </a:xfrm>
          <a:prstGeom prst="roundRect">
            <a:avLst>
              <a:gd name="adj" fmla="val 10301"/>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28" name="Text 26"/>
          <p:cNvSpPr/>
          <p:nvPr/>
        </p:nvSpPr>
        <p:spPr>
          <a:xfrm>
            <a:off x="13778867" y="6586050"/>
            <a:ext cx="3343552"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TIER 3 · REFERENCE</a:t>
            </a:r>
            <a:endParaRPr lang="en-US" sz="1050" dirty="0"/>
          </a:p>
        </p:txBody>
      </p:sp>
      <p:sp>
        <p:nvSpPr>
          <p:cNvPr id="29" name="Text 27"/>
          <p:cNvSpPr/>
          <p:nvPr/>
        </p:nvSpPr>
        <p:spPr>
          <a:xfrm>
            <a:off x="13778867" y="6892546"/>
            <a:ext cx="3343552"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FFFFFF"/>
                </a:solidFill>
                <a:latin typeface="Arial" pitchFamily="34" charset="0"/>
                <a:ea typeface="Arial" pitchFamily="34" charset="-122"/>
                <a:cs typeface="Arial" pitchFamily="34" charset="-120"/>
              </a:rPr>
              <a:t>Manual review</a:t>
            </a:r>
            <a:endParaRPr lang="en-US" sz="2700" dirty="0"/>
          </a:p>
        </p:txBody>
      </p:sp>
      <p:sp>
        <p:nvSpPr>
          <p:cNvPr id="30" name="Text 28"/>
          <p:cNvSpPr/>
          <p:nvPr/>
        </p:nvSpPr>
        <p:spPr>
          <a:xfrm>
            <a:off x="13778867" y="7377184"/>
            <a:ext cx="3343552" cy="252412"/>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C8C8C8"/>
                </a:solidFill>
                <a:latin typeface="Arial" pitchFamily="34" charset="0"/>
                <a:ea typeface="Arial" pitchFamily="34" charset="-122"/>
                <a:cs typeface="Arial" pitchFamily="34" charset="-120"/>
              </a:rPr>
              <a:t>Unlocks ৳15k+ premium placements.</a:t>
            </a:r>
            <a:endParaRPr lang="en-US" sz="1125" dirty="0"/>
          </a:p>
        </p:txBody>
      </p:sp>
      <p:sp>
        <p:nvSpPr>
          <p:cNvPr id="31" name="Shape 29"/>
          <p:cNvSpPr/>
          <p:nvPr/>
        </p:nvSpPr>
        <p:spPr>
          <a:xfrm>
            <a:off x="13778867" y="7781997"/>
            <a:ext cx="1296969"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32" name="Text 30"/>
          <p:cNvSpPr/>
          <p:nvPr/>
        </p:nvSpPr>
        <p:spPr>
          <a:xfrm>
            <a:off x="13937040" y="7863969"/>
            <a:ext cx="1056824"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PREMIUM TIER</a:t>
            </a:r>
            <a:endParaRPr lang="en-US" sz="975" dirty="0"/>
          </a:p>
        </p:txBody>
      </p:sp>
      <p:sp>
        <p:nvSpPr>
          <p:cNvPr id="33" name="Shape 31"/>
          <p:cNvSpPr/>
          <p:nvPr/>
        </p:nvSpPr>
        <p:spPr>
          <a:xfrm>
            <a:off x="914346" y="9245383"/>
            <a:ext cx="16459307" cy="1306801"/>
          </a:xfrm>
          <a:prstGeom prst="roundRect">
            <a:avLst>
              <a:gd name="adj" fmla="val 20409"/>
            </a:avLst>
          </a:prstGeom>
          <a:solidFill>
            <a:srgbClr val="F5F5F5"/>
          </a:solidFill>
          <a:ln w="5773">
            <a:solidFill>
              <a:srgbClr val="000000">
                <a:alpha val="5000"/>
              </a:srgbClr>
            </a:solidFill>
            <a:prstDash val="solid"/>
          </a:ln>
          <a:effectLst>
            <a:outerShdw sx="100000" sy="100000" kx="0" ky="0" algn="bl" rotWithShape="0" blurRad="342900" dist="133350" dir="5400000">
              <a:srgbClr val="000000">
                <a:alpha val="35000"/>
              </a:srgbClr>
            </a:outerShdw>
          </a:effectLst>
        </p:spPr>
      </p:sp>
      <p:sp>
        <p:nvSpPr>
          <p:cNvPr id="34" name="Text 32"/>
          <p:cNvSpPr/>
          <p:nvPr/>
        </p:nvSpPr>
        <p:spPr>
          <a:xfrm>
            <a:off x="1186746" y="9517784"/>
            <a:ext cx="1489075"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spc="-180" kern="0" dirty="0">
                <a:solidFill>
                  <a:srgbClr val="0F0F0F"/>
                </a:solidFill>
                <a:latin typeface="Arial" pitchFamily="34" charset="0"/>
                <a:ea typeface="Arial" pitchFamily="34" charset="-122"/>
                <a:cs typeface="Arial" pitchFamily="34" charset="-120"/>
              </a:rPr>
              <a:t>3.4×</a:t>
            </a:r>
            <a:endParaRPr lang="en-US" sz="6000" dirty="0"/>
          </a:p>
        </p:txBody>
      </p:sp>
      <p:sp>
        <p:nvSpPr>
          <p:cNvPr id="35" name="Text 33"/>
          <p:cNvSpPr/>
          <p:nvPr/>
        </p:nvSpPr>
        <p:spPr>
          <a:xfrm>
            <a:off x="2866249" y="9752120"/>
            <a:ext cx="8979158" cy="331427"/>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0F0F0F">
                    <a:alpha val="78000"/>
                  </a:srgbClr>
                </a:solidFill>
                <a:latin typeface="Arial" pitchFamily="34" charset="0"/>
                <a:ea typeface="Arial" pitchFamily="34" charset="-122"/>
                <a:cs typeface="Arial" pitchFamily="34" charset="-120"/>
              </a:rPr>
              <a:t>Verified tutors are </a:t>
            </a:r>
            <a:pPr algn="l" indent="0" marL="0">
              <a:lnSpc>
                <a:spcPct val="140000"/>
              </a:lnSpc>
              <a:buNone/>
            </a:pPr>
            <a:r>
              <a:rPr lang="en-US" sz="1650" b="1" dirty="0">
                <a:solidFill>
                  <a:srgbClr val="0F0F0F">
                    <a:alpha val="78000"/>
                  </a:srgbClr>
                </a:solidFill>
                <a:latin typeface="Arial" pitchFamily="34" charset="0"/>
                <a:ea typeface="Arial" pitchFamily="34" charset="-122"/>
                <a:cs typeface="Arial" pitchFamily="34" charset="-120"/>
              </a:rPr>
              <a:t>3.4× more likely to be shortlisted </a:t>
            </a:r>
            <a:pPr algn="l" indent="0" marL="0">
              <a:lnSpc>
                <a:spcPct val="140000"/>
              </a:lnSpc>
              <a:buNone/>
            </a:pPr>
            <a:r>
              <a:rPr lang="en-US" sz="1650" dirty="0">
                <a:solidFill>
                  <a:srgbClr val="0F0F0F">
                    <a:alpha val="78000"/>
                  </a:srgbClr>
                </a:solidFill>
                <a:latin typeface="Arial" pitchFamily="34" charset="0"/>
                <a:ea typeface="Arial" pitchFamily="34" charset="-122"/>
                <a:cs typeface="Arial" pitchFamily="34" charset="-120"/>
              </a:rPr>
              <a:t>— voluntary climbing, no signup friction.</a:t>
            </a:r>
            <a:endParaRPr lang="en-US" sz="1650" dirty="0"/>
          </a:p>
        </p:txBody>
      </p:sp>
      <p:sp>
        <p:nvSpPr>
          <p:cNvPr id="36" name="Shape 34"/>
          <p:cNvSpPr/>
          <p:nvPr/>
        </p:nvSpPr>
        <p:spPr>
          <a:xfrm>
            <a:off x="914346" y="10895030"/>
            <a:ext cx="16459307" cy="9525"/>
          </a:xfrm>
          <a:prstGeom prst="rect">
            <a:avLst/>
          </a:prstGeom>
          <a:solidFill>
            <a:srgbClr val="FFFFFF">
              <a:alpha val="8000"/>
            </a:srgbClr>
          </a:solidFill>
          <a:ln/>
        </p:spPr>
      </p:sp>
      <p:sp>
        <p:nvSpPr>
          <p:cNvPr id="37" name="Text 35"/>
          <p:cNvSpPr/>
          <p:nvPr/>
        </p:nvSpPr>
        <p:spPr>
          <a:xfrm>
            <a:off x="914346" y="11129366"/>
            <a:ext cx="1817218"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VERIFICATION ENGINE</a:t>
            </a:r>
            <a:endParaRPr lang="en-US" sz="975" dirty="0"/>
          </a:p>
        </p:txBody>
      </p:sp>
      <p:sp>
        <p:nvSpPr>
          <p:cNvPr id="38" name="Text 36"/>
          <p:cNvSpPr/>
          <p:nvPr/>
        </p:nvSpPr>
        <p:spPr>
          <a:xfrm>
            <a:off x="16732159" y="11129366"/>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06 / 14</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5293306" y="773545"/>
            <a:ext cx="2156546"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07 · DEMAND NEAR YOU</a:t>
            </a:r>
            <a:endParaRPr lang="en-US" sz="1050" dirty="0"/>
          </a:p>
        </p:txBody>
      </p:sp>
      <p:sp>
        <p:nvSpPr>
          <p:cNvPr id="6" name="Text 4"/>
          <p:cNvSpPr/>
          <p:nvPr/>
        </p:nvSpPr>
        <p:spPr>
          <a:xfrm>
            <a:off x="914346" y="1725955"/>
            <a:ext cx="8201824"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DEMAND-SIDE INTELLIGENCE</a:t>
            </a:r>
            <a:endParaRPr lang="en-US" sz="1050" dirty="0"/>
          </a:p>
        </p:txBody>
      </p:sp>
      <p:sp>
        <p:nvSpPr>
          <p:cNvPr id="7" name="Text 5"/>
          <p:cNvSpPr/>
          <p:nvPr/>
        </p:nvSpPr>
        <p:spPr>
          <a:xfrm>
            <a:off x="914346" y="2165765"/>
            <a:ext cx="8201824" cy="1720489"/>
          </a:xfrm>
          <a:prstGeom prst="rect">
            <a:avLst/>
          </a:prstGeom>
          <a:noFill/>
          <a:ln/>
        </p:spPr>
        <p:txBody>
          <a:bodyPr wrap="square" lIns="25400" tIns="25400" rIns="25400" bIns="25400" rtlCol="0" anchor="t">
            <a:normAutofit/>
          </a:bodyPr>
          <a:lstStyle/>
          <a:p>
            <a:pPr algn="l" indent="0" marL="0">
              <a:lnSpc>
                <a:spcPct val="96000"/>
              </a:lnSpc>
              <a:buNone/>
            </a:pPr>
            <a:r>
              <a:rPr lang="en-US" sz="6900" b="1" spc="-241" kern="0" dirty="0">
                <a:solidFill>
                  <a:srgbClr val="FFFFFF"/>
                </a:solidFill>
                <a:latin typeface="DM Sans" pitchFamily="34" charset="0"/>
                <a:ea typeface="DM Sans" pitchFamily="34" charset="-122"/>
                <a:cs typeface="DM Sans" pitchFamily="34" charset="-120"/>
              </a:rPr>
              <a:t>One data layer. </a:t>
            </a:r>
            <a:pPr algn="l" indent="0" marL="0">
              <a:lnSpc>
                <a:spcPct val="96000"/>
              </a:lnSpc>
              <a:buNone/>
            </a:pPr>
            <a:r>
              <a:rPr lang="en-US" sz="6900" b="1" spc="-241" kern="0" dirty="0">
                <a:solidFill>
                  <a:srgbClr val="FFC83D"/>
                </a:solidFill>
                <a:latin typeface="DM Sans" pitchFamily="34" charset="0"/>
                <a:ea typeface="DM Sans" pitchFamily="34" charset="-122"/>
                <a:cs typeface="DM Sans" pitchFamily="34" charset="-120"/>
              </a:rPr>
              <a:t>Two audiences.</a:t>
            </a:r>
            <a:endParaRPr lang="en-US" sz="6900" dirty="0"/>
          </a:p>
        </p:txBody>
      </p:sp>
      <p:sp>
        <p:nvSpPr>
          <p:cNvPr id="8" name="Text 6"/>
          <p:cNvSpPr/>
          <p:nvPr/>
        </p:nvSpPr>
        <p:spPr>
          <a:xfrm>
            <a:off x="914346" y="4381410"/>
            <a:ext cx="8201824" cy="1552719"/>
          </a:xfrm>
          <a:prstGeom prst="rect">
            <a:avLst/>
          </a:prstGeom>
          <a:noFill/>
          <a:ln/>
        </p:spPr>
        <p:txBody>
          <a:bodyPr wrap="square" lIns="25400" tIns="25400" rIns="25400" bIns="25400" rtlCol="0" anchor="t">
            <a:normAutofit/>
          </a:bodyPr>
          <a:lstStyle/>
          <a:p>
            <a:pPr algn="l" indent="0" marL="0">
              <a:lnSpc>
                <a:spcPct val="142000"/>
              </a:lnSpc>
              <a:buNone/>
            </a:pPr>
            <a:r>
              <a:rPr lang="en-US" sz="2100" dirty="0">
                <a:solidFill>
                  <a:srgbClr val="C8C8C8"/>
                </a:solidFill>
                <a:latin typeface="Arial" pitchFamily="34" charset="0"/>
                <a:ea typeface="Arial" pitchFamily="34" charset="-122"/>
                <a:cs typeface="Arial" pitchFamily="34" charset="-120"/>
              </a:rPr>
              <a:t>Tutors see where requests cluster and which subjects are trending in real time — so they pick service areas that actually fill. Same heatmap drives ops decisions on where to acquire and where to run campaigns.</a:t>
            </a:r>
            <a:endParaRPr lang="en-US" sz="2100" dirty="0"/>
          </a:p>
        </p:txBody>
      </p:sp>
      <p:sp>
        <p:nvSpPr>
          <p:cNvPr id="9" name="Shape 7"/>
          <p:cNvSpPr/>
          <p:nvPr/>
        </p:nvSpPr>
        <p:spPr>
          <a:xfrm>
            <a:off x="914346" y="6543566"/>
            <a:ext cx="1296969" cy="325437"/>
          </a:xfrm>
          <a:prstGeom prst="roundRect">
            <a:avLst>
              <a:gd name="adj" fmla="val 50000"/>
            </a:avLst>
          </a:prstGeom>
          <a:solidFill>
            <a:srgbClr val="FFC83D"/>
          </a:solidFill>
          <a:ln/>
        </p:spPr>
      </p:sp>
      <p:sp>
        <p:nvSpPr>
          <p:cNvPr id="10" name="Text 8"/>
          <p:cNvSpPr/>
          <p:nvPr/>
        </p:nvSpPr>
        <p:spPr>
          <a:xfrm>
            <a:off x="1072519" y="6625539"/>
            <a:ext cx="1056824"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0F0F0F"/>
                </a:solidFill>
                <a:latin typeface="DM Mono" pitchFamily="34" charset="0"/>
                <a:ea typeface="DM Mono" pitchFamily="34" charset="-122"/>
                <a:cs typeface="DM Mono" pitchFamily="34" charset="-120"/>
              </a:rPr>
              <a:t>LIVE DENSITY</a:t>
            </a:r>
            <a:endParaRPr lang="en-US" sz="975" dirty="0"/>
          </a:p>
        </p:txBody>
      </p:sp>
      <p:sp>
        <p:nvSpPr>
          <p:cNvPr id="11" name="Shape 9"/>
          <p:cNvSpPr/>
          <p:nvPr/>
        </p:nvSpPr>
        <p:spPr>
          <a:xfrm>
            <a:off x="2325597" y="6543566"/>
            <a:ext cx="1460410"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12" name="Text 10"/>
          <p:cNvSpPr/>
          <p:nvPr/>
        </p:nvSpPr>
        <p:spPr>
          <a:xfrm>
            <a:off x="2483770" y="6625539"/>
            <a:ext cx="1220264"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SUBJECT TRENDS</a:t>
            </a:r>
            <a:endParaRPr lang="en-US" sz="975" dirty="0"/>
          </a:p>
        </p:txBody>
      </p:sp>
      <p:sp>
        <p:nvSpPr>
          <p:cNvPr id="13" name="Shape 11"/>
          <p:cNvSpPr/>
          <p:nvPr/>
        </p:nvSpPr>
        <p:spPr>
          <a:xfrm>
            <a:off x="3900289" y="6543566"/>
            <a:ext cx="1950731"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14" name="Text 12"/>
          <p:cNvSpPr/>
          <p:nvPr/>
        </p:nvSpPr>
        <p:spPr>
          <a:xfrm>
            <a:off x="4058461" y="6625539"/>
            <a:ext cx="1710585"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UNDER-SERVED POCKETS</a:t>
            </a:r>
            <a:endParaRPr lang="en-US" sz="975" dirty="0"/>
          </a:p>
        </p:txBody>
      </p:sp>
      <p:sp>
        <p:nvSpPr>
          <p:cNvPr id="15" name="Shape 13"/>
          <p:cNvSpPr/>
          <p:nvPr/>
        </p:nvSpPr>
        <p:spPr>
          <a:xfrm>
            <a:off x="5965302" y="6543566"/>
            <a:ext cx="1133529" cy="325437"/>
          </a:xfrm>
          <a:prstGeom prst="roundRect">
            <a:avLst>
              <a:gd name="adj" fmla="val 50000"/>
            </a:avLst>
          </a:prstGeom>
          <a:solidFill>
            <a:srgbClr val="FFFFFF">
              <a:alpha val="6000"/>
            </a:srgbClr>
          </a:solidFill>
          <a:ln w="5773">
            <a:solidFill>
              <a:srgbClr val="FFFFFF">
                <a:alpha val="14000"/>
              </a:srgbClr>
            </a:solidFill>
            <a:prstDash val="solid"/>
          </a:ln>
        </p:spPr>
      </p:sp>
      <p:sp>
        <p:nvSpPr>
          <p:cNvPr id="16" name="Text 14"/>
          <p:cNvSpPr/>
          <p:nvPr/>
        </p:nvSpPr>
        <p:spPr>
          <a:xfrm>
            <a:off x="6123474" y="6625539"/>
            <a:ext cx="893384" cy="199592"/>
          </a:xfrm>
          <a:prstGeom prst="rect">
            <a:avLst/>
          </a:prstGeom>
          <a:noFill/>
          <a:ln/>
        </p:spPr>
        <p:txBody>
          <a:bodyPr wrap="square" lIns="25400" tIns="25400" rIns="25400" bIns="25400" rtlCol="0" anchor="ctr">
            <a:normAutofit/>
          </a:bodyPr>
          <a:lstStyle/>
          <a:p>
            <a:pPr algn="l" indent="0" marL="0">
              <a:buNone/>
            </a:pPr>
            <a:r>
              <a:rPr lang="en-US" sz="975" spc="59" kern="0" dirty="0">
                <a:solidFill>
                  <a:srgbClr val="C8C8C8"/>
                </a:solidFill>
                <a:latin typeface="DM Mono" pitchFamily="34" charset="0"/>
                <a:ea typeface="DM Mono" pitchFamily="34" charset="-122"/>
                <a:cs typeface="DM Mono" pitchFamily="34" charset="-120"/>
              </a:rPr>
              <a:t>CRM SIGNAL</a:t>
            </a:r>
            <a:endParaRPr lang="en-US" sz="975" dirty="0"/>
          </a:p>
        </p:txBody>
      </p:sp>
      <p:sp>
        <p:nvSpPr>
          <p:cNvPr id="17" name="Shape 15"/>
          <p:cNvSpPr/>
          <p:nvPr/>
        </p:nvSpPr>
        <p:spPr>
          <a:xfrm>
            <a:off x="9410627" y="1725955"/>
            <a:ext cx="7963026" cy="7060225"/>
          </a:xfrm>
          <a:prstGeom prst="roundRect">
            <a:avLst>
              <a:gd name="adj" fmla="val 3778"/>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8" name="Text 16"/>
          <p:cNvSpPr/>
          <p:nvPr/>
        </p:nvSpPr>
        <p:spPr>
          <a:xfrm>
            <a:off x="9644964" y="2024874"/>
            <a:ext cx="2867879"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THIS WEEK · DHANMONDI CLUSTER</a:t>
            </a:r>
            <a:endParaRPr lang="en-US" sz="1050" dirty="0"/>
          </a:p>
        </p:txBody>
      </p:sp>
      <p:sp>
        <p:nvSpPr>
          <p:cNvPr id="19" name="Shape 17"/>
          <p:cNvSpPr/>
          <p:nvPr/>
        </p:nvSpPr>
        <p:spPr>
          <a:xfrm>
            <a:off x="16546439" y="1960292"/>
            <a:ext cx="592877" cy="302347"/>
          </a:xfrm>
          <a:prstGeom prst="roundRect">
            <a:avLst>
              <a:gd name="adj" fmla="val 50000"/>
            </a:avLst>
          </a:prstGeom>
          <a:solidFill>
            <a:srgbClr val="FFFFFF">
              <a:alpha val="6000"/>
            </a:srgbClr>
          </a:solidFill>
          <a:ln w="5773">
            <a:solidFill>
              <a:srgbClr val="FFFFFF">
                <a:alpha val="14000"/>
              </a:srgbClr>
            </a:solidFill>
            <a:prstDash val="solid"/>
          </a:ln>
        </p:spPr>
      </p:sp>
      <p:sp>
        <p:nvSpPr>
          <p:cNvPr id="20" name="Text 18"/>
          <p:cNvSpPr/>
          <p:nvPr/>
        </p:nvSpPr>
        <p:spPr>
          <a:xfrm>
            <a:off x="16704612" y="2042265"/>
            <a:ext cx="352732" cy="176501"/>
          </a:xfrm>
          <a:prstGeom prst="rect">
            <a:avLst/>
          </a:prstGeom>
          <a:noFill/>
          <a:ln/>
        </p:spPr>
        <p:txBody>
          <a:bodyPr wrap="square" lIns="25400" tIns="25400" rIns="25400" bIns="25400" rtlCol="0" anchor="ctr">
            <a:normAutofit/>
          </a:bodyPr>
          <a:lstStyle/>
          <a:p>
            <a:pPr algn="l" indent="0" marL="0">
              <a:buNone/>
            </a:pPr>
            <a:r>
              <a:rPr lang="en-US" sz="825" spc="50" kern="0" dirty="0">
                <a:solidFill>
                  <a:srgbClr val="C8C8C8"/>
                </a:solidFill>
                <a:latin typeface="DM Mono" pitchFamily="34" charset="0"/>
                <a:ea typeface="DM Mono" pitchFamily="34" charset="-122"/>
                <a:cs typeface="DM Mono" pitchFamily="34" charset="-120"/>
              </a:rPr>
              <a:t>LIVE</a:t>
            </a:r>
            <a:endParaRPr lang="en-US" sz="825" dirty="0"/>
          </a:p>
        </p:txBody>
      </p:sp>
      <p:sp>
        <p:nvSpPr>
          <p:cNvPr id="21" name="Shape 19"/>
          <p:cNvSpPr/>
          <p:nvPr/>
        </p:nvSpPr>
        <p:spPr>
          <a:xfrm>
            <a:off x="9644964" y="2414984"/>
            <a:ext cx="7494352" cy="4000500"/>
          </a:xfrm>
          <a:prstGeom prst="roundRect">
            <a:avLst>
              <a:gd name="adj" fmla="val 4286"/>
            </a:avLst>
          </a:prstGeom>
          <a:solidFill>
            <a:srgbClr val="181818"/>
          </a:solidFill>
          <a:ln/>
        </p:spPr>
      </p:sp>
      <p:pic>
        <p:nvPicPr>
          <p:cNvPr id="22" name="Image 0" descr="preencoded.png">    </p:cNvPr>
          <p:cNvPicPr>
            <a:picLocks noChangeAspect="1"/>
          </p:cNvPicPr>
          <p:nvPr/>
        </p:nvPicPr>
        <p:blipFill>
          <a:blip r:embed="rId1"/>
          <a:stretch>
            <a:fillRect/>
          </a:stretch>
        </p:blipFill>
        <p:spPr>
          <a:xfrm>
            <a:off x="9644964" y="2414984"/>
            <a:ext cx="7494352" cy="4000500"/>
          </a:xfrm>
          <a:prstGeom prst="rect">
            <a:avLst/>
          </a:prstGeom>
        </p:spPr>
      </p:pic>
      <p:sp>
        <p:nvSpPr>
          <p:cNvPr id="23" name="Text 20"/>
          <p:cNvSpPr/>
          <p:nvPr/>
        </p:nvSpPr>
        <p:spPr>
          <a:xfrm>
            <a:off x="9644964" y="6567830"/>
            <a:ext cx="2498129" cy="390236"/>
          </a:xfrm>
          <a:prstGeom prst="rect">
            <a:avLst/>
          </a:prstGeom>
          <a:noFill/>
          <a:ln/>
        </p:spPr>
        <p:txBody>
          <a:bodyPr wrap="square" lIns="25400" tIns="25400" rIns="25400" bIns="25400" rtlCol="0" anchor="t">
            <a:normAutofit/>
          </a:bodyPr>
          <a:lstStyle/>
          <a:p>
            <a:pPr algn="l" indent="0" marL="0">
              <a:buNone/>
            </a:pPr>
            <a:r>
              <a:rPr lang="en-US" sz="2400" b="1" spc="-48" kern="0" dirty="0">
                <a:solidFill>
                  <a:srgbClr val="FFFFFF"/>
                </a:solidFill>
                <a:latin typeface="Arial" pitchFamily="34" charset="0"/>
                <a:ea typeface="Arial" pitchFamily="34" charset="-122"/>
                <a:cs typeface="Arial" pitchFamily="34" charset="-120"/>
              </a:rPr>
              <a:t>71</a:t>
            </a:r>
            <a:endParaRPr lang="en-US" sz="2400" dirty="0"/>
          </a:p>
        </p:txBody>
      </p:sp>
      <p:sp>
        <p:nvSpPr>
          <p:cNvPr id="24" name="Text 21"/>
          <p:cNvSpPr/>
          <p:nvPr/>
        </p:nvSpPr>
        <p:spPr>
          <a:xfrm>
            <a:off x="9644964" y="6919966"/>
            <a:ext cx="2498129"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OPEN JOBS</a:t>
            </a:r>
            <a:endParaRPr lang="en-US" sz="1050" dirty="0"/>
          </a:p>
        </p:txBody>
      </p:sp>
      <p:sp>
        <p:nvSpPr>
          <p:cNvPr id="25" name="Text 22"/>
          <p:cNvSpPr/>
          <p:nvPr/>
        </p:nvSpPr>
        <p:spPr>
          <a:xfrm>
            <a:off x="12181175" y="6567830"/>
            <a:ext cx="2498129" cy="390236"/>
          </a:xfrm>
          <a:prstGeom prst="rect">
            <a:avLst/>
          </a:prstGeom>
          <a:noFill/>
          <a:ln/>
        </p:spPr>
        <p:txBody>
          <a:bodyPr wrap="square" lIns="25400" tIns="25400" rIns="25400" bIns="25400" rtlCol="0" anchor="t">
            <a:normAutofit/>
          </a:bodyPr>
          <a:lstStyle/>
          <a:p>
            <a:pPr algn="l" indent="0" marL="0">
              <a:buNone/>
            </a:pPr>
            <a:r>
              <a:rPr lang="en-US" sz="2400" b="1" spc="-48" kern="0" dirty="0">
                <a:solidFill>
                  <a:srgbClr val="FFFFFF"/>
                </a:solidFill>
                <a:latin typeface="Arial" pitchFamily="34" charset="0"/>
                <a:ea typeface="Arial" pitchFamily="34" charset="-122"/>
                <a:cs typeface="Arial" pitchFamily="34" charset="-120"/>
              </a:rPr>
              <a:t>14</a:t>
            </a:r>
            <a:endParaRPr lang="en-US" sz="2400" dirty="0"/>
          </a:p>
        </p:txBody>
      </p:sp>
      <p:sp>
        <p:nvSpPr>
          <p:cNvPr id="26" name="Text 23"/>
          <p:cNvSpPr/>
          <p:nvPr/>
        </p:nvSpPr>
        <p:spPr>
          <a:xfrm>
            <a:off x="12181175" y="6919966"/>
            <a:ext cx="2498129"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IN YOUR AREAS</a:t>
            </a:r>
            <a:endParaRPr lang="en-US" sz="1050" dirty="0"/>
          </a:p>
        </p:txBody>
      </p:sp>
      <p:sp>
        <p:nvSpPr>
          <p:cNvPr id="27" name="Text 24"/>
          <p:cNvSpPr/>
          <p:nvPr/>
        </p:nvSpPr>
        <p:spPr>
          <a:xfrm>
            <a:off x="14717387" y="6567830"/>
            <a:ext cx="2498129" cy="442191"/>
          </a:xfrm>
          <a:prstGeom prst="rect">
            <a:avLst/>
          </a:prstGeom>
          <a:noFill/>
          <a:ln/>
        </p:spPr>
        <p:txBody>
          <a:bodyPr wrap="square" lIns="25400" tIns="25400" rIns="25400" bIns="25400" rtlCol="0" anchor="t">
            <a:normAutofit/>
          </a:bodyPr>
          <a:lstStyle/>
          <a:p>
            <a:pPr algn="l" indent="0" marL="0">
              <a:buNone/>
            </a:pPr>
            <a:r>
              <a:rPr lang="en-US" sz="2400" b="1" spc="-48" kern="0" dirty="0">
                <a:solidFill>
                  <a:srgbClr val="FFFFFF"/>
                </a:solidFill>
                <a:latin typeface="Arial" pitchFamily="34" charset="0"/>
                <a:ea typeface="Arial" pitchFamily="34" charset="-122"/>
                <a:cs typeface="Arial" pitchFamily="34" charset="-120"/>
              </a:rPr>
              <a:t>৳8.7k</a:t>
            </a:r>
            <a:endParaRPr lang="en-US" sz="2400" dirty="0"/>
          </a:p>
        </p:txBody>
      </p:sp>
      <p:sp>
        <p:nvSpPr>
          <p:cNvPr id="28" name="Text 25"/>
          <p:cNvSpPr/>
          <p:nvPr/>
        </p:nvSpPr>
        <p:spPr>
          <a:xfrm>
            <a:off x="14717387" y="6971921"/>
            <a:ext cx="2498129"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MEDIAN PAY</a:t>
            </a:r>
            <a:endParaRPr lang="en-US" sz="1050" dirty="0"/>
          </a:p>
        </p:txBody>
      </p:sp>
      <p:sp>
        <p:nvSpPr>
          <p:cNvPr id="29" name="Shape 26"/>
          <p:cNvSpPr/>
          <p:nvPr/>
        </p:nvSpPr>
        <p:spPr>
          <a:xfrm>
            <a:off x="914346" y="9129026"/>
            <a:ext cx="16459307" cy="9525"/>
          </a:xfrm>
          <a:prstGeom prst="rect">
            <a:avLst/>
          </a:prstGeom>
          <a:solidFill>
            <a:srgbClr val="FFFFFF">
              <a:alpha val="8000"/>
            </a:srgbClr>
          </a:solidFill>
          <a:ln/>
        </p:spPr>
      </p:sp>
      <p:sp>
        <p:nvSpPr>
          <p:cNvPr id="30" name="Text 27"/>
          <p:cNvSpPr/>
          <p:nvPr/>
        </p:nvSpPr>
        <p:spPr>
          <a:xfrm>
            <a:off x="914346" y="9363363"/>
            <a:ext cx="1817218"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DEMAND INTELLIGENCE</a:t>
            </a:r>
            <a:endParaRPr lang="en-US" sz="975" dirty="0"/>
          </a:p>
        </p:txBody>
      </p:sp>
      <p:sp>
        <p:nvSpPr>
          <p:cNvPr id="31" name="Text 28"/>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07 / 14</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5189308" y="773545"/>
            <a:ext cx="2260546"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08 · LOCATION PRIVACY</a:t>
            </a:r>
            <a:endParaRPr lang="en-US" sz="1050" dirty="0"/>
          </a:p>
        </p:txBody>
      </p:sp>
      <p:sp>
        <p:nvSpPr>
          <p:cNvPr id="6" name="Text 4"/>
          <p:cNvSpPr/>
          <p:nvPr/>
        </p:nvSpPr>
        <p:spPr>
          <a:xfrm>
            <a:off x="914346" y="1725955"/>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PRIVACY-CONTROLLED LOCATION REVEAL</a:t>
            </a:r>
            <a:endParaRPr lang="en-US" sz="1050" dirty="0"/>
          </a:p>
        </p:txBody>
      </p:sp>
      <p:sp>
        <p:nvSpPr>
          <p:cNvPr id="7" name="Text 5"/>
          <p:cNvSpPr/>
          <p:nvPr/>
        </p:nvSpPr>
        <p:spPr>
          <a:xfrm>
            <a:off x="914346" y="2241983"/>
            <a:ext cx="15697199" cy="1866792"/>
          </a:xfrm>
          <a:prstGeom prst="rect">
            <a:avLst/>
          </a:prstGeom>
          <a:noFill/>
          <a:ln/>
        </p:spPr>
        <p:txBody>
          <a:bodyPr wrap="square" lIns="25400" tIns="25400" rIns="25400" bIns="25400" rtlCol="0" anchor="t">
            <a:normAutofit/>
          </a:bodyPr>
          <a:lstStyle/>
          <a:p>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A guardian's address is </a:t>
            </a:r>
            <a:pPr algn="l" indent="0" marL="0">
              <a:lnSpc>
                <a:spcPct val="96000"/>
              </a:lnSpc>
              <a:buNone/>
            </a:pPr>
            <a:r>
              <a:rPr lang="en-US" sz="7500" b="1" spc="-262" kern="0" dirty="0">
                <a:solidFill>
                  <a:srgbClr val="FFC83D"/>
                </a:solidFill>
                <a:latin typeface="DM Sans" pitchFamily="34" charset="0"/>
                <a:ea typeface="DM Sans" pitchFamily="34" charset="-122"/>
                <a:cs typeface="DM Sans" pitchFamily="34" charset="-120"/>
              </a:rPr>
              <a:t>never exposed </a:t>
            </a:r>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to strangers.</a:t>
            </a:r>
            <a:endParaRPr lang="en-US" sz="7500" dirty="0"/>
          </a:p>
        </p:txBody>
      </p:sp>
      <p:sp>
        <p:nvSpPr>
          <p:cNvPr id="8" name="Shape 6"/>
          <p:cNvSpPr/>
          <p:nvPr/>
        </p:nvSpPr>
        <p:spPr>
          <a:xfrm>
            <a:off x="914346" y="4718302"/>
            <a:ext cx="5308654" cy="2886905"/>
          </a:xfrm>
          <a:prstGeom prst="roundRect">
            <a:avLst>
              <a:gd name="adj" fmla="val 9238"/>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9" name="Shape 7"/>
          <p:cNvSpPr/>
          <p:nvPr/>
        </p:nvSpPr>
        <p:spPr>
          <a:xfrm>
            <a:off x="1262964" y="5066921"/>
            <a:ext cx="457128" cy="457128"/>
          </a:xfrm>
          <a:prstGeom prst="roundRect">
            <a:avLst>
              <a:gd name="adj" fmla="val 29171"/>
            </a:avLst>
          </a:prstGeom>
          <a:solidFill>
            <a:srgbClr val="FFC83D">
              <a:alpha val="14000"/>
            </a:srgbClr>
          </a:solidFill>
          <a:ln/>
        </p:spPr>
      </p:sp>
      <p:pic>
        <p:nvPicPr>
          <p:cNvPr id="10" name="Image 0" descr="preencoded.png">    </p:cNvPr>
          <p:cNvPicPr>
            <a:picLocks noChangeAspect="1"/>
          </p:cNvPicPr>
          <p:nvPr/>
        </p:nvPicPr>
        <p:blipFill>
          <a:blip r:embed="rId1"/>
          <a:stretch>
            <a:fillRect/>
          </a:stretch>
        </p:blipFill>
        <p:spPr>
          <a:xfrm>
            <a:off x="1339092" y="5143049"/>
            <a:ext cx="304782" cy="304782"/>
          </a:xfrm>
          <a:prstGeom prst="rect">
            <a:avLst/>
          </a:prstGeom>
        </p:spPr>
      </p:pic>
      <p:sp>
        <p:nvSpPr>
          <p:cNvPr id="11" name="Text 8"/>
          <p:cNvSpPr/>
          <p:nvPr/>
        </p:nvSpPr>
        <p:spPr>
          <a:xfrm>
            <a:off x="1834374" y="5208894"/>
            <a:ext cx="1132338"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01 · POSTED</a:t>
            </a:r>
            <a:endParaRPr lang="en-US" sz="1050" dirty="0"/>
          </a:p>
        </p:txBody>
      </p:sp>
      <p:sp>
        <p:nvSpPr>
          <p:cNvPr id="12" name="Text 9"/>
          <p:cNvSpPr/>
          <p:nvPr/>
        </p:nvSpPr>
        <p:spPr>
          <a:xfrm>
            <a:off x="1262964" y="5714549"/>
            <a:ext cx="4749759"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FFFFFF"/>
                </a:solidFill>
                <a:latin typeface="Arial" pitchFamily="34" charset="0"/>
                <a:ea typeface="Arial" pitchFamily="34" charset="-122"/>
                <a:cs typeface="Arial" pitchFamily="34" charset="-120"/>
              </a:rPr>
              <a:t>Fuzzed publicly</a:t>
            </a:r>
            <a:endParaRPr lang="en-US" sz="2700" dirty="0"/>
          </a:p>
        </p:txBody>
      </p:sp>
      <p:sp>
        <p:nvSpPr>
          <p:cNvPr id="13" name="Text 10"/>
          <p:cNvSpPr/>
          <p:nvPr/>
        </p:nvSpPr>
        <p:spPr>
          <a:xfrm>
            <a:off x="1262964" y="6199187"/>
            <a:ext cx="4749759" cy="495408"/>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C8C8"/>
                </a:solidFill>
                <a:latin typeface="Arial" pitchFamily="34" charset="0"/>
                <a:ea typeface="Arial" pitchFamily="34" charset="-122"/>
                <a:cs typeface="Arial" pitchFamily="34" charset="-120"/>
              </a:rPr>
              <a:t>Tutors see area, landmark, and an approximate pin. Enough to estimate commute, not enough to find the home.</a:t>
            </a:r>
            <a:endParaRPr lang="en-US" sz="1200" dirty="0"/>
          </a:p>
        </p:txBody>
      </p:sp>
      <p:sp>
        <p:nvSpPr>
          <p:cNvPr id="14" name="Shape 11"/>
          <p:cNvSpPr/>
          <p:nvPr/>
        </p:nvSpPr>
        <p:spPr>
          <a:xfrm>
            <a:off x="6489627" y="4718302"/>
            <a:ext cx="5308654" cy="2886905"/>
          </a:xfrm>
          <a:prstGeom prst="roundRect">
            <a:avLst>
              <a:gd name="adj" fmla="val 9238"/>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5" name="Shape 12"/>
          <p:cNvSpPr/>
          <p:nvPr/>
        </p:nvSpPr>
        <p:spPr>
          <a:xfrm>
            <a:off x="6838246" y="5066921"/>
            <a:ext cx="457128" cy="457128"/>
          </a:xfrm>
          <a:prstGeom prst="roundRect">
            <a:avLst>
              <a:gd name="adj" fmla="val 29171"/>
            </a:avLst>
          </a:prstGeom>
          <a:solidFill>
            <a:srgbClr val="FFC83D">
              <a:alpha val="14000"/>
            </a:srgbClr>
          </a:solidFill>
          <a:ln/>
        </p:spPr>
      </p:sp>
      <p:pic>
        <p:nvPicPr>
          <p:cNvPr id="16" name="Image 1" descr="preencoded.png">    </p:cNvPr>
          <p:cNvPicPr>
            <a:picLocks noChangeAspect="1"/>
          </p:cNvPicPr>
          <p:nvPr/>
        </p:nvPicPr>
        <p:blipFill>
          <a:blip r:embed="rId2"/>
          <a:stretch>
            <a:fillRect/>
          </a:stretch>
        </p:blipFill>
        <p:spPr>
          <a:xfrm>
            <a:off x="6914374" y="5143049"/>
            <a:ext cx="304782" cy="304782"/>
          </a:xfrm>
          <a:prstGeom prst="rect">
            <a:avLst/>
          </a:prstGeom>
        </p:spPr>
      </p:pic>
      <p:sp>
        <p:nvSpPr>
          <p:cNvPr id="17" name="Text 13"/>
          <p:cNvSpPr/>
          <p:nvPr/>
        </p:nvSpPr>
        <p:spPr>
          <a:xfrm>
            <a:off x="7409656" y="5208894"/>
            <a:ext cx="1420434"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02 · REQUESTED</a:t>
            </a:r>
            <a:endParaRPr lang="en-US" sz="1050" dirty="0"/>
          </a:p>
        </p:txBody>
      </p:sp>
      <p:sp>
        <p:nvSpPr>
          <p:cNvPr id="18" name="Text 14"/>
          <p:cNvSpPr/>
          <p:nvPr/>
        </p:nvSpPr>
        <p:spPr>
          <a:xfrm>
            <a:off x="6838246" y="5714549"/>
            <a:ext cx="4749759"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FFFFFF"/>
                </a:solidFill>
                <a:latin typeface="Arial" pitchFamily="34" charset="0"/>
                <a:ea typeface="Arial" pitchFamily="34" charset="-122"/>
                <a:cs typeface="Arial" pitchFamily="34" charset="-120"/>
              </a:rPr>
              <a:t>One-tap approval</a:t>
            </a:r>
            <a:endParaRPr lang="en-US" sz="2700" dirty="0"/>
          </a:p>
        </p:txBody>
      </p:sp>
      <p:sp>
        <p:nvSpPr>
          <p:cNvPr id="19" name="Text 15"/>
          <p:cNvSpPr/>
          <p:nvPr/>
        </p:nvSpPr>
        <p:spPr>
          <a:xfrm>
            <a:off x="6838246" y="6199187"/>
            <a:ext cx="4749759" cy="495408"/>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C8C8"/>
                </a:solidFill>
                <a:latin typeface="Arial" pitchFamily="34" charset="0"/>
                <a:ea typeface="Arial" pitchFamily="34" charset="-122"/>
                <a:cs typeface="Arial" pitchFamily="34" charset="-120"/>
              </a:rPr>
              <a:t>Guardian grants access to one tutor — or all shortlisted at once. Scoped to that single job.</a:t>
            </a:r>
            <a:endParaRPr lang="en-US" sz="1200" dirty="0"/>
          </a:p>
        </p:txBody>
      </p:sp>
      <p:sp>
        <p:nvSpPr>
          <p:cNvPr id="20" name="Shape 16"/>
          <p:cNvSpPr/>
          <p:nvPr/>
        </p:nvSpPr>
        <p:spPr>
          <a:xfrm>
            <a:off x="12064909" y="4718302"/>
            <a:ext cx="5308654" cy="2886905"/>
          </a:xfrm>
          <a:prstGeom prst="roundRect">
            <a:avLst>
              <a:gd name="adj" fmla="val 9238"/>
            </a:avLst>
          </a:prstGeom>
          <a:solidFill>
            <a:srgbClr val="FFC83D"/>
          </a:solidFill>
          <a:ln/>
          <a:effectLst>
            <a:outerShdw sx="100000" sy="100000" kx="0" ky="0" algn="bl" rotWithShape="0" blurRad="342900" dist="133350" dir="5400000">
              <a:srgbClr val="000000">
                <a:alpha val="35000"/>
              </a:srgbClr>
            </a:outerShdw>
          </a:effectLst>
        </p:spPr>
      </p:sp>
      <p:sp>
        <p:nvSpPr>
          <p:cNvPr id="21" name="Shape 17"/>
          <p:cNvSpPr/>
          <p:nvPr/>
        </p:nvSpPr>
        <p:spPr>
          <a:xfrm>
            <a:off x="12413527" y="5066921"/>
            <a:ext cx="457128" cy="457128"/>
          </a:xfrm>
          <a:prstGeom prst="roundRect">
            <a:avLst>
              <a:gd name="adj" fmla="val 29171"/>
            </a:avLst>
          </a:prstGeom>
          <a:solidFill>
            <a:srgbClr val="0F0F0F">
              <a:alpha val="10000"/>
            </a:srgbClr>
          </a:solidFill>
          <a:ln/>
        </p:spPr>
      </p:sp>
      <p:pic>
        <p:nvPicPr>
          <p:cNvPr id="22" name="Image 2" descr="preencoded.png">    </p:cNvPr>
          <p:cNvPicPr>
            <a:picLocks noChangeAspect="1"/>
          </p:cNvPicPr>
          <p:nvPr/>
        </p:nvPicPr>
        <p:blipFill>
          <a:blip r:embed="rId3"/>
          <a:stretch>
            <a:fillRect/>
          </a:stretch>
        </p:blipFill>
        <p:spPr>
          <a:xfrm>
            <a:off x="12489655" y="5143049"/>
            <a:ext cx="304782" cy="304782"/>
          </a:xfrm>
          <a:prstGeom prst="rect">
            <a:avLst/>
          </a:prstGeom>
        </p:spPr>
      </p:pic>
      <p:sp>
        <p:nvSpPr>
          <p:cNvPr id="23" name="Text 18"/>
          <p:cNvSpPr/>
          <p:nvPr/>
        </p:nvSpPr>
        <p:spPr>
          <a:xfrm>
            <a:off x="12984938" y="5208894"/>
            <a:ext cx="1324372"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0F0F0F">
                    <a:alpha val="60000"/>
                  </a:srgbClr>
                </a:solidFill>
                <a:latin typeface="DM Mono" pitchFamily="34" charset="0"/>
                <a:ea typeface="DM Mono" pitchFamily="34" charset="-122"/>
                <a:cs typeface="DM Mono" pitchFamily="34" charset="-120"/>
              </a:rPr>
              <a:t>03 · UNLOCKED</a:t>
            </a:r>
            <a:endParaRPr lang="en-US" sz="1050" dirty="0"/>
          </a:p>
        </p:txBody>
      </p:sp>
      <p:sp>
        <p:nvSpPr>
          <p:cNvPr id="24" name="Text 19"/>
          <p:cNvSpPr/>
          <p:nvPr/>
        </p:nvSpPr>
        <p:spPr>
          <a:xfrm>
            <a:off x="12413527" y="5714549"/>
            <a:ext cx="4749759"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0F0F0F"/>
                </a:solidFill>
                <a:latin typeface="Arial" pitchFamily="34" charset="0"/>
                <a:ea typeface="Arial" pitchFamily="34" charset="-122"/>
                <a:cs typeface="Arial" pitchFamily="34" charset="-120"/>
              </a:rPr>
              <a:t>Exact pin + Google Maps</a:t>
            </a:r>
            <a:endParaRPr lang="en-US" sz="2700" dirty="0"/>
          </a:p>
        </p:txBody>
      </p:sp>
      <p:sp>
        <p:nvSpPr>
          <p:cNvPr id="25" name="Text 20"/>
          <p:cNvSpPr/>
          <p:nvPr/>
        </p:nvSpPr>
        <p:spPr>
          <a:xfrm>
            <a:off x="12413527" y="6199187"/>
            <a:ext cx="4749759" cy="495408"/>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0F0F">
                    <a:alpha val="78000"/>
                  </a:srgbClr>
                </a:solidFill>
                <a:latin typeface="Arial" pitchFamily="34" charset="0"/>
                <a:ea typeface="Arial" pitchFamily="34" charset="-122"/>
                <a:cs typeface="Arial" pitchFamily="34" charset="-120"/>
              </a:rPr>
              <a:t>Turn-by-turn navigation in-app. Auto-revoked if not hired. Logged for safety.</a:t>
            </a:r>
            <a:endParaRPr lang="en-US" sz="1200" dirty="0"/>
          </a:p>
        </p:txBody>
      </p:sp>
      <p:sp>
        <p:nvSpPr>
          <p:cNvPr id="26" name="Shape 21"/>
          <p:cNvSpPr/>
          <p:nvPr/>
        </p:nvSpPr>
        <p:spPr>
          <a:xfrm>
            <a:off x="914346" y="7948053"/>
            <a:ext cx="16459307" cy="838128"/>
          </a:xfrm>
          <a:prstGeom prst="roundRect">
            <a:avLst>
              <a:gd name="adj" fmla="val 31821"/>
            </a:avLst>
          </a:prstGeom>
          <a:solidFill>
            <a:srgbClr val="F5F5F5"/>
          </a:solidFill>
          <a:ln w="5773">
            <a:solidFill>
              <a:srgbClr val="000000">
                <a:alpha val="5000"/>
              </a:srgbClr>
            </a:solidFill>
            <a:prstDash val="solid"/>
          </a:ln>
          <a:effectLst>
            <a:outerShdw sx="100000" sy="100000" kx="0" ky="0" algn="bl" rotWithShape="0" blurRad="342900" dist="133350" dir="5400000">
              <a:srgbClr val="000000">
                <a:alpha val="35000"/>
              </a:srgbClr>
            </a:outerShdw>
          </a:effectLst>
        </p:spPr>
      </p:sp>
      <p:sp>
        <p:nvSpPr>
          <p:cNvPr id="27" name="Text 22"/>
          <p:cNvSpPr/>
          <p:nvPr/>
        </p:nvSpPr>
        <p:spPr>
          <a:xfrm>
            <a:off x="1186746" y="8280526"/>
            <a:ext cx="1420434"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0F0F0F">
                    <a:alpha val="55000"/>
                  </a:srgbClr>
                </a:solidFill>
                <a:latin typeface="DM Mono" pitchFamily="34" charset="0"/>
                <a:ea typeface="DM Mono" pitchFamily="34" charset="-122"/>
                <a:cs typeface="DM Mono" pitchFamily="34" charset="-120"/>
              </a:rPr>
              <a:t>WHY IT MATTERS</a:t>
            </a:r>
            <a:endParaRPr lang="en-US" sz="1050" dirty="0"/>
          </a:p>
        </p:txBody>
      </p:sp>
      <p:sp>
        <p:nvSpPr>
          <p:cNvPr id="28" name="Text 23"/>
          <p:cNvSpPr/>
          <p:nvPr/>
        </p:nvSpPr>
        <p:spPr>
          <a:xfrm>
            <a:off x="2797608" y="8220453"/>
            <a:ext cx="14732754" cy="331427"/>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0F0F0F"/>
                </a:solidFill>
                <a:latin typeface="Arial" pitchFamily="34" charset="0"/>
                <a:ea typeface="Arial" pitchFamily="34" charset="-122"/>
                <a:cs typeface="Arial" pitchFamily="34" charset="-120"/>
              </a:rPr>
              <a:t>Three features in one — </a:t>
            </a:r>
            <a:pPr algn="l" indent="0" marL="0">
              <a:lnSpc>
                <a:spcPct val="140000"/>
              </a:lnSpc>
              <a:buNone/>
            </a:pPr>
            <a:r>
              <a:rPr lang="en-US" sz="1650" b="1" dirty="0">
                <a:solidFill>
                  <a:srgbClr val="B8861F"/>
                </a:solidFill>
                <a:latin typeface="Arial" pitchFamily="34" charset="0"/>
                <a:ea typeface="Arial" pitchFamily="34" charset="-122"/>
                <a:cs typeface="Arial" pitchFamily="34" charset="-120"/>
              </a:rPr>
              <a:t>safety</a:t>
            </a:r>
            <a:pPr algn="l" indent="0" marL="0">
              <a:lnSpc>
                <a:spcPct val="140000"/>
              </a:lnSpc>
              <a:buNone/>
            </a:pPr>
            <a:r>
              <a:rPr lang="en-US" sz="1650" dirty="0">
                <a:solidFill>
                  <a:srgbClr val="0F0F0F"/>
                </a:solidFill>
                <a:latin typeface="Arial" pitchFamily="34" charset="0"/>
                <a:ea typeface="Arial" pitchFamily="34" charset="-122"/>
                <a:cs typeface="Arial" pitchFamily="34" charset="-120"/>
              </a:rPr>
              <a:t>, </a:t>
            </a:r>
            <a:pPr algn="l" indent="0" marL="0">
              <a:lnSpc>
                <a:spcPct val="140000"/>
              </a:lnSpc>
              <a:buNone/>
            </a:pPr>
            <a:r>
              <a:rPr lang="en-US" sz="1650" b="1" dirty="0">
                <a:solidFill>
                  <a:srgbClr val="B8861F"/>
                </a:solidFill>
                <a:latin typeface="Arial" pitchFamily="34" charset="0"/>
                <a:ea typeface="Arial" pitchFamily="34" charset="-122"/>
                <a:cs typeface="Arial" pitchFamily="34" charset="-120"/>
              </a:rPr>
              <a:t>anti-leakage </a:t>
            </a:r>
            <a:pPr algn="l" indent="0" marL="0">
              <a:lnSpc>
                <a:spcPct val="140000"/>
              </a:lnSpc>
              <a:buNone/>
            </a:pPr>
            <a:r>
              <a:rPr lang="en-US" sz="1650" dirty="0">
                <a:solidFill>
                  <a:srgbClr val="0F0F0F"/>
                </a:solidFill>
                <a:latin typeface="Arial" pitchFamily="34" charset="0"/>
                <a:ea typeface="Arial" pitchFamily="34" charset="-122"/>
                <a:cs typeface="Arial" pitchFamily="34" charset="-120"/>
              </a:rPr>
              <a:t>(navigation lives in-app), and a </a:t>
            </a:r>
            <a:pPr algn="l" indent="0" marL="0">
              <a:lnSpc>
                <a:spcPct val="140000"/>
              </a:lnSpc>
              <a:buNone/>
            </a:pPr>
            <a:r>
              <a:rPr lang="en-US" sz="1650" b="1" dirty="0">
                <a:solidFill>
                  <a:srgbClr val="B8861F"/>
                </a:solidFill>
                <a:latin typeface="Arial" pitchFamily="34" charset="0"/>
                <a:ea typeface="Arial" pitchFamily="34" charset="-122"/>
                <a:cs typeface="Arial" pitchFamily="34" charset="-120"/>
              </a:rPr>
              <a:t>trust signal </a:t>
            </a:r>
            <a:pPr algn="l" indent="0" marL="0">
              <a:lnSpc>
                <a:spcPct val="140000"/>
              </a:lnSpc>
              <a:buNone/>
            </a:pPr>
            <a:r>
              <a:rPr lang="en-US" sz="1650" dirty="0">
                <a:solidFill>
                  <a:srgbClr val="0F0F0F"/>
                </a:solidFill>
                <a:latin typeface="Arial" pitchFamily="34" charset="0"/>
                <a:ea typeface="Arial" pitchFamily="34" charset="-122"/>
                <a:cs typeface="Arial" pitchFamily="34" charset="-120"/>
              </a:rPr>
              <a:t>for anxious guardians.</a:t>
            </a:r>
            <a:endParaRPr lang="en-US" sz="1650" dirty="0"/>
          </a:p>
        </p:txBody>
      </p:sp>
      <p:sp>
        <p:nvSpPr>
          <p:cNvPr id="29" name="Shape 24"/>
          <p:cNvSpPr/>
          <p:nvPr/>
        </p:nvSpPr>
        <p:spPr>
          <a:xfrm>
            <a:off x="914346" y="9129026"/>
            <a:ext cx="16459307" cy="9525"/>
          </a:xfrm>
          <a:prstGeom prst="rect">
            <a:avLst/>
          </a:prstGeom>
          <a:solidFill>
            <a:srgbClr val="FFFFFF">
              <a:alpha val="8000"/>
            </a:srgbClr>
          </a:solidFill>
          <a:ln/>
        </p:spPr>
      </p:sp>
      <p:sp>
        <p:nvSpPr>
          <p:cNvPr id="30" name="Text 25"/>
          <p:cNvSpPr/>
          <p:nvPr/>
        </p:nvSpPr>
        <p:spPr>
          <a:xfrm>
            <a:off x="914346" y="9363363"/>
            <a:ext cx="1725576"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LOCATION · PRIVACY</a:t>
            </a:r>
            <a:endParaRPr lang="en-US" sz="975" dirty="0"/>
          </a:p>
        </p:txBody>
      </p:sp>
      <p:sp>
        <p:nvSpPr>
          <p:cNvPr id="31" name="Text 26"/>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08 / 14</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6021481" y="773545"/>
            <a:ext cx="1428371"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09 · THE MOAT</a:t>
            </a:r>
            <a:endParaRPr lang="en-US" sz="1050" dirty="0"/>
          </a:p>
        </p:txBody>
      </p:sp>
      <p:sp>
        <p:nvSpPr>
          <p:cNvPr id="6" name="Text 4"/>
          <p:cNvSpPr/>
          <p:nvPr/>
        </p:nvSpPr>
        <p:spPr>
          <a:xfrm>
            <a:off x="914346" y="1725955"/>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ANTI-DISINTERMEDIATION</a:t>
            </a:r>
            <a:endParaRPr lang="en-US" sz="1050" dirty="0"/>
          </a:p>
        </p:txBody>
      </p:sp>
      <p:sp>
        <p:nvSpPr>
          <p:cNvPr id="7" name="Text 5"/>
          <p:cNvSpPr/>
          <p:nvPr/>
        </p:nvSpPr>
        <p:spPr>
          <a:xfrm>
            <a:off x="914346" y="2241983"/>
            <a:ext cx="16678274" cy="1866792"/>
          </a:xfrm>
          <a:prstGeom prst="rect">
            <a:avLst/>
          </a:prstGeom>
          <a:noFill/>
          <a:ln/>
        </p:spPr>
        <p:txBody>
          <a:bodyPr wrap="square" lIns="25400" tIns="25400" rIns="25400" bIns="25400" rtlCol="0" anchor="t">
            <a:normAutofit/>
          </a:bodyPr>
          <a:lstStyle/>
          <a:p>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We don't lock you in. We make </a:t>
            </a:r>
            <a:pPr algn="l" indent="0" marL="0">
              <a:lnSpc>
                <a:spcPct val="96000"/>
              </a:lnSpc>
              <a:buNone/>
            </a:pPr>
            <a:r>
              <a:rPr lang="en-US" sz="7500" b="1" spc="-262" kern="0" dirty="0">
                <a:solidFill>
                  <a:srgbClr val="FFC83D"/>
                </a:solidFill>
                <a:latin typeface="DM Sans" pitchFamily="34" charset="0"/>
                <a:ea typeface="DM Sans" pitchFamily="34" charset="-122"/>
                <a:cs typeface="DM Sans" pitchFamily="34" charset="-120"/>
              </a:rPr>
              <a:t>staying better </a:t>
            </a:r>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than leaving.</a:t>
            </a:r>
            <a:endParaRPr lang="en-US" sz="7500" dirty="0"/>
          </a:p>
        </p:txBody>
      </p:sp>
      <p:sp>
        <p:nvSpPr>
          <p:cNvPr id="8" name="Shape 6"/>
          <p:cNvSpPr/>
          <p:nvPr/>
        </p:nvSpPr>
        <p:spPr>
          <a:xfrm>
            <a:off x="914346" y="4642084"/>
            <a:ext cx="5308654" cy="1938734"/>
          </a:xfrm>
          <a:prstGeom prst="roundRect">
            <a:avLst>
              <a:gd name="adj" fmla="val 13756"/>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9" name="Text 7"/>
          <p:cNvSpPr/>
          <p:nvPr/>
        </p:nvSpPr>
        <p:spPr>
          <a:xfrm>
            <a:off x="1262964" y="4990703"/>
            <a:ext cx="4749759" cy="28055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Arial" pitchFamily="34" charset="0"/>
                <a:ea typeface="Arial" pitchFamily="34" charset="-122"/>
                <a:cs typeface="Arial" pitchFamily="34" charset="-120"/>
              </a:rPr>
              <a:t>Recurring auto-collection</a:t>
            </a:r>
            <a:endParaRPr lang="en-US" sz="1650" dirty="0"/>
          </a:p>
        </p:txBody>
      </p:sp>
      <p:sp>
        <p:nvSpPr>
          <p:cNvPr id="10" name="Text 8"/>
          <p:cNvSpPr/>
          <p:nvPr/>
        </p:nvSpPr>
        <p:spPr>
          <a:xfrm>
            <a:off x="1262964" y="5347439"/>
            <a:ext cx="4749759" cy="495408"/>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C8C8"/>
                </a:solidFill>
                <a:latin typeface="Arial" pitchFamily="34" charset="0"/>
                <a:ea typeface="Arial" pitchFamily="34" charset="-122"/>
                <a:cs typeface="Arial" pitchFamily="34" charset="-120"/>
              </a:rPr>
              <a:t>Removes the awkward monthly "please pay me" ask. Tutors get paid on time, every time.</a:t>
            </a:r>
            <a:endParaRPr lang="en-US" sz="1200" dirty="0"/>
          </a:p>
        </p:txBody>
      </p:sp>
      <p:sp>
        <p:nvSpPr>
          <p:cNvPr id="11" name="Shape 9"/>
          <p:cNvSpPr/>
          <p:nvPr/>
        </p:nvSpPr>
        <p:spPr>
          <a:xfrm>
            <a:off x="6489627" y="4642084"/>
            <a:ext cx="5308654" cy="1938734"/>
          </a:xfrm>
          <a:prstGeom prst="roundRect">
            <a:avLst>
              <a:gd name="adj" fmla="val 13756"/>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2" name="Text 10"/>
          <p:cNvSpPr/>
          <p:nvPr/>
        </p:nvSpPr>
        <p:spPr>
          <a:xfrm>
            <a:off x="6838246" y="4990703"/>
            <a:ext cx="4749759" cy="28055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Arial" pitchFamily="34" charset="0"/>
                <a:ea typeface="Arial" pitchFamily="34" charset="-122"/>
                <a:cs typeface="Arial" pitchFamily="34" charset="-120"/>
              </a:rPr>
              <a:t>Payment protection</a:t>
            </a:r>
            <a:endParaRPr lang="en-US" sz="1650" dirty="0"/>
          </a:p>
        </p:txBody>
      </p:sp>
      <p:sp>
        <p:nvSpPr>
          <p:cNvPr id="13" name="Text 11"/>
          <p:cNvSpPr/>
          <p:nvPr/>
        </p:nvSpPr>
        <p:spPr>
          <a:xfrm>
            <a:off x="6838246" y="5347439"/>
            <a:ext cx="4749759" cy="495408"/>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C8C8"/>
                </a:solidFill>
                <a:latin typeface="Arial" pitchFamily="34" charset="0"/>
                <a:ea typeface="Arial" pitchFamily="34" charset="-122"/>
                <a:cs typeface="Arial" pitchFamily="34" charset="-120"/>
              </a:rPr>
              <a:t>Attendance-linked guarantee — only available on-platform. Cash deal? You're on your own.</a:t>
            </a:r>
            <a:endParaRPr lang="en-US" sz="1200" dirty="0"/>
          </a:p>
        </p:txBody>
      </p:sp>
      <p:sp>
        <p:nvSpPr>
          <p:cNvPr id="14" name="Shape 12"/>
          <p:cNvSpPr/>
          <p:nvPr/>
        </p:nvSpPr>
        <p:spPr>
          <a:xfrm>
            <a:off x="12064909" y="4642084"/>
            <a:ext cx="5308654" cy="1938734"/>
          </a:xfrm>
          <a:prstGeom prst="roundRect">
            <a:avLst>
              <a:gd name="adj" fmla="val 13756"/>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5" name="Text 13"/>
          <p:cNvSpPr/>
          <p:nvPr/>
        </p:nvSpPr>
        <p:spPr>
          <a:xfrm>
            <a:off x="12413527" y="4990703"/>
            <a:ext cx="4749759" cy="28055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Arial" pitchFamily="34" charset="0"/>
                <a:ea typeface="Arial" pitchFamily="34" charset="-122"/>
                <a:cs typeface="Arial" pitchFamily="34" charset="-120"/>
              </a:rPr>
              <a:t>Verified reputation</a:t>
            </a:r>
            <a:endParaRPr lang="en-US" sz="1650" dirty="0"/>
          </a:p>
        </p:txBody>
      </p:sp>
      <p:sp>
        <p:nvSpPr>
          <p:cNvPr id="16" name="Text 14"/>
          <p:cNvSpPr/>
          <p:nvPr/>
        </p:nvSpPr>
        <p:spPr>
          <a:xfrm>
            <a:off x="12413527" y="5347439"/>
            <a:ext cx="4749759" cy="495408"/>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C8C8"/>
                </a:solidFill>
                <a:latin typeface="Arial" pitchFamily="34" charset="0"/>
                <a:ea typeface="Arial" pitchFamily="34" charset="-122"/>
                <a:cs typeface="Arial" pitchFamily="34" charset="-120"/>
              </a:rPr>
              <a:t>Accrues from confirmed, paid tuitions. The asset they'd forfeit by going informal.</a:t>
            </a:r>
            <a:endParaRPr lang="en-US" sz="1200" dirty="0"/>
          </a:p>
        </p:txBody>
      </p:sp>
      <p:sp>
        <p:nvSpPr>
          <p:cNvPr id="17" name="Shape 15"/>
          <p:cNvSpPr/>
          <p:nvPr/>
        </p:nvSpPr>
        <p:spPr>
          <a:xfrm>
            <a:off x="914346" y="6847446"/>
            <a:ext cx="5308654" cy="1938734"/>
          </a:xfrm>
          <a:prstGeom prst="roundRect">
            <a:avLst>
              <a:gd name="adj" fmla="val 13756"/>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8" name="Text 16"/>
          <p:cNvSpPr/>
          <p:nvPr/>
        </p:nvSpPr>
        <p:spPr>
          <a:xfrm>
            <a:off x="1262964" y="7196065"/>
            <a:ext cx="4749759" cy="28055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Arial" pitchFamily="34" charset="0"/>
                <a:ea typeface="Arial" pitchFamily="34" charset="-122"/>
                <a:cs typeface="Arial" pitchFamily="34" charset="-120"/>
              </a:rPr>
              <a:t>Replacement guarantee</a:t>
            </a:r>
            <a:endParaRPr lang="en-US" sz="1650" dirty="0"/>
          </a:p>
        </p:txBody>
      </p:sp>
      <p:sp>
        <p:nvSpPr>
          <p:cNvPr id="19" name="Text 17"/>
          <p:cNvSpPr/>
          <p:nvPr/>
        </p:nvSpPr>
        <p:spPr>
          <a:xfrm>
            <a:off x="1262964" y="7552801"/>
            <a:ext cx="4749759" cy="495408"/>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C8C8"/>
                </a:solidFill>
                <a:latin typeface="Arial" pitchFamily="34" charset="0"/>
                <a:ea typeface="Arial" pitchFamily="34" charset="-122"/>
                <a:cs typeface="Arial" pitchFamily="34" charset="-120"/>
              </a:rPr>
              <a:t>Not happy with the trial? Free replacement. Removes the default to the informal market.</a:t>
            </a:r>
            <a:endParaRPr lang="en-US" sz="1200" dirty="0"/>
          </a:p>
        </p:txBody>
      </p:sp>
      <p:sp>
        <p:nvSpPr>
          <p:cNvPr id="20" name="Shape 18"/>
          <p:cNvSpPr/>
          <p:nvPr/>
        </p:nvSpPr>
        <p:spPr>
          <a:xfrm>
            <a:off x="6489627" y="6847446"/>
            <a:ext cx="5308654" cy="1938734"/>
          </a:xfrm>
          <a:prstGeom prst="roundRect">
            <a:avLst>
              <a:gd name="adj" fmla="val 13756"/>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21" name="Text 19"/>
          <p:cNvSpPr/>
          <p:nvPr/>
        </p:nvSpPr>
        <p:spPr>
          <a:xfrm>
            <a:off x="6838246" y="7196065"/>
            <a:ext cx="4749759" cy="28055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Arial" pitchFamily="34" charset="0"/>
                <a:ea typeface="Arial" pitchFamily="34" charset="-122"/>
                <a:cs typeface="Arial" pitchFamily="34" charset="-120"/>
              </a:rPr>
              <a:t>Masked comms</a:t>
            </a:r>
            <a:endParaRPr lang="en-US" sz="1650" dirty="0"/>
          </a:p>
        </p:txBody>
      </p:sp>
      <p:sp>
        <p:nvSpPr>
          <p:cNvPr id="22" name="Text 20"/>
          <p:cNvSpPr/>
          <p:nvPr/>
        </p:nvSpPr>
        <p:spPr>
          <a:xfrm>
            <a:off x="6838246" y="7552801"/>
            <a:ext cx="4749759" cy="495408"/>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C8C8"/>
                </a:solidFill>
                <a:latin typeface="Arial" pitchFamily="34" charset="0"/>
                <a:ea typeface="Arial" pitchFamily="34" charset="-122"/>
                <a:cs typeface="Arial" pitchFamily="34" charset="-120"/>
              </a:rPr>
              <a:t>No raw phone number exchange. Safety + anti-leakage in one mechanism.</a:t>
            </a:r>
            <a:endParaRPr lang="en-US" sz="1200" dirty="0"/>
          </a:p>
        </p:txBody>
      </p:sp>
      <p:sp>
        <p:nvSpPr>
          <p:cNvPr id="23" name="Shape 21"/>
          <p:cNvSpPr/>
          <p:nvPr/>
        </p:nvSpPr>
        <p:spPr>
          <a:xfrm>
            <a:off x="12064909" y="6847446"/>
            <a:ext cx="5308654" cy="1938734"/>
          </a:xfrm>
          <a:prstGeom prst="roundRect">
            <a:avLst>
              <a:gd name="adj" fmla="val 13756"/>
            </a:avLst>
          </a:prstGeom>
          <a:solidFill>
            <a:srgbClr val="FFC83D"/>
          </a:solidFill>
          <a:ln/>
          <a:effectLst>
            <a:outerShdw sx="100000" sy="100000" kx="0" ky="0" algn="bl" rotWithShape="0" blurRad="342900" dist="133350" dir="5400000">
              <a:srgbClr val="000000">
                <a:alpha val="35000"/>
              </a:srgbClr>
            </a:outerShdw>
          </a:effectLst>
        </p:spPr>
      </p:sp>
      <p:sp>
        <p:nvSpPr>
          <p:cNvPr id="24" name="Text 22"/>
          <p:cNvSpPr/>
          <p:nvPr/>
        </p:nvSpPr>
        <p:spPr>
          <a:xfrm>
            <a:off x="12413527" y="7196065"/>
            <a:ext cx="4749759" cy="28055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0F0F0F"/>
                </a:solidFill>
                <a:latin typeface="Arial" pitchFamily="34" charset="0"/>
                <a:ea typeface="Arial" pitchFamily="34" charset="-122"/>
                <a:cs typeface="Arial" pitchFamily="34" charset="-120"/>
              </a:rPr>
              <a:t>Verified income proof</a:t>
            </a:r>
            <a:endParaRPr lang="en-US" sz="1650" dirty="0"/>
          </a:p>
        </p:txBody>
      </p:sp>
      <p:sp>
        <p:nvSpPr>
          <p:cNvPr id="25" name="Text 23"/>
          <p:cNvSpPr/>
          <p:nvPr/>
        </p:nvSpPr>
        <p:spPr>
          <a:xfrm>
            <a:off x="12413527" y="7552801"/>
            <a:ext cx="4749759" cy="495408"/>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0F0F0F">
                    <a:alpha val="78000"/>
                  </a:srgbClr>
                </a:solidFill>
                <a:latin typeface="Arial" pitchFamily="34" charset="0"/>
                <a:ea typeface="Arial" pitchFamily="34" charset="-122"/>
                <a:cs typeface="Arial" pitchFamily="34" charset="-120"/>
              </a:rPr>
              <a:t>Formal receipts the informal market can't produce. Basis for future lending products.</a:t>
            </a:r>
            <a:endParaRPr lang="en-US" sz="1200" dirty="0"/>
          </a:p>
        </p:txBody>
      </p:sp>
      <p:sp>
        <p:nvSpPr>
          <p:cNvPr id="26" name="Shape 24"/>
          <p:cNvSpPr/>
          <p:nvPr/>
        </p:nvSpPr>
        <p:spPr>
          <a:xfrm>
            <a:off x="914346" y="9129026"/>
            <a:ext cx="16459307" cy="9525"/>
          </a:xfrm>
          <a:prstGeom prst="rect">
            <a:avLst/>
          </a:prstGeom>
          <a:solidFill>
            <a:srgbClr val="FFFFFF">
              <a:alpha val="8000"/>
            </a:srgbClr>
          </a:solidFill>
          <a:ln/>
        </p:spPr>
      </p:sp>
      <p:sp>
        <p:nvSpPr>
          <p:cNvPr id="27" name="Text 25"/>
          <p:cNvSpPr/>
          <p:nvPr/>
        </p:nvSpPr>
        <p:spPr>
          <a:xfrm>
            <a:off x="914346" y="9363363"/>
            <a:ext cx="2092145"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ANTI-DISINTERMEDIATION</a:t>
            </a:r>
            <a:endParaRPr lang="en-US" sz="975" dirty="0"/>
          </a:p>
        </p:txBody>
      </p:sp>
      <p:sp>
        <p:nvSpPr>
          <p:cNvPr id="28" name="Text 26"/>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09 / 14</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6125481" y="773545"/>
            <a:ext cx="1324372"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10 · ROADMAP</a:t>
            </a:r>
            <a:endParaRPr lang="en-US" sz="1050" dirty="0"/>
          </a:p>
        </p:txBody>
      </p:sp>
      <p:sp>
        <p:nvSpPr>
          <p:cNvPr id="6" name="Text 4"/>
          <p:cNvSpPr/>
          <p:nvPr/>
        </p:nvSpPr>
        <p:spPr>
          <a:xfrm>
            <a:off x="914346" y="1725955"/>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PHASING</a:t>
            </a:r>
            <a:endParaRPr lang="en-US" sz="1050" dirty="0"/>
          </a:p>
        </p:txBody>
      </p:sp>
      <p:sp>
        <p:nvSpPr>
          <p:cNvPr id="7" name="Text 5"/>
          <p:cNvSpPr/>
          <p:nvPr/>
        </p:nvSpPr>
        <p:spPr>
          <a:xfrm>
            <a:off x="914346" y="2241983"/>
            <a:ext cx="15697199" cy="952446"/>
          </a:xfrm>
          <a:prstGeom prst="rect">
            <a:avLst/>
          </a:prstGeom>
          <a:noFill/>
          <a:ln/>
        </p:spPr>
        <p:txBody>
          <a:bodyPr wrap="square" lIns="25400" tIns="25400" rIns="25400" bIns="25400" rtlCol="0" anchor="t">
            <a:normAutofit/>
          </a:bodyPr>
          <a:lstStyle/>
          <a:p>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Prove the loop. </a:t>
            </a:r>
            <a:pPr algn="l" indent="0" marL="0">
              <a:lnSpc>
                <a:spcPct val="96000"/>
              </a:lnSpc>
              <a:buNone/>
            </a:pPr>
            <a:r>
              <a:rPr lang="en-US" sz="7500" b="1" spc="-262" kern="0" dirty="0">
                <a:solidFill>
                  <a:srgbClr val="FFC83D"/>
                </a:solidFill>
                <a:latin typeface="DM Sans" pitchFamily="34" charset="0"/>
                <a:ea typeface="DM Sans" pitchFamily="34" charset="-122"/>
                <a:cs typeface="DM Sans" pitchFamily="34" charset="-120"/>
              </a:rPr>
              <a:t>Then layer the moat.</a:t>
            </a:r>
            <a:endParaRPr lang="en-US" sz="7500" dirty="0"/>
          </a:p>
        </p:txBody>
      </p:sp>
      <p:sp>
        <p:nvSpPr>
          <p:cNvPr id="8" name="Shape 6"/>
          <p:cNvSpPr/>
          <p:nvPr/>
        </p:nvSpPr>
        <p:spPr>
          <a:xfrm>
            <a:off x="914346" y="3842020"/>
            <a:ext cx="5308654" cy="4944160"/>
          </a:xfrm>
          <a:prstGeom prst="roundRect">
            <a:avLst>
              <a:gd name="adj" fmla="val 5394"/>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9" name="Text 7"/>
          <p:cNvSpPr/>
          <p:nvPr/>
        </p:nvSpPr>
        <p:spPr>
          <a:xfrm>
            <a:off x="1262964" y="4190639"/>
            <a:ext cx="844333"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V1 · MVP</a:t>
            </a:r>
            <a:endParaRPr lang="en-US" sz="1050" dirty="0"/>
          </a:p>
        </p:txBody>
      </p:sp>
      <p:sp>
        <p:nvSpPr>
          <p:cNvPr id="10" name="Text 8"/>
          <p:cNvSpPr/>
          <p:nvPr/>
        </p:nvSpPr>
        <p:spPr>
          <a:xfrm>
            <a:off x="5131413" y="4202184"/>
            <a:ext cx="819168" cy="199736"/>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FFC83D"/>
                </a:solidFill>
                <a:latin typeface="DM Mono" pitchFamily="34" charset="0"/>
                <a:ea typeface="DM Mono" pitchFamily="34" charset="-122"/>
                <a:cs typeface="DM Mono" pitchFamily="34" charset="-120"/>
              </a:rPr>
              <a:t>NOW → Q3</a:t>
            </a:r>
            <a:endParaRPr lang="en-US" sz="975" dirty="0"/>
          </a:p>
        </p:txBody>
      </p:sp>
      <p:sp>
        <p:nvSpPr>
          <p:cNvPr id="11" name="Text 9"/>
          <p:cNvSpPr/>
          <p:nvPr/>
        </p:nvSpPr>
        <p:spPr>
          <a:xfrm>
            <a:off x="1262964" y="4516166"/>
            <a:ext cx="4749759"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FFFFFF"/>
                </a:solidFill>
                <a:latin typeface="Arial" pitchFamily="34" charset="0"/>
                <a:ea typeface="Arial" pitchFamily="34" charset="-122"/>
                <a:cs typeface="Arial" pitchFamily="34" charset="-120"/>
              </a:rPr>
              <a:t>Prove the matching loop</a:t>
            </a:r>
            <a:endParaRPr lang="en-US" sz="2700" dirty="0"/>
          </a:p>
        </p:txBody>
      </p:sp>
      <p:sp>
        <p:nvSpPr>
          <p:cNvPr id="12" name="Text 10"/>
          <p:cNvSpPr/>
          <p:nvPr/>
        </p:nvSpPr>
        <p:spPr>
          <a:xfrm>
            <a:off x="1262964" y="5077023"/>
            <a:ext cx="4749759" cy="1638047"/>
          </a:xfrm>
          <a:prstGeom prst="rect">
            <a:avLst/>
          </a:prstGeom>
          <a:noFill/>
          <a:ln/>
        </p:spPr>
        <p:txBody>
          <a:bodyPr wrap="square" lIns="25400" tIns="25400" rIns="25400" bIns="25400" rtlCol="0" anchor="t">
            <a:normAutofit/>
          </a:bodyPr>
          <a:lstStyle/>
          <a:p>
            <a:pPr algn="l" indent="0" marL="0">
              <a:lnSpc>
                <a:spcPct val="160000"/>
              </a:lnSpc>
              <a:buNone/>
            </a:pPr>
            <a:r>
              <a:rPr lang="en-US" sz="1125" dirty="0">
                <a:solidFill>
                  <a:srgbClr val="C8C8C8"/>
                </a:solidFill>
                <a:latin typeface="Arial" pitchFamily="34" charset="0"/>
                <a:ea typeface="Arial" pitchFamily="34" charset="-122"/>
                <a:cs typeface="Arial" pitchFamily="34" charset="-120"/>
              </a:rPr>
              <a:t>Tutor: easy signup, live feed, 1-tap apply, tiers 0–2, basic reputation, masked chat. Guardian: post, applicants, shortlist, location grant, trial, digital agreement. Money: placement fee + trial/first month on-platform (habit seed).</a:t>
            </a:r>
            <a:endParaRPr lang="en-US" sz="1125" dirty="0"/>
          </a:p>
        </p:txBody>
      </p:sp>
      <p:sp>
        <p:nvSpPr>
          <p:cNvPr id="13" name="Shape 11"/>
          <p:cNvSpPr/>
          <p:nvPr/>
        </p:nvSpPr>
        <p:spPr>
          <a:xfrm>
            <a:off x="6489627" y="3842020"/>
            <a:ext cx="5308654" cy="4944160"/>
          </a:xfrm>
          <a:prstGeom prst="roundRect">
            <a:avLst>
              <a:gd name="adj" fmla="val 5394"/>
            </a:avLst>
          </a:prstGeom>
          <a:solidFill>
            <a:srgbClr val="FFC83D"/>
          </a:solidFill>
          <a:ln/>
          <a:effectLst>
            <a:outerShdw sx="100000" sy="100000" kx="0" ky="0" algn="bl" rotWithShape="0" blurRad="342900" dist="133350" dir="5400000">
              <a:srgbClr val="000000">
                <a:alpha val="35000"/>
              </a:srgbClr>
            </a:outerShdw>
          </a:effectLst>
        </p:spPr>
      </p:sp>
      <p:sp>
        <p:nvSpPr>
          <p:cNvPr id="14" name="Text 12"/>
          <p:cNvSpPr/>
          <p:nvPr/>
        </p:nvSpPr>
        <p:spPr>
          <a:xfrm>
            <a:off x="6838246" y="4190639"/>
            <a:ext cx="940395"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0F0F0F">
                    <a:alpha val="60000"/>
                  </a:srgbClr>
                </a:solidFill>
                <a:latin typeface="DM Mono" pitchFamily="34" charset="0"/>
                <a:ea typeface="DM Mono" pitchFamily="34" charset="-122"/>
                <a:cs typeface="DM Mono" pitchFamily="34" charset="-120"/>
              </a:rPr>
              <a:t>V2 · MOAT</a:t>
            </a:r>
            <a:endParaRPr lang="en-US" sz="1050" dirty="0"/>
          </a:p>
        </p:txBody>
      </p:sp>
      <p:sp>
        <p:nvSpPr>
          <p:cNvPr id="15" name="Text 13"/>
          <p:cNvSpPr/>
          <p:nvPr/>
        </p:nvSpPr>
        <p:spPr>
          <a:xfrm>
            <a:off x="10620013" y="4202184"/>
            <a:ext cx="905849" cy="199736"/>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0F0F0F"/>
                </a:solidFill>
                <a:latin typeface="DM Mono" pitchFamily="34" charset="0"/>
                <a:ea typeface="DM Mono" pitchFamily="34" charset="-122"/>
                <a:cs typeface="DM Mono" pitchFamily="34" charset="-120"/>
              </a:rPr>
              <a:t>Q4 → 2027</a:t>
            </a:r>
            <a:endParaRPr lang="en-US" sz="975" dirty="0"/>
          </a:p>
        </p:txBody>
      </p:sp>
      <p:sp>
        <p:nvSpPr>
          <p:cNvPr id="16" name="Text 14"/>
          <p:cNvSpPr/>
          <p:nvPr/>
        </p:nvSpPr>
        <p:spPr>
          <a:xfrm>
            <a:off x="6838246" y="4516166"/>
            <a:ext cx="4749759"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0F0F0F"/>
                </a:solidFill>
                <a:latin typeface="Arial" pitchFamily="34" charset="0"/>
                <a:ea typeface="Arial" pitchFamily="34" charset="-122"/>
                <a:cs typeface="Arial" pitchFamily="34" charset="-120"/>
              </a:rPr>
              <a:t>Build the moat</a:t>
            </a:r>
            <a:endParaRPr lang="en-US" sz="2700" dirty="0"/>
          </a:p>
        </p:txBody>
      </p:sp>
      <p:sp>
        <p:nvSpPr>
          <p:cNvPr id="17" name="Text 15"/>
          <p:cNvSpPr/>
          <p:nvPr/>
        </p:nvSpPr>
        <p:spPr>
          <a:xfrm>
            <a:off x="6838246" y="5077023"/>
            <a:ext cx="4749759" cy="723792"/>
          </a:xfrm>
          <a:prstGeom prst="rect">
            <a:avLst/>
          </a:prstGeom>
          <a:noFill/>
          <a:ln/>
        </p:spPr>
        <p:txBody>
          <a:bodyPr wrap="square" lIns="25400" tIns="25400" rIns="25400" bIns="25400" rtlCol="0" anchor="t">
            <a:normAutofit/>
          </a:bodyPr>
          <a:lstStyle/>
          <a:p>
            <a:pPr algn="l" indent="0" marL="0">
              <a:lnSpc>
                <a:spcPct val="160000"/>
              </a:lnSpc>
              <a:buNone/>
            </a:pPr>
            <a:r>
              <a:rPr lang="en-US" sz="1125" dirty="0">
                <a:solidFill>
                  <a:srgbClr val="0F0F0F">
                    <a:alpha val="78000"/>
                  </a:srgbClr>
                </a:solidFill>
                <a:latin typeface="Arial" pitchFamily="34" charset="0"/>
                <a:ea typeface="Arial" pitchFamily="34" charset="-122"/>
                <a:cs typeface="Arial" pitchFamily="34" charset="-120"/>
              </a:rPr>
              <a:t>Recurring auto-billing, wallet, escrow hold-and-release, payment protection, attendance → payment linkage, replacement guarantee, tutor tiers/levels, masked calling, progress reports, full demand heatmap.</a:t>
            </a:r>
            <a:endParaRPr lang="en-US" sz="1125" dirty="0"/>
          </a:p>
        </p:txBody>
      </p:sp>
      <p:sp>
        <p:nvSpPr>
          <p:cNvPr id="18" name="Shape 16"/>
          <p:cNvSpPr/>
          <p:nvPr/>
        </p:nvSpPr>
        <p:spPr>
          <a:xfrm>
            <a:off x="12064909" y="3842020"/>
            <a:ext cx="5308654" cy="4944160"/>
          </a:xfrm>
          <a:prstGeom prst="roundRect">
            <a:avLst>
              <a:gd name="adj" fmla="val 5394"/>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9" name="Text 17"/>
          <p:cNvSpPr/>
          <p:nvPr/>
        </p:nvSpPr>
        <p:spPr>
          <a:xfrm>
            <a:off x="12413527" y="4190639"/>
            <a:ext cx="1036367"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V3 · SCALE</a:t>
            </a:r>
            <a:endParaRPr lang="en-US" sz="1050" dirty="0"/>
          </a:p>
        </p:txBody>
      </p:sp>
      <p:sp>
        <p:nvSpPr>
          <p:cNvPr id="20" name="Text 18"/>
          <p:cNvSpPr/>
          <p:nvPr/>
        </p:nvSpPr>
        <p:spPr>
          <a:xfrm>
            <a:off x="16591538" y="4202184"/>
            <a:ext cx="509606" cy="199736"/>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888888"/>
                </a:solidFill>
                <a:latin typeface="DM Mono" pitchFamily="34" charset="0"/>
                <a:ea typeface="DM Mono" pitchFamily="34" charset="-122"/>
                <a:cs typeface="DM Mono" pitchFamily="34" charset="-120"/>
              </a:rPr>
              <a:t>2027+</a:t>
            </a:r>
            <a:endParaRPr lang="en-US" sz="975" dirty="0"/>
          </a:p>
        </p:txBody>
      </p:sp>
      <p:sp>
        <p:nvSpPr>
          <p:cNvPr id="21" name="Text 19"/>
          <p:cNvSpPr/>
          <p:nvPr/>
        </p:nvSpPr>
        <p:spPr>
          <a:xfrm>
            <a:off x="12413527" y="4516166"/>
            <a:ext cx="4749759"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FFFFFF"/>
                </a:solidFill>
                <a:latin typeface="Arial" pitchFamily="34" charset="0"/>
                <a:ea typeface="Arial" pitchFamily="34" charset="-122"/>
                <a:cs typeface="Arial" pitchFamily="34" charset="-120"/>
              </a:rPr>
              <a:t>Monetize deeper</a:t>
            </a:r>
            <a:endParaRPr lang="en-US" sz="2700" dirty="0"/>
          </a:p>
        </p:txBody>
      </p:sp>
      <p:sp>
        <p:nvSpPr>
          <p:cNvPr id="22" name="Text 20"/>
          <p:cNvSpPr/>
          <p:nvPr/>
        </p:nvSpPr>
        <p:spPr>
          <a:xfrm>
            <a:off x="12413527" y="5077023"/>
            <a:ext cx="4749759" cy="1409483"/>
          </a:xfrm>
          <a:prstGeom prst="rect">
            <a:avLst/>
          </a:prstGeom>
          <a:noFill/>
          <a:ln/>
        </p:spPr>
        <p:txBody>
          <a:bodyPr wrap="square" lIns="25400" tIns="25400" rIns="25400" bIns="25400" rtlCol="0" anchor="t">
            <a:normAutofit/>
          </a:bodyPr>
          <a:lstStyle/>
          <a:p>
            <a:pPr algn="l" indent="0" marL="0">
              <a:lnSpc>
                <a:spcPct val="160000"/>
              </a:lnSpc>
              <a:buNone/>
            </a:pPr>
            <a:r>
              <a:rPr lang="en-US" sz="1125" dirty="0">
                <a:solidFill>
                  <a:srgbClr val="C8C8C8"/>
                </a:solidFill>
                <a:latin typeface="Arial" pitchFamily="34" charset="0"/>
                <a:ea typeface="Arial" pitchFamily="34" charset="-122"/>
                <a:cs typeface="Arial" pitchFamily="34" charset="-120"/>
              </a:rPr>
              <a:t>Fintech: tutor income-based lending, guardian installments, tutor insurance. Verticals: English-medium, admission cramming, special needs. Formats: group, online, diaspora. B2B with coaching centers.</a:t>
            </a:r>
            <a:endParaRPr lang="en-US" sz="1125" dirty="0"/>
          </a:p>
        </p:txBody>
      </p:sp>
      <p:sp>
        <p:nvSpPr>
          <p:cNvPr id="23" name="Shape 21"/>
          <p:cNvSpPr/>
          <p:nvPr/>
        </p:nvSpPr>
        <p:spPr>
          <a:xfrm>
            <a:off x="914346" y="9129026"/>
            <a:ext cx="16459307" cy="9525"/>
          </a:xfrm>
          <a:prstGeom prst="rect">
            <a:avLst/>
          </a:prstGeom>
          <a:solidFill>
            <a:srgbClr val="FFFFFF">
              <a:alpha val="8000"/>
            </a:srgbClr>
          </a:solidFill>
          <a:ln/>
        </p:spPr>
      </p:sp>
      <p:sp>
        <p:nvSpPr>
          <p:cNvPr id="24" name="Text 22"/>
          <p:cNvSpPr/>
          <p:nvPr/>
        </p:nvSpPr>
        <p:spPr>
          <a:xfrm>
            <a:off x="914346"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ROADMAP</a:t>
            </a:r>
            <a:endParaRPr lang="en-US" sz="975" dirty="0"/>
          </a:p>
        </p:txBody>
      </p:sp>
      <p:sp>
        <p:nvSpPr>
          <p:cNvPr id="25" name="Text 23"/>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10 / 14</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5501396" y="773545"/>
            <a:ext cx="1948458"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11 · REVENUE LINES</a:t>
            </a:r>
            <a:endParaRPr lang="en-US" sz="1050" dirty="0"/>
          </a:p>
        </p:txBody>
      </p:sp>
      <p:sp>
        <p:nvSpPr>
          <p:cNvPr id="6" name="Text 4"/>
          <p:cNvSpPr/>
          <p:nvPr/>
        </p:nvSpPr>
        <p:spPr>
          <a:xfrm>
            <a:off x="914346" y="1725955"/>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MONETIZATION, MAPPED TO PHASING</a:t>
            </a:r>
            <a:endParaRPr lang="en-US" sz="1050" dirty="0"/>
          </a:p>
        </p:txBody>
      </p:sp>
      <p:sp>
        <p:nvSpPr>
          <p:cNvPr id="7" name="Text 5"/>
          <p:cNvSpPr/>
          <p:nvPr/>
        </p:nvSpPr>
        <p:spPr>
          <a:xfrm>
            <a:off x="914346" y="2241983"/>
            <a:ext cx="15697199" cy="952446"/>
          </a:xfrm>
          <a:prstGeom prst="rect">
            <a:avLst/>
          </a:prstGeom>
          <a:noFill/>
          <a:ln/>
        </p:spPr>
        <p:txBody>
          <a:bodyPr wrap="square" lIns="25400" tIns="25400" rIns="25400" bIns="25400" rtlCol="0" anchor="t">
            <a:normAutofit/>
          </a:bodyPr>
          <a:lstStyle/>
          <a:p>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Six revenue lines. </a:t>
            </a:r>
            <a:pPr algn="l" indent="0" marL="0">
              <a:lnSpc>
                <a:spcPct val="96000"/>
              </a:lnSpc>
              <a:buNone/>
            </a:pPr>
            <a:r>
              <a:rPr lang="en-US" sz="7500" b="1" spc="-262" kern="0" dirty="0">
                <a:solidFill>
                  <a:srgbClr val="FFC83D"/>
                </a:solidFill>
                <a:latin typeface="DM Sans" pitchFamily="34" charset="0"/>
                <a:ea typeface="DM Sans" pitchFamily="34" charset="-122"/>
                <a:cs typeface="DM Sans" pitchFamily="34" charset="-120"/>
              </a:rPr>
              <a:t>Three phases.</a:t>
            </a:r>
            <a:endParaRPr lang="en-US" sz="7500" dirty="0"/>
          </a:p>
        </p:txBody>
      </p:sp>
      <p:sp>
        <p:nvSpPr>
          <p:cNvPr id="8" name="Shape 6"/>
          <p:cNvSpPr/>
          <p:nvPr/>
        </p:nvSpPr>
        <p:spPr>
          <a:xfrm>
            <a:off x="914346" y="3727738"/>
            <a:ext cx="16459307" cy="4445902"/>
          </a:xfrm>
          <a:prstGeom prst="roundRect">
            <a:avLst>
              <a:gd name="adj" fmla="val 5999"/>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9" name="Shape 7"/>
          <p:cNvSpPr/>
          <p:nvPr/>
        </p:nvSpPr>
        <p:spPr>
          <a:xfrm>
            <a:off x="920119" y="3733511"/>
            <a:ext cx="16447761" cy="572041"/>
          </a:xfrm>
          <a:prstGeom prst="rect">
            <a:avLst/>
          </a:prstGeom>
          <a:solidFill>
            <a:srgbClr val="FFFFFF">
              <a:alpha val="3000"/>
            </a:srgbClr>
          </a:solidFill>
          <a:ln/>
        </p:spPr>
      </p:sp>
      <p:sp>
        <p:nvSpPr>
          <p:cNvPr id="10" name="Text 8"/>
          <p:cNvSpPr/>
          <p:nvPr/>
        </p:nvSpPr>
        <p:spPr>
          <a:xfrm>
            <a:off x="1224919" y="3943061"/>
            <a:ext cx="1306296" cy="191041"/>
          </a:xfrm>
          <a:prstGeom prst="rect">
            <a:avLst/>
          </a:prstGeom>
          <a:noFill/>
          <a:ln/>
        </p:spPr>
        <p:txBody>
          <a:bodyPr wrap="square" lIns="25400" tIns="25400" rIns="25400" bIns="25400" rtlCol="0" anchor="ctr">
            <a:normAutofit/>
          </a:bodyPr>
          <a:lstStyle/>
          <a:p>
            <a:pPr algn="l" indent="0" marL="0">
              <a:buNone/>
            </a:pPr>
            <a:r>
              <a:rPr lang="en-US" sz="900" spc="126" kern="0" dirty="0">
                <a:solidFill>
                  <a:srgbClr val="888888"/>
                </a:solidFill>
                <a:latin typeface="DM Mono" pitchFamily="34" charset="0"/>
                <a:ea typeface="DM Mono" pitchFamily="34" charset="-122"/>
                <a:cs typeface="DM Mono" pitchFamily="34" charset="-120"/>
              </a:rPr>
              <a:t>STAGE</a:t>
            </a:r>
            <a:endParaRPr lang="en-US" sz="900" dirty="0"/>
          </a:p>
        </p:txBody>
      </p:sp>
      <p:sp>
        <p:nvSpPr>
          <p:cNvPr id="11" name="Text 9"/>
          <p:cNvSpPr/>
          <p:nvPr/>
        </p:nvSpPr>
        <p:spPr>
          <a:xfrm>
            <a:off x="2988414" y="3943061"/>
            <a:ext cx="7046908" cy="191041"/>
          </a:xfrm>
          <a:prstGeom prst="rect">
            <a:avLst/>
          </a:prstGeom>
          <a:noFill/>
          <a:ln/>
        </p:spPr>
        <p:txBody>
          <a:bodyPr wrap="square" lIns="25400" tIns="25400" rIns="25400" bIns="25400" rtlCol="0" anchor="ctr">
            <a:normAutofit/>
          </a:bodyPr>
          <a:lstStyle/>
          <a:p>
            <a:pPr algn="l" indent="0" marL="0">
              <a:buNone/>
            </a:pPr>
            <a:r>
              <a:rPr lang="en-US" sz="900" spc="126" kern="0" dirty="0">
                <a:solidFill>
                  <a:srgbClr val="888888"/>
                </a:solidFill>
                <a:latin typeface="DM Mono" pitchFamily="34" charset="0"/>
                <a:ea typeface="DM Mono" pitchFamily="34" charset="-122"/>
                <a:cs typeface="DM Mono" pitchFamily="34" charset="-120"/>
              </a:rPr>
              <a:t>REVENUE LINE</a:t>
            </a:r>
            <a:endParaRPr lang="en-US" sz="900" dirty="0"/>
          </a:p>
        </p:txBody>
      </p:sp>
      <p:sp>
        <p:nvSpPr>
          <p:cNvPr id="12" name="Text 10"/>
          <p:cNvSpPr/>
          <p:nvPr/>
        </p:nvSpPr>
        <p:spPr>
          <a:xfrm>
            <a:off x="10273957" y="3943061"/>
            <a:ext cx="7084999" cy="191041"/>
          </a:xfrm>
          <a:prstGeom prst="rect">
            <a:avLst/>
          </a:prstGeom>
          <a:noFill/>
          <a:ln/>
        </p:spPr>
        <p:txBody>
          <a:bodyPr wrap="square" lIns="25400" tIns="25400" rIns="25400" bIns="25400" rtlCol="0" anchor="ctr">
            <a:normAutofit/>
          </a:bodyPr>
          <a:lstStyle/>
          <a:p>
            <a:pPr algn="l" indent="0" marL="0">
              <a:buNone/>
            </a:pPr>
            <a:r>
              <a:rPr lang="en-US" sz="900" spc="126" kern="0" dirty="0">
                <a:solidFill>
                  <a:srgbClr val="888888"/>
                </a:solidFill>
                <a:latin typeface="DM Mono" pitchFamily="34" charset="0"/>
                <a:ea typeface="DM Mono" pitchFamily="34" charset="-122"/>
                <a:cs typeface="DM Mono" pitchFamily="34" charset="-120"/>
              </a:rPr>
              <a:t>ENABLED BY</a:t>
            </a:r>
            <a:endParaRPr lang="en-US" sz="900" dirty="0"/>
          </a:p>
        </p:txBody>
      </p:sp>
      <p:sp>
        <p:nvSpPr>
          <p:cNvPr id="13" name="Shape 11"/>
          <p:cNvSpPr/>
          <p:nvPr/>
        </p:nvSpPr>
        <p:spPr>
          <a:xfrm>
            <a:off x="920119" y="4305552"/>
            <a:ext cx="16447761" cy="9525"/>
          </a:xfrm>
          <a:prstGeom prst="rect">
            <a:avLst/>
          </a:prstGeom>
          <a:solidFill>
            <a:srgbClr val="FFFFFF">
              <a:alpha val="8000"/>
            </a:srgbClr>
          </a:solidFill>
          <a:ln/>
        </p:spPr>
      </p:sp>
      <p:sp>
        <p:nvSpPr>
          <p:cNvPr id="14" name="Text 12"/>
          <p:cNvSpPr/>
          <p:nvPr/>
        </p:nvSpPr>
        <p:spPr>
          <a:xfrm>
            <a:off x="1224919" y="4515102"/>
            <a:ext cx="1306296" cy="263200"/>
          </a:xfrm>
          <a:prstGeom prst="rect">
            <a:avLst/>
          </a:prstGeom>
          <a:noFill/>
          <a:ln/>
        </p:spPr>
        <p:txBody>
          <a:bodyPr wrap="square" lIns="25400" tIns="25400" rIns="25400" bIns="25400" rtlCol="0" anchor="ctr">
            <a:normAutofit/>
          </a:bodyPr>
          <a:lstStyle/>
          <a:p>
            <a:pPr algn="l" indent="0" marL="0">
              <a:buNone/>
            </a:pPr>
            <a:r>
              <a:rPr lang="en-US" sz="1050" spc="63" kern="0" dirty="0">
                <a:solidFill>
                  <a:srgbClr val="888888"/>
                </a:solidFill>
                <a:latin typeface="DM Mono" pitchFamily="34" charset="0"/>
                <a:ea typeface="DM Mono" pitchFamily="34" charset="-122"/>
                <a:cs typeface="DM Mono" pitchFamily="34" charset="-120"/>
              </a:rPr>
              <a:t>V1</a:t>
            </a:r>
            <a:endParaRPr lang="en-US" sz="1050" dirty="0"/>
          </a:p>
        </p:txBody>
      </p:sp>
      <p:sp>
        <p:nvSpPr>
          <p:cNvPr id="15" name="Text 13"/>
          <p:cNvSpPr/>
          <p:nvPr/>
        </p:nvSpPr>
        <p:spPr>
          <a:xfrm>
            <a:off x="2988414" y="4515102"/>
            <a:ext cx="7046908" cy="263200"/>
          </a:xfrm>
          <a:prstGeom prst="rect">
            <a:avLst/>
          </a:prstGeom>
          <a:noFill/>
          <a:ln/>
        </p:spPr>
        <p:txBody>
          <a:bodyPr wrap="square" lIns="25400" tIns="25400" rIns="25400" bIns="25400" rtlCol="0" anchor="ctr">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Tutor placement fee</a:t>
            </a:r>
            <a:endParaRPr lang="en-US" sz="1500" dirty="0"/>
          </a:p>
        </p:txBody>
      </p:sp>
      <p:sp>
        <p:nvSpPr>
          <p:cNvPr id="16" name="Text 14"/>
          <p:cNvSpPr/>
          <p:nvPr/>
        </p:nvSpPr>
        <p:spPr>
          <a:xfrm>
            <a:off x="10273957" y="4515102"/>
            <a:ext cx="7084999" cy="263200"/>
          </a:xfrm>
          <a:prstGeom prst="rect">
            <a:avLst/>
          </a:prstGeom>
          <a:noFill/>
          <a:ln/>
        </p:spPr>
        <p:txBody>
          <a:bodyPr wrap="square" lIns="25400" tIns="25400" rIns="25400" bIns="25400" rtlCol="0" anchor="ctr">
            <a:normAutofit/>
          </a:bodyPr>
          <a:lstStyle/>
          <a:p>
            <a:pPr algn="l" indent="0" marL="0">
              <a:buNone/>
            </a:pPr>
            <a:r>
              <a:rPr lang="en-US" sz="1500" dirty="0">
                <a:solidFill>
                  <a:srgbClr val="C8C8C8"/>
                </a:solidFill>
                <a:latin typeface="Arial" pitchFamily="34" charset="0"/>
                <a:ea typeface="Arial" pitchFamily="34" charset="-122"/>
                <a:cs typeface="Arial" pitchFamily="34" charset="-120"/>
              </a:rPr>
              <a:t>Matching + digital agreement</a:t>
            </a:r>
            <a:endParaRPr lang="en-US" sz="1500" dirty="0"/>
          </a:p>
        </p:txBody>
      </p:sp>
      <p:sp>
        <p:nvSpPr>
          <p:cNvPr id="17" name="Shape 15"/>
          <p:cNvSpPr/>
          <p:nvPr/>
        </p:nvSpPr>
        <p:spPr>
          <a:xfrm>
            <a:off x="920119" y="4949753"/>
            <a:ext cx="16447761" cy="9525"/>
          </a:xfrm>
          <a:prstGeom prst="rect">
            <a:avLst/>
          </a:prstGeom>
          <a:solidFill>
            <a:srgbClr val="FFFFFF">
              <a:alpha val="8000"/>
            </a:srgbClr>
          </a:solidFill>
          <a:ln/>
        </p:spPr>
      </p:sp>
      <p:sp>
        <p:nvSpPr>
          <p:cNvPr id="18" name="Text 16"/>
          <p:cNvSpPr/>
          <p:nvPr/>
        </p:nvSpPr>
        <p:spPr>
          <a:xfrm>
            <a:off x="1224919" y="5159303"/>
            <a:ext cx="1306296" cy="263200"/>
          </a:xfrm>
          <a:prstGeom prst="rect">
            <a:avLst/>
          </a:prstGeom>
          <a:noFill/>
          <a:ln/>
        </p:spPr>
        <p:txBody>
          <a:bodyPr wrap="square" lIns="25400" tIns="25400" rIns="25400" bIns="25400" rtlCol="0" anchor="ctr">
            <a:normAutofit/>
          </a:bodyPr>
          <a:lstStyle/>
          <a:p>
            <a:pPr algn="l" indent="0" marL="0">
              <a:buNone/>
            </a:pPr>
            <a:r>
              <a:rPr lang="en-US" sz="1050" spc="63" kern="0" dirty="0">
                <a:solidFill>
                  <a:srgbClr val="888888"/>
                </a:solidFill>
                <a:latin typeface="DM Mono" pitchFamily="34" charset="0"/>
                <a:ea typeface="DM Mono" pitchFamily="34" charset="-122"/>
                <a:cs typeface="DM Mono" pitchFamily="34" charset="-120"/>
              </a:rPr>
              <a:t>V1</a:t>
            </a:r>
            <a:endParaRPr lang="en-US" sz="1050" dirty="0"/>
          </a:p>
        </p:txBody>
      </p:sp>
      <p:sp>
        <p:nvSpPr>
          <p:cNvPr id="19" name="Text 17"/>
          <p:cNvSpPr/>
          <p:nvPr/>
        </p:nvSpPr>
        <p:spPr>
          <a:xfrm>
            <a:off x="2988414" y="5159303"/>
            <a:ext cx="7046908" cy="263200"/>
          </a:xfrm>
          <a:prstGeom prst="rect">
            <a:avLst/>
          </a:prstGeom>
          <a:noFill/>
          <a:ln/>
        </p:spPr>
        <p:txBody>
          <a:bodyPr wrap="square" lIns="25400" tIns="25400" rIns="25400" bIns="25400" rtlCol="0" anchor="ctr">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Trial / first-month txn margin</a:t>
            </a:r>
            <a:endParaRPr lang="en-US" sz="1500" dirty="0"/>
          </a:p>
        </p:txBody>
      </p:sp>
      <p:sp>
        <p:nvSpPr>
          <p:cNvPr id="20" name="Text 18"/>
          <p:cNvSpPr/>
          <p:nvPr/>
        </p:nvSpPr>
        <p:spPr>
          <a:xfrm>
            <a:off x="10273957" y="5159303"/>
            <a:ext cx="7084999" cy="263200"/>
          </a:xfrm>
          <a:prstGeom prst="rect">
            <a:avLst/>
          </a:prstGeom>
          <a:noFill/>
          <a:ln/>
        </p:spPr>
        <p:txBody>
          <a:bodyPr wrap="square" lIns="25400" tIns="25400" rIns="25400" bIns="25400" rtlCol="0" anchor="ctr">
            <a:normAutofit/>
          </a:bodyPr>
          <a:lstStyle/>
          <a:p>
            <a:pPr algn="l" indent="0" marL="0">
              <a:buNone/>
            </a:pPr>
            <a:r>
              <a:rPr lang="en-US" sz="1500" dirty="0">
                <a:solidFill>
                  <a:srgbClr val="C8C8C8"/>
                </a:solidFill>
                <a:latin typeface="Arial" pitchFamily="34" charset="0"/>
                <a:ea typeface="Arial" pitchFamily="34" charset="-122"/>
                <a:cs typeface="Arial" pitchFamily="34" charset="-120"/>
              </a:rPr>
              <a:t>Payment layer (lean)</a:t>
            </a:r>
            <a:endParaRPr lang="en-US" sz="1500" dirty="0"/>
          </a:p>
        </p:txBody>
      </p:sp>
      <p:sp>
        <p:nvSpPr>
          <p:cNvPr id="21" name="Shape 19"/>
          <p:cNvSpPr/>
          <p:nvPr/>
        </p:nvSpPr>
        <p:spPr>
          <a:xfrm>
            <a:off x="920119" y="5593953"/>
            <a:ext cx="16447761" cy="644200"/>
          </a:xfrm>
          <a:prstGeom prst="rect">
            <a:avLst/>
          </a:prstGeom>
          <a:solidFill>
            <a:srgbClr val="FFC83D">
              <a:alpha val="5000"/>
            </a:srgbClr>
          </a:solidFill>
          <a:ln/>
        </p:spPr>
      </p:sp>
      <p:sp>
        <p:nvSpPr>
          <p:cNvPr id="22" name="Shape 20"/>
          <p:cNvSpPr/>
          <p:nvPr/>
        </p:nvSpPr>
        <p:spPr>
          <a:xfrm>
            <a:off x="920119" y="5593953"/>
            <a:ext cx="16447761" cy="9525"/>
          </a:xfrm>
          <a:prstGeom prst="rect">
            <a:avLst/>
          </a:prstGeom>
          <a:solidFill>
            <a:srgbClr val="FFFFFF">
              <a:alpha val="8000"/>
            </a:srgbClr>
          </a:solidFill>
          <a:ln/>
        </p:spPr>
      </p:sp>
      <p:sp>
        <p:nvSpPr>
          <p:cNvPr id="23" name="Text 21"/>
          <p:cNvSpPr/>
          <p:nvPr/>
        </p:nvSpPr>
        <p:spPr>
          <a:xfrm>
            <a:off x="1224919" y="5803503"/>
            <a:ext cx="1306296" cy="263200"/>
          </a:xfrm>
          <a:prstGeom prst="rect">
            <a:avLst/>
          </a:prstGeom>
          <a:noFill/>
          <a:ln/>
        </p:spPr>
        <p:txBody>
          <a:bodyPr wrap="square" lIns="25400" tIns="25400" rIns="25400" bIns="25400" rtlCol="0" anchor="ctr">
            <a:normAutofit/>
          </a:bodyPr>
          <a:lstStyle/>
          <a:p>
            <a:pPr algn="l" indent="0" marL="0">
              <a:buNone/>
            </a:pPr>
            <a:r>
              <a:rPr lang="en-US" sz="1050" spc="63" kern="0" dirty="0">
                <a:solidFill>
                  <a:srgbClr val="FFC83D"/>
                </a:solidFill>
                <a:latin typeface="DM Mono" pitchFamily="34" charset="0"/>
                <a:ea typeface="DM Mono" pitchFamily="34" charset="-122"/>
                <a:cs typeface="DM Mono" pitchFamily="34" charset="-120"/>
              </a:rPr>
              <a:t>V2</a:t>
            </a:r>
            <a:endParaRPr lang="en-US" sz="1050" dirty="0"/>
          </a:p>
        </p:txBody>
      </p:sp>
      <p:sp>
        <p:nvSpPr>
          <p:cNvPr id="24" name="Text 22"/>
          <p:cNvSpPr/>
          <p:nvPr/>
        </p:nvSpPr>
        <p:spPr>
          <a:xfrm>
            <a:off x="2988414" y="5803503"/>
            <a:ext cx="7046908" cy="263200"/>
          </a:xfrm>
          <a:prstGeom prst="rect">
            <a:avLst/>
          </a:prstGeom>
          <a:noFill/>
          <a:ln/>
        </p:spPr>
        <p:txBody>
          <a:bodyPr wrap="square" lIns="25400" tIns="25400" rIns="25400" bIns="25400" rtlCol="0" anchor="ctr">
            <a:normAutofit/>
          </a:bodyPr>
          <a:lstStyle/>
          <a:p>
            <a:pPr algn="l" indent="0" marL="0">
              <a:buNone/>
            </a:pPr>
            <a:r>
              <a:rPr lang="en-US" sz="1500" b="1" dirty="0">
                <a:solidFill>
                  <a:srgbClr val="FFC83D"/>
                </a:solidFill>
                <a:latin typeface="Arial" pitchFamily="34" charset="0"/>
                <a:ea typeface="Arial" pitchFamily="34" charset="-122"/>
                <a:cs typeface="Arial" pitchFamily="34" charset="-120"/>
              </a:rPr>
              <a:t>Recurring % of tuition (GMV)</a:t>
            </a:r>
            <a:endParaRPr lang="en-US" sz="1500" dirty="0"/>
          </a:p>
        </p:txBody>
      </p:sp>
      <p:sp>
        <p:nvSpPr>
          <p:cNvPr id="25" name="Text 23"/>
          <p:cNvSpPr/>
          <p:nvPr/>
        </p:nvSpPr>
        <p:spPr>
          <a:xfrm>
            <a:off x="10273957" y="5803503"/>
            <a:ext cx="7084999" cy="263200"/>
          </a:xfrm>
          <a:prstGeom prst="rect">
            <a:avLst/>
          </a:prstGeom>
          <a:noFill/>
          <a:ln/>
        </p:spPr>
        <p:txBody>
          <a:bodyPr wrap="square" lIns="25400" tIns="25400" rIns="25400" bIns="25400" rtlCol="0" anchor="ctr">
            <a:normAutofit/>
          </a:bodyPr>
          <a:lstStyle/>
          <a:p>
            <a:pPr algn="l" indent="0" marL="0">
              <a:buNone/>
            </a:pPr>
            <a:r>
              <a:rPr lang="en-US" sz="1500" dirty="0">
                <a:solidFill>
                  <a:srgbClr val="C8C8C8"/>
                </a:solidFill>
                <a:latin typeface="Arial" pitchFamily="34" charset="0"/>
                <a:ea typeface="Arial" pitchFamily="34" charset="-122"/>
                <a:cs typeface="Arial" pitchFamily="34" charset="-120"/>
              </a:rPr>
              <a:t>On-platform recurring payments · </a:t>
            </a:r>
            <a:pPr algn="l" indent="0" marL="0">
              <a:buNone/>
            </a:pPr>
            <a:r>
              <a:rPr lang="en-US" sz="1500" b="1" dirty="0">
                <a:solidFill>
                  <a:srgbClr val="C8C8C8"/>
                </a:solidFill>
                <a:latin typeface="Arial" pitchFamily="34" charset="0"/>
                <a:ea typeface="Arial" pitchFamily="34" charset="-122"/>
                <a:cs typeface="Arial" pitchFamily="34" charset="-120"/>
              </a:rPr>
              <a:t>the moat</a:t>
            </a:r>
            <a:endParaRPr lang="en-US" sz="1500" dirty="0"/>
          </a:p>
        </p:txBody>
      </p:sp>
      <p:sp>
        <p:nvSpPr>
          <p:cNvPr id="26" name="Shape 24"/>
          <p:cNvSpPr/>
          <p:nvPr/>
        </p:nvSpPr>
        <p:spPr>
          <a:xfrm>
            <a:off x="920119" y="6238153"/>
            <a:ext cx="16447761" cy="9525"/>
          </a:xfrm>
          <a:prstGeom prst="rect">
            <a:avLst/>
          </a:prstGeom>
          <a:solidFill>
            <a:srgbClr val="FFFFFF">
              <a:alpha val="8000"/>
            </a:srgbClr>
          </a:solidFill>
          <a:ln/>
        </p:spPr>
      </p:sp>
      <p:sp>
        <p:nvSpPr>
          <p:cNvPr id="27" name="Text 25"/>
          <p:cNvSpPr/>
          <p:nvPr/>
        </p:nvSpPr>
        <p:spPr>
          <a:xfrm>
            <a:off x="1224919" y="6447703"/>
            <a:ext cx="1306296" cy="263200"/>
          </a:xfrm>
          <a:prstGeom prst="rect">
            <a:avLst/>
          </a:prstGeom>
          <a:noFill/>
          <a:ln/>
        </p:spPr>
        <p:txBody>
          <a:bodyPr wrap="square" lIns="25400" tIns="25400" rIns="25400" bIns="25400" rtlCol="0" anchor="ctr">
            <a:normAutofit/>
          </a:bodyPr>
          <a:lstStyle/>
          <a:p>
            <a:pPr algn="l" indent="0" marL="0">
              <a:buNone/>
            </a:pPr>
            <a:r>
              <a:rPr lang="en-US" sz="1050" spc="63" kern="0" dirty="0">
                <a:solidFill>
                  <a:srgbClr val="888888"/>
                </a:solidFill>
                <a:latin typeface="DM Mono" pitchFamily="34" charset="0"/>
                <a:ea typeface="DM Mono" pitchFamily="34" charset="-122"/>
                <a:cs typeface="DM Mono" pitchFamily="34" charset="-120"/>
              </a:rPr>
              <a:t>V2</a:t>
            </a:r>
            <a:endParaRPr lang="en-US" sz="1050" dirty="0"/>
          </a:p>
        </p:txBody>
      </p:sp>
      <p:sp>
        <p:nvSpPr>
          <p:cNvPr id="28" name="Text 26"/>
          <p:cNvSpPr/>
          <p:nvPr/>
        </p:nvSpPr>
        <p:spPr>
          <a:xfrm>
            <a:off x="2988414" y="6447703"/>
            <a:ext cx="7046908" cy="263200"/>
          </a:xfrm>
          <a:prstGeom prst="rect">
            <a:avLst/>
          </a:prstGeom>
          <a:noFill/>
          <a:ln/>
        </p:spPr>
        <p:txBody>
          <a:bodyPr wrap="square" lIns="25400" tIns="25400" rIns="25400" bIns="25400" rtlCol="0" anchor="ctr">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Payment-protection fee</a:t>
            </a:r>
            <a:endParaRPr lang="en-US" sz="1500" dirty="0"/>
          </a:p>
        </p:txBody>
      </p:sp>
      <p:sp>
        <p:nvSpPr>
          <p:cNvPr id="29" name="Text 27"/>
          <p:cNvSpPr/>
          <p:nvPr/>
        </p:nvSpPr>
        <p:spPr>
          <a:xfrm>
            <a:off x="10273957" y="6447703"/>
            <a:ext cx="7084999" cy="263200"/>
          </a:xfrm>
          <a:prstGeom prst="rect">
            <a:avLst/>
          </a:prstGeom>
          <a:noFill/>
          <a:ln/>
        </p:spPr>
        <p:txBody>
          <a:bodyPr wrap="square" lIns="25400" tIns="25400" rIns="25400" bIns="25400" rtlCol="0" anchor="ctr">
            <a:normAutofit/>
          </a:bodyPr>
          <a:lstStyle/>
          <a:p>
            <a:pPr algn="l" indent="0" marL="0">
              <a:buNone/>
            </a:pPr>
            <a:r>
              <a:rPr lang="en-US" sz="1500" dirty="0">
                <a:solidFill>
                  <a:srgbClr val="C8C8C8"/>
                </a:solidFill>
                <a:latin typeface="Arial" pitchFamily="34" charset="0"/>
                <a:ea typeface="Arial" pitchFamily="34" charset="-122"/>
                <a:cs typeface="Arial" pitchFamily="34" charset="-120"/>
              </a:rPr>
              <a:t>Escrow + attendance linkage</a:t>
            </a:r>
            <a:endParaRPr lang="en-US" sz="1500" dirty="0"/>
          </a:p>
        </p:txBody>
      </p:sp>
      <p:sp>
        <p:nvSpPr>
          <p:cNvPr id="30" name="Shape 28"/>
          <p:cNvSpPr/>
          <p:nvPr/>
        </p:nvSpPr>
        <p:spPr>
          <a:xfrm>
            <a:off x="920119" y="6882353"/>
            <a:ext cx="16447761" cy="9525"/>
          </a:xfrm>
          <a:prstGeom prst="rect">
            <a:avLst/>
          </a:prstGeom>
          <a:solidFill>
            <a:srgbClr val="FFFFFF">
              <a:alpha val="8000"/>
            </a:srgbClr>
          </a:solidFill>
          <a:ln/>
        </p:spPr>
      </p:sp>
      <p:sp>
        <p:nvSpPr>
          <p:cNvPr id="31" name="Text 29"/>
          <p:cNvSpPr/>
          <p:nvPr/>
        </p:nvSpPr>
        <p:spPr>
          <a:xfrm>
            <a:off x="1224919" y="7091903"/>
            <a:ext cx="1306296" cy="263200"/>
          </a:xfrm>
          <a:prstGeom prst="rect">
            <a:avLst/>
          </a:prstGeom>
          <a:noFill/>
          <a:ln/>
        </p:spPr>
        <p:txBody>
          <a:bodyPr wrap="square" lIns="25400" tIns="25400" rIns="25400" bIns="25400" rtlCol="0" anchor="ctr">
            <a:normAutofit/>
          </a:bodyPr>
          <a:lstStyle/>
          <a:p>
            <a:pPr algn="l" indent="0" marL="0">
              <a:buNone/>
            </a:pPr>
            <a:r>
              <a:rPr lang="en-US" sz="1050" spc="63" kern="0" dirty="0">
                <a:solidFill>
                  <a:srgbClr val="888888"/>
                </a:solidFill>
                <a:latin typeface="DM Mono" pitchFamily="34" charset="0"/>
                <a:ea typeface="DM Mono" pitchFamily="34" charset="-122"/>
                <a:cs typeface="DM Mono" pitchFamily="34" charset="-120"/>
              </a:rPr>
              <a:t>V3</a:t>
            </a:r>
            <a:endParaRPr lang="en-US" sz="1050" dirty="0"/>
          </a:p>
        </p:txBody>
      </p:sp>
      <p:sp>
        <p:nvSpPr>
          <p:cNvPr id="32" name="Text 30"/>
          <p:cNvSpPr/>
          <p:nvPr/>
        </p:nvSpPr>
        <p:spPr>
          <a:xfrm>
            <a:off x="2988414" y="7091903"/>
            <a:ext cx="7046908" cy="263200"/>
          </a:xfrm>
          <a:prstGeom prst="rect">
            <a:avLst/>
          </a:prstGeom>
          <a:noFill/>
          <a:ln/>
        </p:spPr>
        <p:txBody>
          <a:bodyPr wrap="square" lIns="25400" tIns="25400" rIns="25400" bIns="25400" rtlCol="0" anchor="ctr">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Lending / installment margin</a:t>
            </a:r>
            <a:endParaRPr lang="en-US" sz="1500" dirty="0"/>
          </a:p>
        </p:txBody>
      </p:sp>
      <p:sp>
        <p:nvSpPr>
          <p:cNvPr id="33" name="Text 31"/>
          <p:cNvSpPr/>
          <p:nvPr/>
        </p:nvSpPr>
        <p:spPr>
          <a:xfrm>
            <a:off x="10273957" y="7091903"/>
            <a:ext cx="7084999" cy="263200"/>
          </a:xfrm>
          <a:prstGeom prst="rect">
            <a:avLst/>
          </a:prstGeom>
          <a:noFill/>
          <a:ln/>
        </p:spPr>
        <p:txBody>
          <a:bodyPr wrap="square" lIns="25400" tIns="25400" rIns="25400" bIns="25400" rtlCol="0" anchor="ctr">
            <a:normAutofit/>
          </a:bodyPr>
          <a:lstStyle/>
          <a:p>
            <a:pPr algn="l" indent="0" marL="0">
              <a:buNone/>
            </a:pPr>
            <a:r>
              <a:rPr lang="en-US" sz="1500" dirty="0">
                <a:solidFill>
                  <a:srgbClr val="C8C8C8"/>
                </a:solidFill>
                <a:latin typeface="Arial" pitchFamily="34" charset="0"/>
                <a:ea typeface="Arial" pitchFamily="34" charset="-122"/>
                <a:cs typeface="Arial" pitchFamily="34" charset="-120"/>
              </a:rPr>
              <a:t>Wallet + verified income data</a:t>
            </a:r>
            <a:endParaRPr lang="en-US" sz="1500" dirty="0"/>
          </a:p>
        </p:txBody>
      </p:sp>
      <p:sp>
        <p:nvSpPr>
          <p:cNvPr id="34" name="Shape 32"/>
          <p:cNvSpPr/>
          <p:nvPr/>
        </p:nvSpPr>
        <p:spPr>
          <a:xfrm>
            <a:off x="920119" y="7526553"/>
            <a:ext cx="16447761" cy="9525"/>
          </a:xfrm>
          <a:prstGeom prst="rect">
            <a:avLst/>
          </a:prstGeom>
          <a:solidFill>
            <a:srgbClr val="FFFFFF">
              <a:alpha val="8000"/>
            </a:srgbClr>
          </a:solidFill>
          <a:ln/>
        </p:spPr>
      </p:sp>
      <p:sp>
        <p:nvSpPr>
          <p:cNvPr id="35" name="Text 33"/>
          <p:cNvSpPr/>
          <p:nvPr/>
        </p:nvSpPr>
        <p:spPr>
          <a:xfrm>
            <a:off x="1224919" y="7736103"/>
            <a:ext cx="1306296" cy="260314"/>
          </a:xfrm>
          <a:prstGeom prst="rect">
            <a:avLst/>
          </a:prstGeom>
          <a:noFill/>
          <a:ln/>
        </p:spPr>
        <p:txBody>
          <a:bodyPr wrap="square" lIns="25400" tIns="25400" rIns="25400" bIns="25400" rtlCol="0" anchor="ctr">
            <a:normAutofit/>
          </a:bodyPr>
          <a:lstStyle/>
          <a:p>
            <a:pPr algn="l" indent="0" marL="0">
              <a:buNone/>
            </a:pPr>
            <a:r>
              <a:rPr lang="en-US" sz="1050" spc="63" kern="0" dirty="0">
                <a:solidFill>
                  <a:srgbClr val="888888"/>
                </a:solidFill>
                <a:latin typeface="DM Mono" pitchFamily="34" charset="0"/>
                <a:ea typeface="DM Mono" pitchFamily="34" charset="-122"/>
                <a:cs typeface="DM Mono" pitchFamily="34" charset="-120"/>
              </a:rPr>
              <a:t>V3</a:t>
            </a:r>
            <a:endParaRPr lang="en-US" sz="1050" dirty="0"/>
          </a:p>
        </p:txBody>
      </p:sp>
      <p:sp>
        <p:nvSpPr>
          <p:cNvPr id="36" name="Text 34"/>
          <p:cNvSpPr/>
          <p:nvPr/>
        </p:nvSpPr>
        <p:spPr>
          <a:xfrm>
            <a:off x="2988414" y="7736103"/>
            <a:ext cx="7046908" cy="260314"/>
          </a:xfrm>
          <a:prstGeom prst="rect">
            <a:avLst/>
          </a:prstGeom>
          <a:noFill/>
          <a:ln/>
        </p:spPr>
        <p:txBody>
          <a:bodyPr wrap="square" lIns="25400" tIns="25400" rIns="25400" bIns="25400" rtlCol="0" anchor="ctr">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Premium verification, featured listings, B2B</a:t>
            </a:r>
            <a:endParaRPr lang="en-US" sz="1500" dirty="0"/>
          </a:p>
        </p:txBody>
      </p:sp>
      <p:sp>
        <p:nvSpPr>
          <p:cNvPr id="37" name="Text 35"/>
          <p:cNvSpPr/>
          <p:nvPr/>
        </p:nvSpPr>
        <p:spPr>
          <a:xfrm>
            <a:off x="10273957" y="7736103"/>
            <a:ext cx="7084999" cy="260314"/>
          </a:xfrm>
          <a:prstGeom prst="rect">
            <a:avLst/>
          </a:prstGeom>
          <a:noFill/>
          <a:ln/>
        </p:spPr>
        <p:txBody>
          <a:bodyPr wrap="square" lIns="25400" tIns="25400" rIns="25400" bIns="25400" rtlCol="0" anchor="ctr">
            <a:normAutofit/>
          </a:bodyPr>
          <a:lstStyle/>
          <a:p>
            <a:pPr algn="l" indent="0" marL="0">
              <a:buNone/>
            </a:pPr>
            <a:r>
              <a:rPr lang="en-US" sz="1500" dirty="0">
                <a:solidFill>
                  <a:srgbClr val="C8C8C8"/>
                </a:solidFill>
                <a:latin typeface="Arial" pitchFamily="34" charset="0"/>
                <a:ea typeface="Arial" pitchFamily="34" charset="-122"/>
                <a:cs typeface="Arial" pitchFamily="34" charset="-120"/>
              </a:rPr>
              <a:t>Verification + ranking + scale</a:t>
            </a:r>
            <a:endParaRPr lang="en-US" sz="1500" dirty="0"/>
          </a:p>
        </p:txBody>
      </p:sp>
      <p:sp>
        <p:nvSpPr>
          <p:cNvPr id="38" name="Shape 36"/>
          <p:cNvSpPr/>
          <p:nvPr/>
        </p:nvSpPr>
        <p:spPr>
          <a:xfrm>
            <a:off x="914346" y="9129026"/>
            <a:ext cx="16459307" cy="9525"/>
          </a:xfrm>
          <a:prstGeom prst="rect">
            <a:avLst/>
          </a:prstGeom>
          <a:solidFill>
            <a:srgbClr val="FFFFFF">
              <a:alpha val="8000"/>
            </a:srgbClr>
          </a:solidFill>
          <a:ln/>
        </p:spPr>
      </p:sp>
      <p:sp>
        <p:nvSpPr>
          <p:cNvPr id="39" name="Text 37"/>
          <p:cNvSpPr/>
          <p:nvPr/>
        </p:nvSpPr>
        <p:spPr>
          <a:xfrm>
            <a:off x="914346" y="9363363"/>
            <a:ext cx="117581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MONETIZATION</a:t>
            </a:r>
            <a:endParaRPr lang="en-US" sz="975" dirty="0"/>
          </a:p>
        </p:txBody>
      </p:sp>
      <p:sp>
        <p:nvSpPr>
          <p:cNvPr id="40" name="Text 38"/>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11 / 14</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5813393" y="773545"/>
            <a:ext cx="1636460"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12 · COLD START</a:t>
            </a:r>
            <a:endParaRPr lang="en-US" sz="1050" dirty="0"/>
          </a:p>
        </p:txBody>
      </p:sp>
      <p:sp>
        <p:nvSpPr>
          <p:cNvPr id="6" name="Text 4"/>
          <p:cNvSpPr/>
          <p:nvPr/>
        </p:nvSpPr>
        <p:spPr>
          <a:xfrm>
            <a:off x="914346" y="1725955"/>
            <a:ext cx="8201824"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COLD START · SUPPLY FIRST</a:t>
            </a:r>
            <a:endParaRPr lang="en-US" sz="1050" dirty="0"/>
          </a:p>
        </p:txBody>
      </p:sp>
      <p:sp>
        <p:nvSpPr>
          <p:cNvPr id="7" name="Text 5"/>
          <p:cNvSpPr/>
          <p:nvPr/>
        </p:nvSpPr>
        <p:spPr>
          <a:xfrm>
            <a:off x="914346" y="2165765"/>
            <a:ext cx="8201824" cy="2561684"/>
          </a:xfrm>
          <a:prstGeom prst="rect">
            <a:avLst/>
          </a:prstGeom>
          <a:noFill/>
          <a:ln/>
        </p:spPr>
        <p:txBody>
          <a:bodyPr wrap="square" lIns="25400" tIns="25400" rIns="25400" bIns="25400" rtlCol="0" anchor="t">
            <a:normAutofit/>
          </a:bodyPr>
          <a:lstStyle/>
          <a:p>
            <a:pPr algn="l" indent="0" marL="0">
              <a:lnSpc>
                <a:spcPct val="96000"/>
              </a:lnSpc>
              <a:buNone/>
            </a:pPr>
            <a:r>
              <a:rPr lang="en-US" sz="6900" b="1" spc="-241" kern="0" dirty="0">
                <a:solidFill>
                  <a:srgbClr val="FFFFFF"/>
                </a:solidFill>
                <a:latin typeface="DM Sans" pitchFamily="34" charset="0"/>
                <a:ea typeface="DM Sans" pitchFamily="34" charset="-122"/>
                <a:cs typeface="DM Sans" pitchFamily="34" charset="-120"/>
              </a:rPr>
              <a:t>Two clusters. </a:t>
            </a:r>
            <a:pPr algn="l" indent="0" marL="0">
              <a:lnSpc>
                <a:spcPct val="96000"/>
              </a:lnSpc>
              <a:buNone/>
            </a:pPr>
            <a:r>
              <a:rPr lang="en-US" sz="6900" b="1" spc="-241" kern="0" dirty="0">
                <a:solidFill>
                  <a:srgbClr val="FFC83D"/>
                </a:solidFill>
                <a:latin typeface="DM Sans" pitchFamily="34" charset="0"/>
                <a:ea typeface="DM Sans" pitchFamily="34" charset="-122"/>
                <a:cs typeface="DM Sans" pitchFamily="34" charset="-120"/>
              </a:rPr>
              <a:t>Sequenced, not split.</a:t>
            </a:r>
            <a:endParaRPr lang="en-US" sz="6900" dirty="0"/>
          </a:p>
        </p:txBody>
      </p:sp>
      <p:sp>
        <p:nvSpPr>
          <p:cNvPr id="8" name="Text 6"/>
          <p:cNvSpPr/>
          <p:nvPr/>
        </p:nvSpPr>
        <p:spPr>
          <a:xfrm>
            <a:off x="914346" y="5222604"/>
            <a:ext cx="8201824" cy="1174064"/>
          </a:xfrm>
          <a:prstGeom prst="rect">
            <a:avLst/>
          </a:prstGeom>
          <a:noFill/>
          <a:ln/>
        </p:spPr>
        <p:txBody>
          <a:bodyPr wrap="square" lIns="25400" tIns="25400" rIns="25400" bIns="25400" rtlCol="0" anchor="t">
            <a:normAutofit/>
          </a:bodyPr>
          <a:lstStyle/>
          <a:p>
            <a:pPr algn="l" indent="0" marL="0">
              <a:lnSpc>
                <a:spcPct val="142000"/>
              </a:lnSpc>
              <a:buNone/>
            </a:pPr>
            <a:r>
              <a:rPr lang="en-US" sz="2100" dirty="0">
                <a:solidFill>
                  <a:srgbClr val="C8C8C8"/>
                </a:solidFill>
                <a:latin typeface="Arial" pitchFamily="34" charset="0"/>
                <a:ea typeface="Arial" pitchFamily="34" charset="-122"/>
                <a:cs typeface="Arial" pitchFamily="34" charset="-120"/>
              </a:rPr>
              <a:t>One area in DNCC, one in DSCC. We need tutor density before opening the demand floodgates. Hyperlocal liquidity is the whole game.</a:t>
            </a:r>
            <a:endParaRPr lang="en-US" sz="2100" dirty="0"/>
          </a:p>
        </p:txBody>
      </p:sp>
      <p:sp>
        <p:nvSpPr>
          <p:cNvPr id="9" name="Shape 7"/>
          <p:cNvSpPr/>
          <p:nvPr/>
        </p:nvSpPr>
        <p:spPr>
          <a:xfrm>
            <a:off x="914346" y="7049131"/>
            <a:ext cx="133314" cy="133314"/>
          </a:xfrm>
          <a:prstGeom prst="ellipse">
            <a:avLst/>
          </a:prstGeom>
          <a:solidFill>
            <a:srgbClr val="FFC83D"/>
          </a:solidFill>
          <a:ln/>
        </p:spPr>
      </p:sp>
      <p:sp>
        <p:nvSpPr>
          <p:cNvPr id="10" name="Text 8"/>
          <p:cNvSpPr/>
          <p:nvPr/>
        </p:nvSpPr>
        <p:spPr>
          <a:xfrm>
            <a:off x="1219038" y="7006106"/>
            <a:ext cx="2384118" cy="257464"/>
          </a:xfrm>
          <a:prstGeom prst="rect">
            <a:avLst/>
          </a:prstGeom>
          <a:noFill/>
          <a:ln/>
        </p:spPr>
        <p:txBody>
          <a:bodyPr wrap="square" lIns="25400" tIns="25400" rIns="25400" bIns="25400" rtlCol="0" anchor="t">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DNCC · Dhanmondi cluster</a:t>
            </a:r>
            <a:endParaRPr lang="en-US" sz="1500" dirty="0"/>
          </a:p>
        </p:txBody>
      </p:sp>
      <p:sp>
        <p:nvSpPr>
          <p:cNvPr id="11" name="Text 9"/>
          <p:cNvSpPr/>
          <p:nvPr/>
        </p:nvSpPr>
        <p:spPr>
          <a:xfrm>
            <a:off x="8223790" y="7029197"/>
            <a:ext cx="729691" cy="211282"/>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888888"/>
                </a:solidFill>
                <a:latin typeface="DM Mono" pitchFamily="34" charset="0"/>
                <a:ea typeface="DM Mono" pitchFamily="34" charset="-122"/>
                <a:cs typeface="DM Mono" pitchFamily="34" charset="-120"/>
              </a:rPr>
              <a:t>MONTH 1</a:t>
            </a:r>
            <a:endParaRPr lang="en-US" sz="1050" dirty="0"/>
          </a:p>
        </p:txBody>
      </p:sp>
      <p:sp>
        <p:nvSpPr>
          <p:cNvPr id="12" name="Shape 10"/>
          <p:cNvSpPr/>
          <p:nvPr/>
        </p:nvSpPr>
        <p:spPr>
          <a:xfrm>
            <a:off x="914346" y="7403522"/>
            <a:ext cx="167950" cy="167950"/>
          </a:xfrm>
          <a:prstGeom prst="roundRect">
            <a:avLst>
              <a:gd name="adj" fmla="val 39699"/>
            </a:avLst>
          </a:prstGeom>
          <a:solidFill>
            <a:srgbClr val="FFC83D">
              <a:alpha val="30000"/>
            </a:srgbClr>
          </a:solidFill>
          <a:ln w="17318">
            <a:solidFill>
              <a:srgbClr val="FFC83D"/>
            </a:solidFill>
            <a:prstDash val="solid"/>
          </a:ln>
        </p:spPr>
      </p:sp>
      <p:sp>
        <p:nvSpPr>
          <p:cNvPr id="13" name="Text 11"/>
          <p:cNvSpPr/>
          <p:nvPr/>
        </p:nvSpPr>
        <p:spPr>
          <a:xfrm>
            <a:off x="1253674" y="7377815"/>
            <a:ext cx="3206424" cy="257464"/>
          </a:xfrm>
          <a:prstGeom prst="rect">
            <a:avLst/>
          </a:prstGeom>
          <a:noFill/>
          <a:ln/>
        </p:spPr>
        <p:txBody>
          <a:bodyPr wrap="square" lIns="25400" tIns="25400" rIns="25400" bIns="25400" rtlCol="0" anchor="t">
            <a:normAutofit/>
          </a:bodyPr>
          <a:lstStyle/>
          <a:p>
            <a:pPr algn="l" indent="0" marL="0">
              <a:buNone/>
            </a:pPr>
            <a:r>
              <a:rPr lang="en-US" sz="1500" dirty="0">
                <a:solidFill>
                  <a:srgbClr val="FFFFFF"/>
                </a:solidFill>
                <a:latin typeface="Arial" pitchFamily="34" charset="0"/>
                <a:ea typeface="Arial" pitchFamily="34" charset="-122"/>
                <a:cs typeface="Arial" pitchFamily="34" charset="-120"/>
              </a:rPr>
              <a:t>DSCC · Dhanmondi-South extension</a:t>
            </a:r>
            <a:endParaRPr lang="en-US" sz="1500" dirty="0"/>
          </a:p>
        </p:txBody>
      </p:sp>
      <p:sp>
        <p:nvSpPr>
          <p:cNvPr id="14" name="Text 12"/>
          <p:cNvSpPr/>
          <p:nvPr/>
        </p:nvSpPr>
        <p:spPr>
          <a:xfrm>
            <a:off x="8223790" y="7400906"/>
            <a:ext cx="729691" cy="211282"/>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888888"/>
                </a:solidFill>
                <a:latin typeface="DM Mono" pitchFamily="34" charset="0"/>
                <a:ea typeface="DM Mono" pitchFamily="34" charset="-122"/>
                <a:cs typeface="DM Mono" pitchFamily="34" charset="-120"/>
              </a:rPr>
              <a:t>MONTH 4</a:t>
            </a:r>
            <a:endParaRPr lang="en-US" sz="1050" dirty="0"/>
          </a:p>
        </p:txBody>
      </p:sp>
      <p:sp>
        <p:nvSpPr>
          <p:cNvPr id="15" name="Shape 13"/>
          <p:cNvSpPr/>
          <p:nvPr/>
        </p:nvSpPr>
        <p:spPr>
          <a:xfrm>
            <a:off x="914346" y="7775232"/>
            <a:ext cx="167950" cy="167950"/>
          </a:xfrm>
          <a:prstGeom prst="roundRect">
            <a:avLst>
              <a:gd name="adj" fmla="val 39699"/>
            </a:avLst>
          </a:prstGeom>
          <a:ln w="17318">
            <a:solidFill>
              <a:srgbClr val="888888"/>
            </a:solidFill>
            <a:prstDash val="dash"/>
          </a:ln>
        </p:spPr>
      </p:sp>
      <p:sp>
        <p:nvSpPr>
          <p:cNvPr id="16" name="Text 14"/>
          <p:cNvSpPr/>
          <p:nvPr/>
        </p:nvSpPr>
        <p:spPr>
          <a:xfrm>
            <a:off x="1253674" y="7749525"/>
            <a:ext cx="2341905" cy="257464"/>
          </a:xfrm>
          <a:prstGeom prst="rect">
            <a:avLst/>
          </a:prstGeom>
          <a:noFill/>
          <a:ln/>
        </p:spPr>
        <p:txBody>
          <a:bodyPr wrap="square" lIns="25400" tIns="25400" rIns="25400" bIns="25400" rtlCol="0" anchor="t">
            <a:normAutofit/>
          </a:bodyPr>
          <a:lstStyle/>
          <a:p>
            <a:pPr algn="l" indent="0" marL="0">
              <a:buNone/>
            </a:pPr>
            <a:r>
              <a:rPr lang="en-US" sz="1500" dirty="0">
                <a:solidFill>
                  <a:srgbClr val="C8C8C8"/>
                </a:solidFill>
                <a:latin typeface="Arial" pitchFamily="34" charset="0"/>
                <a:ea typeface="Arial" pitchFamily="34" charset="-122"/>
                <a:cs typeface="Arial" pitchFamily="34" charset="-120"/>
              </a:rPr>
              <a:t>Mirpur · Uttara · expansion</a:t>
            </a:r>
            <a:endParaRPr lang="en-US" sz="1500" dirty="0"/>
          </a:p>
        </p:txBody>
      </p:sp>
      <p:sp>
        <p:nvSpPr>
          <p:cNvPr id="17" name="Text 15"/>
          <p:cNvSpPr/>
          <p:nvPr/>
        </p:nvSpPr>
        <p:spPr>
          <a:xfrm>
            <a:off x="8503858" y="7772616"/>
            <a:ext cx="449623" cy="211282"/>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888888"/>
                </a:solidFill>
                <a:latin typeface="DM Mono" pitchFamily="34" charset="0"/>
                <a:ea typeface="DM Mono" pitchFamily="34" charset="-122"/>
                <a:cs typeface="DM Mono" pitchFamily="34" charset="-120"/>
              </a:rPr>
              <a:t>2027</a:t>
            </a:r>
            <a:endParaRPr lang="en-US" sz="1050" dirty="0"/>
          </a:p>
        </p:txBody>
      </p:sp>
      <p:sp>
        <p:nvSpPr>
          <p:cNvPr id="18" name="Shape 16"/>
          <p:cNvSpPr/>
          <p:nvPr/>
        </p:nvSpPr>
        <p:spPr>
          <a:xfrm>
            <a:off x="9410627" y="1725955"/>
            <a:ext cx="7963026" cy="1850520"/>
          </a:xfrm>
          <a:prstGeom prst="roundRect">
            <a:avLst>
              <a:gd name="adj" fmla="val 14412"/>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9" name="Text 17"/>
          <p:cNvSpPr/>
          <p:nvPr/>
        </p:nvSpPr>
        <p:spPr>
          <a:xfrm>
            <a:off x="9721182" y="2036510"/>
            <a:ext cx="7562174"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SUPPLY PLAYBOOK</a:t>
            </a:r>
            <a:endParaRPr lang="en-US" sz="1050" dirty="0"/>
          </a:p>
        </p:txBody>
      </p:sp>
      <p:sp>
        <p:nvSpPr>
          <p:cNvPr id="20" name="Text 18"/>
          <p:cNvSpPr/>
          <p:nvPr/>
        </p:nvSpPr>
        <p:spPr>
          <a:xfrm>
            <a:off x="9721182" y="2323974"/>
            <a:ext cx="7562174"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FFFFFF"/>
                </a:solidFill>
                <a:latin typeface="Arial" pitchFamily="34" charset="0"/>
                <a:ea typeface="Arial" pitchFamily="34" charset="-122"/>
                <a:cs typeface="Arial" pitchFamily="34" charset="-120"/>
              </a:rPr>
              <a:t>University CRM</a:t>
            </a:r>
            <a:endParaRPr lang="en-US" sz="2700" dirty="0"/>
          </a:p>
        </p:txBody>
      </p:sp>
      <p:sp>
        <p:nvSpPr>
          <p:cNvPr id="21" name="Text 19"/>
          <p:cNvSpPr/>
          <p:nvPr/>
        </p:nvSpPr>
        <p:spPr>
          <a:xfrm>
            <a:off x="9721182" y="2808612"/>
            <a:ext cx="7562174" cy="495408"/>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C8C8"/>
                </a:solidFill>
                <a:latin typeface="Arial" pitchFamily="34" charset="0"/>
                <a:ea typeface="Arial" pitchFamily="34" charset="-122"/>
                <a:cs typeface="Arial" pitchFamily="34" charset="-120"/>
              </a:rPr>
              <a:t>BUET, DU, NSU, BRACU campus reps. Referral bonuses on first-completed-month. Manual onboarding calls — do things that don't scale.</a:t>
            </a:r>
            <a:endParaRPr lang="en-US" sz="1200" dirty="0"/>
          </a:p>
        </p:txBody>
      </p:sp>
      <p:sp>
        <p:nvSpPr>
          <p:cNvPr id="22" name="Shape 20"/>
          <p:cNvSpPr/>
          <p:nvPr/>
        </p:nvSpPr>
        <p:spPr>
          <a:xfrm>
            <a:off x="9410627" y="3805039"/>
            <a:ext cx="7963026" cy="1621866"/>
          </a:xfrm>
          <a:prstGeom prst="roundRect">
            <a:avLst>
              <a:gd name="adj" fmla="val 16444"/>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23" name="Text 21"/>
          <p:cNvSpPr/>
          <p:nvPr/>
        </p:nvSpPr>
        <p:spPr>
          <a:xfrm>
            <a:off x="9721182" y="4115594"/>
            <a:ext cx="7562174"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DEMAND PLAYBOOK</a:t>
            </a:r>
            <a:endParaRPr lang="en-US" sz="1050" dirty="0"/>
          </a:p>
        </p:txBody>
      </p:sp>
      <p:sp>
        <p:nvSpPr>
          <p:cNvPr id="24" name="Text 22"/>
          <p:cNvSpPr/>
          <p:nvPr/>
        </p:nvSpPr>
        <p:spPr>
          <a:xfrm>
            <a:off x="9721182" y="4403057"/>
            <a:ext cx="7562174" cy="408456"/>
          </a:xfrm>
          <a:prstGeom prst="rect">
            <a:avLst/>
          </a:prstGeom>
          <a:noFill/>
          <a:ln/>
        </p:spPr>
        <p:txBody>
          <a:bodyPr wrap="square" lIns="25400" tIns="25400" rIns="25400" bIns="25400" rtlCol="0" anchor="t">
            <a:normAutofit/>
          </a:bodyPr>
          <a:lstStyle/>
          <a:p>
            <a:pPr algn="l" indent="0" marL="0">
              <a:lnSpc>
                <a:spcPct val="108000"/>
              </a:lnSpc>
              <a:buNone/>
            </a:pPr>
            <a:r>
              <a:rPr lang="en-US" sz="2700" b="1" spc="-40" kern="0" dirty="0">
                <a:solidFill>
                  <a:srgbClr val="FFFFFF"/>
                </a:solidFill>
                <a:latin typeface="Arial" pitchFamily="34" charset="0"/>
                <a:ea typeface="Arial" pitchFamily="34" charset="-122"/>
                <a:cs typeface="Arial" pitchFamily="34" charset="-120"/>
              </a:rPr>
              <a:t>Apartment building partnerships</a:t>
            </a:r>
            <a:endParaRPr lang="en-US" sz="2700" dirty="0"/>
          </a:p>
        </p:txBody>
      </p:sp>
      <p:sp>
        <p:nvSpPr>
          <p:cNvPr id="25" name="Text 23"/>
          <p:cNvSpPr/>
          <p:nvPr/>
        </p:nvSpPr>
        <p:spPr>
          <a:xfrm>
            <a:off x="9721182" y="4887696"/>
            <a:ext cx="7562174" cy="266754"/>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C8C8"/>
                </a:solidFill>
                <a:latin typeface="Arial" pitchFamily="34" charset="0"/>
                <a:ea typeface="Arial" pitchFamily="34" charset="-122"/>
                <a:cs typeface="Arial" pitchFamily="34" charset="-120"/>
              </a:rPr>
              <a:t>Door-to-door in target clusters. Mother-of-mother referrals. Posters at coaching centers (frenemy strategy).</a:t>
            </a:r>
            <a:endParaRPr lang="en-US" sz="1200" dirty="0"/>
          </a:p>
        </p:txBody>
      </p:sp>
      <p:sp>
        <p:nvSpPr>
          <p:cNvPr id="26" name="Shape 24"/>
          <p:cNvSpPr/>
          <p:nvPr/>
        </p:nvSpPr>
        <p:spPr>
          <a:xfrm>
            <a:off x="9410627" y="5655468"/>
            <a:ext cx="7963026" cy="1786479"/>
          </a:xfrm>
          <a:prstGeom prst="roundRect">
            <a:avLst>
              <a:gd name="adj" fmla="val 14929"/>
            </a:avLst>
          </a:prstGeom>
          <a:solidFill>
            <a:srgbClr val="FFC83D"/>
          </a:solidFill>
          <a:ln/>
          <a:effectLst>
            <a:outerShdw sx="100000" sy="100000" kx="0" ky="0" algn="bl" rotWithShape="0" blurRad="342900" dist="133350" dir="5400000">
              <a:srgbClr val="000000">
                <a:alpha val="35000"/>
              </a:srgbClr>
            </a:outerShdw>
          </a:effectLst>
        </p:spPr>
      </p:sp>
      <p:sp>
        <p:nvSpPr>
          <p:cNvPr id="27" name="Text 25"/>
          <p:cNvSpPr/>
          <p:nvPr/>
        </p:nvSpPr>
        <p:spPr>
          <a:xfrm>
            <a:off x="9721182" y="5966023"/>
            <a:ext cx="7562174"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0F0F0F">
                    <a:alpha val="60000"/>
                  </a:srgbClr>
                </a:solidFill>
                <a:latin typeface="DM Mono" pitchFamily="34" charset="0"/>
                <a:ea typeface="DM Mono" pitchFamily="34" charset="-122"/>
                <a:cs typeface="DM Mono" pitchFamily="34" charset="-120"/>
              </a:rPr>
              <a:t>TARGET BY MONTH 6</a:t>
            </a:r>
            <a:endParaRPr lang="en-US" sz="1050" dirty="0"/>
          </a:p>
        </p:txBody>
      </p:sp>
      <p:sp>
        <p:nvSpPr>
          <p:cNvPr id="28" name="Text 26"/>
          <p:cNvSpPr/>
          <p:nvPr/>
        </p:nvSpPr>
        <p:spPr>
          <a:xfrm>
            <a:off x="9721182" y="6291551"/>
            <a:ext cx="1516405" cy="647664"/>
          </a:xfrm>
          <a:prstGeom prst="rect">
            <a:avLst/>
          </a:prstGeom>
          <a:noFill/>
          <a:ln/>
        </p:spPr>
        <p:txBody>
          <a:bodyPr wrap="square" lIns="25400" tIns="25400" rIns="25400" bIns="25400" rtlCol="0" anchor="t">
            <a:normAutofit/>
          </a:bodyPr>
          <a:lstStyle/>
          <a:p>
            <a:pPr algn="l" indent="0" marL="0">
              <a:lnSpc>
                <a:spcPct val="100000"/>
              </a:lnSpc>
              <a:buNone/>
            </a:pPr>
            <a:r>
              <a:rPr lang="en-US" sz="4800" b="1" spc="-144" kern="0" dirty="0">
                <a:solidFill>
                  <a:srgbClr val="0F0F0F"/>
                </a:solidFill>
                <a:latin typeface="Arial" pitchFamily="34" charset="0"/>
                <a:ea typeface="Arial" pitchFamily="34" charset="-122"/>
                <a:cs typeface="Arial" pitchFamily="34" charset="-120"/>
              </a:rPr>
              <a:t>1,200</a:t>
            </a:r>
            <a:endParaRPr lang="en-US" sz="4800" dirty="0"/>
          </a:p>
        </p:txBody>
      </p:sp>
      <p:sp>
        <p:nvSpPr>
          <p:cNvPr id="29" name="Text 27"/>
          <p:cNvSpPr/>
          <p:nvPr/>
        </p:nvSpPr>
        <p:spPr>
          <a:xfrm>
            <a:off x="9721182" y="6958211"/>
            <a:ext cx="1516405"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0F0F0F">
                    <a:alpha val="60000"/>
                  </a:srgbClr>
                </a:solidFill>
                <a:latin typeface="DM Mono" pitchFamily="34" charset="0"/>
                <a:ea typeface="DM Mono" pitchFamily="34" charset="-122"/>
                <a:cs typeface="DM Mono" pitchFamily="34" charset="-120"/>
              </a:rPr>
              <a:t>VERIFIED TUTORS</a:t>
            </a:r>
            <a:endParaRPr lang="en-US" sz="1050" dirty="0"/>
          </a:p>
        </p:txBody>
      </p:sp>
      <p:sp>
        <p:nvSpPr>
          <p:cNvPr id="30" name="Text 28"/>
          <p:cNvSpPr/>
          <p:nvPr/>
        </p:nvSpPr>
        <p:spPr>
          <a:xfrm>
            <a:off x="11504233" y="6291551"/>
            <a:ext cx="1708439" cy="647664"/>
          </a:xfrm>
          <a:prstGeom prst="rect">
            <a:avLst/>
          </a:prstGeom>
          <a:noFill/>
          <a:ln/>
        </p:spPr>
        <p:txBody>
          <a:bodyPr wrap="square" lIns="25400" tIns="25400" rIns="25400" bIns="25400" rtlCol="0" anchor="t">
            <a:normAutofit/>
          </a:bodyPr>
          <a:lstStyle/>
          <a:p>
            <a:pPr algn="l" indent="0" marL="0">
              <a:lnSpc>
                <a:spcPct val="100000"/>
              </a:lnSpc>
              <a:buNone/>
            </a:pPr>
            <a:r>
              <a:rPr lang="en-US" sz="4800" b="1" spc="-144" kern="0" dirty="0">
                <a:solidFill>
                  <a:srgbClr val="0F0F0F"/>
                </a:solidFill>
                <a:latin typeface="Arial" pitchFamily="34" charset="0"/>
                <a:ea typeface="Arial" pitchFamily="34" charset="-122"/>
                <a:cs typeface="Arial" pitchFamily="34" charset="-120"/>
              </a:rPr>
              <a:t>350</a:t>
            </a:r>
            <a:endParaRPr lang="en-US" sz="4800" dirty="0"/>
          </a:p>
        </p:txBody>
      </p:sp>
      <p:sp>
        <p:nvSpPr>
          <p:cNvPr id="31" name="Text 29"/>
          <p:cNvSpPr/>
          <p:nvPr/>
        </p:nvSpPr>
        <p:spPr>
          <a:xfrm>
            <a:off x="11504233" y="6958211"/>
            <a:ext cx="1708439"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0F0F0F">
                    <a:alpha val="60000"/>
                  </a:srgbClr>
                </a:solidFill>
                <a:latin typeface="DM Mono" pitchFamily="34" charset="0"/>
                <a:ea typeface="DM Mono" pitchFamily="34" charset="-122"/>
                <a:cs typeface="DM Mono" pitchFamily="34" charset="-120"/>
              </a:rPr>
              <a:t>ACTIVE PLACEMENTS</a:t>
            </a:r>
            <a:endParaRPr lang="en-US" sz="1050" dirty="0"/>
          </a:p>
        </p:txBody>
      </p:sp>
      <p:sp>
        <p:nvSpPr>
          <p:cNvPr id="32" name="Shape 30"/>
          <p:cNvSpPr/>
          <p:nvPr/>
        </p:nvSpPr>
        <p:spPr>
          <a:xfrm>
            <a:off x="914346" y="9129026"/>
            <a:ext cx="16459307" cy="9525"/>
          </a:xfrm>
          <a:prstGeom prst="rect">
            <a:avLst/>
          </a:prstGeom>
          <a:solidFill>
            <a:srgbClr val="FFFFFF">
              <a:alpha val="8000"/>
            </a:srgbClr>
          </a:solidFill>
          <a:ln/>
        </p:spPr>
      </p:sp>
      <p:sp>
        <p:nvSpPr>
          <p:cNvPr id="33" name="Text 31"/>
          <p:cNvSpPr/>
          <p:nvPr/>
        </p:nvSpPr>
        <p:spPr>
          <a:xfrm>
            <a:off x="914346" y="9363363"/>
            <a:ext cx="117581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GO-TO-MARKET</a:t>
            </a:r>
            <a:endParaRPr lang="en-US" sz="975" dirty="0"/>
          </a:p>
        </p:txBody>
      </p:sp>
      <p:sp>
        <p:nvSpPr>
          <p:cNvPr id="34" name="Text 32"/>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12 / 14</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5293306" y="773545"/>
            <a:ext cx="2156546"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13 · INSTRUMENTATION</a:t>
            </a:r>
            <a:endParaRPr lang="en-US" sz="1050" dirty="0"/>
          </a:p>
        </p:txBody>
      </p:sp>
      <p:sp>
        <p:nvSpPr>
          <p:cNvPr id="6" name="Text 4"/>
          <p:cNvSpPr/>
          <p:nvPr/>
        </p:nvSpPr>
        <p:spPr>
          <a:xfrm>
            <a:off x="914346" y="1725955"/>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FROM DAY ONE</a:t>
            </a:r>
            <a:endParaRPr lang="en-US" sz="1050" dirty="0"/>
          </a:p>
        </p:txBody>
      </p:sp>
      <p:sp>
        <p:nvSpPr>
          <p:cNvPr id="7" name="Text 5"/>
          <p:cNvSpPr/>
          <p:nvPr/>
        </p:nvSpPr>
        <p:spPr>
          <a:xfrm>
            <a:off x="914346" y="2241983"/>
            <a:ext cx="15697199" cy="1866792"/>
          </a:xfrm>
          <a:prstGeom prst="rect">
            <a:avLst/>
          </a:prstGeom>
          <a:noFill/>
          <a:ln/>
        </p:spPr>
        <p:txBody>
          <a:bodyPr wrap="square" lIns="25400" tIns="25400" rIns="25400" bIns="25400" rtlCol="0" anchor="t">
            <a:normAutofit/>
          </a:bodyPr>
          <a:lstStyle/>
          <a:p>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Measure the </a:t>
            </a:r>
            <a:pPr algn="l" indent="0" marL="0">
              <a:lnSpc>
                <a:spcPct val="96000"/>
              </a:lnSpc>
              <a:buNone/>
            </a:pPr>
            <a:r>
              <a:rPr lang="en-US" sz="7500" b="1" spc="-262" kern="0" dirty="0">
                <a:solidFill>
                  <a:srgbClr val="FFC83D"/>
                </a:solidFill>
                <a:latin typeface="DM Sans" pitchFamily="34" charset="0"/>
                <a:ea typeface="DM Sans" pitchFamily="34" charset="-122"/>
                <a:cs typeface="DM Sans" pitchFamily="34" charset="-120"/>
              </a:rPr>
              <a:t>money flow, </a:t>
            </a:r>
            <a:pPr algn="l" indent="0" marL="0">
              <a:lnSpc>
                <a:spcPct val="96000"/>
              </a:lnSpc>
              <a:buNone/>
            </a:pPr>
            <a:r>
              <a:rPr lang="en-US" sz="7500" b="1" spc="-262" kern="0" dirty="0">
                <a:solidFill>
                  <a:srgbClr val="FFFFFF"/>
                </a:solidFill>
                <a:latin typeface="DM Sans" pitchFamily="34" charset="0"/>
                <a:ea typeface="DM Sans" pitchFamily="34" charset="-122"/>
                <a:cs typeface="DM Sans" pitchFamily="34" charset="-120"/>
              </a:rPr>
              <a:t>not just the match.</a:t>
            </a:r>
            <a:endParaRPr lang="en-US" sz="7500" dirty="0"/>
          </a:p>
        </p:txBody>
      </p:sp>
      <p:sp>
        <p:nvSpPr>
          <p:cNvPr id="8" name="Shape 6"/>
          <p:cNvSpPr/>
          <p:nvPr/>
        </p:nvSpPr>
        <p:spPr>
          <a:xfrm>
            <a:off x="914346" y="4699270"/>
            <a:ext cx="3943404" cy="2506175"/>
          </a:xfrm>
          <a:prstGeom prst="roundRect">
            <a:avLst>
              <a:gd name="adj" fmla="val 10642"/>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9" name="Text 7"/>
          <p:cNvSpPr/>
          <p:nvPr/>
        </p:nvSpPr>
        <p:spPr>
          <a:xfrm>
            <a:off x="1186746" y="4971671"/>
            <a:ext cx="3500561"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SUPPLY</a:t>
            </a:r>
            <a:endParaRPr lang="en-US" sz="1050" dirty="0"/>
          </a:p>
        </p:txBody>
      </p:sp>
      <p:sp>
        <p:nvSpPr>
          <p:cNvPr id="10" name="Text 8"/>
          <p:cNvSpPr/>
          <p:nvPr/>
        </p:nvSpPr>
        <p:spPr>
          <a:xfrm>
            <a:off x="1186746" y="5278167"/>
            <a:ext cx="3500561" cy="723882"/>
          </a:xfrm>
          <a:prstGeom prst="rect">
            <a:avLst/>
          </a:prstGeom>
          <a:noFill/>
          <a:ln/>
        </p:spPr>
        <p:txBody>
          <a:bodyPr wrap="square" lIns="25400" tIns="25400" rIns="25400" bIns="25400" rtlCol="0" anchor="t">
            <a:normAutofit/>
          </a:bodyPr>
          <a:lstStyle/>
          <a:p>
            <a:pPr algn="l" indent="0" marL="0">
              <a:lnSpc>
                <a:spcPct val="90000"/>
              </a:lnSpc>
              <a:buNone/>
            </a:pPr>
            <a:r>
              <a:rPr lang="en-US" sz="6000" b="1" spc="-150" kern="0" dirty="0">
                <a:solidFill>
                  <a:srgbClr val="FFFFFF"/>
                </a:solidFill>
                <a:latin typeface="Arial" pitchFamily="34" charset="0"/>
                <a:ea typeface="Arial" pitchFamily="34" charset="-122"/>
                <a:cs typeface="Arial" pitchFamily="34" charset="-120"/>
              </a:rPr>
              <a:t>8.2k</a:t>
            </a:r>
            <a:endParaRPr lang="en-US" sz="6000" dirty="0"/>
          </a:p>
        </p:txBody>
      </p:sp>
      <p:sp>
        <p:nvSpPr>
          <p:cNvPr id="11" name="Text 9"/>
          <p:cNvSpPr/>
          <p:nvPr/>
        </p:nvSpPr>
        <p:spPr>
          <a:xfrm>
            <a:off x="1186746" y="6040076"/>
            <a:ext cx="3500561" cy="193964"/>
          </a:xfrm>
          <a:prstGeom prst="rect">
            <a:avLst/>
          </a:prstGeom>
          <a:noFill/>
          <a:ln/>
        </p:spPr>
        <p:txBody>
          <a:bodyPr wrap="square" lIns="25400" tIns="25400" rIns="25400" bIns="25400" rtlCol="0" anchor="t">
            <a:normAutofit/>
          </a:bodyPr>
          <a:lstStyle/>
          <a:p>
            <a:pPr algn="l" indent="0" marL="0">
              <a:buNone/>
            </a:pPr>
            <a:r>
              <a:rPr lang="en-US" sz="1050" dirty="0">
                <a:solidFill>
                  <a:srgbClr val="C8C8C8"/>
                </a:solidFill>
                <a:latin typeface="Arial" pitchFamily="34" charset="0"/>
                <a:ea typeface="Arial" pitchFamily="34" charset="-122"/>
                <a:cs typeface="Arial" pitchFamily="34" charset="-120"/>
              </a:rPr>
              <a:t>Tutor signups / mo</a:t>
            </a:r>
            <a:endParaRPr lang="en-US" sz="1050" dirty="0"/>
          </a:p>
        </p:txBody>
      </p:sp>
      <p:sp>
        <p:nvSpPr>
          <p:cNvPr id="12" name="Text 10"/>
          <p:cNvSpPr/>
          <p:nvPr/>
        </p:nvSpPr>
        <p:spPr>
          <a:xfrm>
            <a:off x="1186746" y="6310222"/>
            <a:ext cx="3500561" cy="188191"/>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7ED9A8"/>
                </a:solidFill>
                <a:latin typeface="DM Mono" pitchFamily="34" charset="0"/>
                <a:ea typeface="DM Mono" pitchFamily="34" charset="-122"/>
                <a:cs typeface="DM Mono" pitchFamily="34" charset="-120"/>
              </a:rPr>
              <a:t>▲ 24% mom</a:t>
            </a:r>
            <a:endParaRPr lang="en-US" sz="900" dirty="0"/>
          </a:p>
        </p:txBody>
      </p:sp>
      <p:sp>
        <p:nvSpPr>
          <p:cNvPr id="13" name="Shape 11"/>
          <p:cNvSpPr/>
          <p:nvPr/>
        </p:nvSpPr>
        <p:spPr>
          <a:xfrm>
            <a:off x="5086313" y="4699270"/>
            <a:ext cx="3943404" cy="2506175"/>
          </a:xfrm>
          <a:prstGeom prst="roundRect">
            <a:avLst>
              <a:gd name="adj" fmla="val 10642"/>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14" name="Text 12"/>
          <p:cNvSpPr/>
          <p:nvPr/>
        </p:nvSpPr>
        <p:spPr>
          <a:xfrm>
            <a:off x="5358714" y="4971671"/>
            <a:ext cx="3500561"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LIQUIDITY</a:t>
            </a:r>
            <a:endParaRPr lang="en-US" sz="1050" dirty="0"/>
          </a:p>
        </p:txBody>
      </p:sp>
      <p:sp>
        <p:nvSpPr>
          <p:cNvPr id="15" name="Text 13"/>
          <p:cNvSpPr/>
          <p:nvPr/>
        </p:nvSpPr>
        <p:spPr>
          <a:xfrm>
            <a:off x="5358714" y="5278167"/>
            <a:ext cx="3500561" cy="723882"/>
          </a:xfrm>
          <a:prstGeom prst="rect">
            <a:avLst/>
          </a:prstGeom>
          <a:noFill/>
          <a:ln/>
        </p:spPr>
        <p:txBody>
          <a:bodyPr wrap="square" lIns="25400" tIns="25400" rIns="25400" bIns="25400" rtlCol="0" anchor="t">
            <a:normAutofit/>
          </a:bodyPr>
          <a:lstStyle/>
          <a:p>
            <a:pPr algn="l" indent="0" marL="0">
              <a:lnSpc>
                <a:spcPct val="90000"/>
              </a:lnSpc>
              <a:buNone/>
            </a:pPr>
            <a:r>
              <a:rPr lang="en-US" sz="6000" b="1" spc="-150" kern="0" dirty="0">
                <a:solidFill>
                  <a:srgbClr val="FFFFFF"/>
                </a:solidFill>
                <a:latin typeface="Arial" pitchFamily="34" charset="0"/>
                <a:ea typeface="Arial" pitchFamily="34" charset="-122"/>
                <a:cs typeface="Arial" pitchFamily="34" charset="-120"/>
              </a:rPr>
              <a:t>4.3</a:t>
            </a:r>
            <a:pPr algn="l" indent="0" marL="0">
              <a:lnSpc>
                <a:spcPct val="90000"/>
              </a:lnSpc>
              <a:buNone/>
            </a:pPr>
            <a:r>
              <a:rPr lang="en-US" sz="2400" b="1" spc="-150" kern="0" dirty="0">
                <a:solidFill>
                  <a:srgbClr val="888888"/>
                </a:solidFill>
                <a:latin typeface="Arial" pitchFamily="34" charset="0"/>
                <a:ea typeface="Arial" pitchFamily="34" charset="-122"/>
                <a:cs typeface="Arial" pitchFamily="34" charset="-120"/>
              </a:rPr>
              <a:t>dys</a:t>
            </a:r>
            <a:endParaRPr lang="en-US" sz="6000" dirty="0"/>
          </a:p>
        </p:txBody>
      </p:sp>
      <p:sp>
        <p:nvSpPr>
          <p:cNvPr id="16" name="Text 14"/>
          <p:cNvSpPr/>
          <p:nvPr/>
        </p:nvSpPr>
        <p:spPr>
          <a:xfrm>
            <a:off x="5358714" y="6040076"/>
            <a:ext cx="3500561" cy="193964"/>
          </a:xfrm>
          <a:prstGeom prst="rect">
            <a:avLst/>
          </a:prstGeom>
          <a:noFill/>
          <a:ln/>
        </p:spPr>
        <p:txBody>
          <a:bodyPr wrap="square" lIns="25400" tIns="25400" rIns="25400" bIns="25400" rtlCol="0" anchor="t">
            <a:normAutofit/>
          </a:bodyPr>
          <a:lstStyle/>
          <a:p>
            <a:pPr algn="l" indent="0" marL="0">
              <a:buNone/>
            </a:pPr>
            <a:r>
              <a:rPr lang="en-US" sz="1050" dirty="0">
                <a:solidFill>
                  <a:srgbClr val="C8C8C8"/>
                </a:solidFill>
                <a:latin typeface="Arial" pitchFamily="34" charset="0"/>
                <a:ea typeface="Arial" pitchFamily="34" charset="-122"/>
                <a:cs typeface="Arial" pitchFamily="34" charset="-120"/>
              </a:rPr>
              <a:t>Time to confirm</a:t>
            </a:r>
            <a:endParaRPr lang="en-US" sz="1050" dirty="0"/>
          </a:p>
        </p:txBody>
      </p:sp>
      <p:sp>
        <p:nvSpPr>
          <p:cNvPr id="17" name="Text 15"/>
          <p:cNvSpPr/>
          <p:nvPr/>
        </p:nvSpPr>
        <p:spPr>
          <a:xfrm>
            <a:off x="5358714" y="6310222"/>
            <a:ext cx="3500561" cy="188191"/>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7ED9A8"/>
                </a:solidFill>
                <a:latin typeface="DM Mono" pitchFamily="34" charset="0"/>
                <a:ea typeface="DM Mono" pitchFamily="34" charset="-122"/>
                <a:cs typeface="DM Mono" pitchFamily="34" charset="-120"/>
              </a:rPr>
              <a:t>▼ from 21 dys</a:t>
            </a:r>
            <a:endParaRPr lang="en-US" sz="900" dirty="0"/>
          </a:p>
        </p:txBody>
      </p:sp>
      <p:sp>
        <p:nvSpPr>
          <p:cNvPr id="18" name="Shape 16"/>
          <p:cNvSpPr/>
          <p:nvPr/>
        </p:nvSpPr>
        <p:spPr>
          <a:xfrm>
            <a:off x="9258281" y="4699270"/>
            <a:ext cx="3943404" cy="2506175"/>
          </a:xfrm>
          <a:prstGeom prst="roundRect">
            <a:avLst>
              <a:gd name="adj" fmla="val 10642"/>
            </a:avLst>
          </a:prstGeom>
          <a:solidFill>
            <a:srgbClr val="FFC83D"/>
          </a:solidFill>
          <a:ln/>
          <a:effectLst>
            <a:outerShdw sx="100000" sy="100000" kx="0" ky="0" algn="bl" rotWithShape="0" blurRad="342900" dist="133350" dir="5400000">
              <a:srgbClr val="000000">
                <a:alpha val="35000"/>
              </a:srgbClr>
            </a:outerShdw>
          </a:effectLst>
        </p:spPr>
      </p:sp>
      <p:sp>
        <p:nvSpPr>
          <p:cNvPr id="19" name="Text 17"/>
          <p:cNvSpPr/>
          <p:nvPr/>
        </p:nvSpPr>
        <p:spPr>
          <a:xfrm>
            <a:off x="9530682" y="4971671"/>
            <a:ext cx="3500561"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0F0F0F">
                    <a:alpha val="60000"/>
                  </a:srgbClr>
                </a:solidFill>
                <a:latin typeface="DM Mono" pitchFamily="34" charset="0"/>
                <a:ea typeface="DM Mono" pitchFamily="34" charset="-122"/>
                <a:cs typeface="DM Mono" pitchFamily="34" charset="-120"/>
              </a:rPr>
              <a:t>NORTH STAR</a:t>
            </a:r>
            <a:endParaRPr lang="en-US" sz="1050" dirty="0"/>
          </a:p>
        </p:txBody>
      </p:sp>
      <p:sp>
        <p:nvSpPr>
          <p:cNvPr id="20" name="Text 18"/>
          <p:cNvSpPr/>
          <p:nvPr/>
        </p:nvSpPr>
        <p:spPr>
          <a:xfrm>
            <a:off x="9530682" y="5278167"/>
            <a:ext cx="3500561" cy="723882"/>
          </a:xfrm>
          <a:prstGeom prst="rect">
            <a:avLst/>
          </a:prstGeom>
          <a:noFill/>
          <a:ln/>
        </p:spPr>
        <p:txBody>
          <a:bodyPr wrap="square" lIns="25400" tIns="25400" rIns="25400" bIns="25400" rtlCol="0" anchor="t">
            <a:normAutofit/>
          </a:bodyPr>
          <a:lstStyle/>
          <a:p>
            <a:pPr algn="l" indent="0" marL="0">
              <a:lnSpc>
                <a:spcPct val="90000"/>
              </a:lnSpc>
              <a:buNone/>
            </a:pPr>
            <a:r>
              <a:rPr lang="en-US" sz="6000" b="1" spc="-150" kern="0" dirty="0">
                <a:solidFill>
                  <a:srgbClr val="0F0F0F"/>
                </a:solidFill>
                <a:latin typeface="Arial" pitchFamily="34" charset="0"/>
                <a:ea typeface="Arial" pitchFamily="34" charset="-122"/>
                <a:cs typeface="Arial" pitchFamily="34" charset="-120"/>
              </a:rPr>
              <a:t>63</a:t>
            </a:r>
            <a:pPr algn="l" indent="0" marL="0">
              <a:lnSpc>
                <a:spcPct val="90000"/>
              </a:lnSpc>
              <a:buNone/>
            </a:pPr>
            <a:r>
              <a:rPr lang="en-US" sz="2400" b="1" spc="-150" kern="0" dirty="0">
                <a:solidFill>
                  <a:srgbClr val="0F0F0F">
                    <a:alpha val="60000"/>
                  </a:srgbClr>
                </a:solidFill>
                <a:latin typeface="Arial" pitchFamily="34" charset="0"/>
                <a:ea typeface="Arial" pitchFamily="34" charset="-122"/>
                <a:cs typeface="Arial" pitchFamily="34" charset="-120"/>
              </a:rPr>
              <a:t>%</a:t>
            </a:r>
            <a:endParaRPr lang="en-US" sz="6000" dirty="0"/>
          </a:p>
        </p:txBody>
      </p:sp>
      <p:sp>
        <p:nvSpPr>
          <p:cNvPr id="21" name="Text 19"/>
          <p:cNvSpPr/>
          <p:nvPr/>
        </p:nvSpPr>
        <p:spPr>
          <a:xfrm>
            <a:off x="9530682" y="6040076"/>
            <a:ext cx="3500561" cy="193964"/>
          </a:xfrm>
          <a:prstGeom prst="rect">
            <a:avLst/>
          </a:prstGeom>
          <a:noFill/>
          <a:ln/>
        </p:spPr>
        <p:txBody>
          <a:bodyPr wrap="square" lIns="25400" tIns="25400" rIns="25400" bIns="25400" rtlCol="0" anchor="t">
            <a:normAutofit/>
          </a:bodyPr>
          <a:lstStyle/>
          <a:p>
            <a:pPr algn="l" indent="0" marL="0">
              <a:buNone/>
            </a:pPr>
            <a:r>
              <a:rPr lang="en-US" sz="1050" dirty="0">
                <a:solidFill>
                  <a:srgbClr val="0F0F0F">
                    <a:alpha val="78000"/>
                  </a:srgbClr>
                </a:solidFill>
                <a:latin typeface="Arial" pitchFamily="34" charset="0"/>
                <a:ea typeface="Arial" pitchFamily="34" charset="-122"/>
                <a:cs typeface="Arial" pitchFamily="34" charset="-120"/>
              </a:rPr>
              <a:t>On-platform GMV share</a:t>
            </a:r>
            <a:endParaRPr lang="en-US" sz="1050" dirty="0"/>
          </a:p>
        </p:txBody>
      </p:sp>
      <p:sp>
        <p:nvSpPr>
          <p:cNvPr id="22" name="Text 20"/>
          <p:cNvSpPr/>
          <p:nvPr/>
        </p:nvSpPr>
        <p:spPr>
          <a:xfrm>
            <a:off x="9530682" y="6310222"/>
            <a:ext cx="3500561" cy="188191"/>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0F0F0F">
                    <a:alpha val="70000"/>
                  </a:srgbClr>
                </a:solidFill>
                <a:latin typeface="DM Mono" pitchFamily="34" charset="0"/>
                <a:ea typeface="DM Mono" pitchFamily="34" charset="-122"/>
                <a:cs typeface="DM Mono" pitchFamily="34" charset="-120"/>
              </a:rPr>
              <a:t>INVERSE OF LEAKAGE</a:t>
            </a:r>
            <a:endParaRPr lang="en-US" sz="900" dirty="0"/>
          </a:p>
        </p:txBody>
      </p:sp>
      <p:sp>
        <p:nvSpPr>
          <p:cNvPr id="23" name="Shape 21"/>
          <p:cNvSpPr/>
          <p:nvPr/>
        </p:nvSpPr>
        <p:spPr>
          <a:xfrm>
            <a:off x="13430249" y="4699270"/>
            <a:ext cx="3943404" cy="2506175"/>
          </a:xfrm>
          <a:prstGeom prst="roundRect">
            <a:avLst>
              <a:gd name="adj" fmla="val 10642"/>
            </a:avLst>
          </a:prstGeom>
          <a:solidFill>
            <a:srgbClr val="1E1E1E"/>
          </a:solidFill>
          <a:ln w="5773">
            <a:solidFill>
              <a:srgbClr val="FFFFFF">
                <a:alpha val="8000"/>
              </a:srgbClr>
            </a:solidFill>
            <a:prstDash val="solid"/>
          </a:ln>
          <a:effectLst>
            <a:outerShdw sx="100000" sy="100000" kx="0" ky="0" algn="bl" rotWithShape="0" blurRad="342900" dist="133350" dir="5400000">
              <a:srgbClr val="000000">
                <a:alpha val="35000"/>
              </a:srgbClr>
            </a:outerShdw>
          </a:effectLst>
        </p:spPr>
      </p:sp>
      <p:sp>
        <p:nvSpPr>
          <p:cNvPr id="24" name="Text 22"/>
          <p:cNvSpPr/>
          <p:nvPr/>
        </p:nvSpPr>
        <p:spPr>
          <a:xfrm>
            <a:off x="13702650" y="4971671"/>
            <a:ext cx="3500561"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QUALITY</a:t>
            </a:r>
            <a:endParaRPr lang="en-US" sz="1050" dirty="0"/>
          </a:p>
        </p:txBody>
      </p:sp>
      <p:sp>
        <p:nvSpPr>
          <p:cNvPr id="25" name="Text 23"/>
          <p:cNvSpPr/>
          <p:nvPr/>
        </p:nvSpPr>
        <p:spPr>
          <a:xfrm>
            <a:off x="13702650" y="5278167"/>
            <a:ext cx="3500561" cy="723882"/>
          </a:xfrm>
          <a:prstGeom prst="rect">
            <a:avLst/>
          </a:prstGeom>
          <a:noFill/>
          <a:ln/>
        </p:spPr>
        <p:txBody>
          <a:bodyPr wrap="square" lIns="25400" tIns="25400" rIns="25400" bIns="25400" rtlCol="0" anchor="t">
            <a:normAutofit/>
          </a:bodyPr>
          <a:lstStyle/>
          <a:p>
            <a:pPr algn="l" indent="0" marL="0">
              <a:lnSpc>
                <a:spcPct val="90000"/>
              </a:lnSpc>
              <a:buNone/>
            </a:pPr>
            <a:r>
              <a:rPr lang="en-US" sz="6000" b="1" spc="-150" kern="0" dirty="0">
                <a:solidFill>
                  <a:srgbClr val="FFFFFF"/>
                </a:solidFill>
                <a:latin typeface="Arial" pitchFamily="34" charset="0"/>
                <a:ea typeface="Arial" pitchFamily="34" charset="-122"/>
                <a:cs typeface="Arial" pitchFamily="34" charset="-120"/>
              </a:rPr>
              <a:t>11</a:t>
            </a:r>
            <a:pPr algn="l" indent="0" marL="0">
              <a:lnSpc>
                <a:spcPct val="90000"/>
              </a:lnSpc>
              <a:buNone/>
            </a:pPr>
            <a:r>
              <a:rPr lang="en-US" sz="2400" b="1" spc="-150" kern="0" dirty="0">
                <a:solidFill>
                  <a:srgbClr val="888888"/>
                </a:solidFill>
                <a:latin typeface="Arial" pitchFamily="34" charset="0"/>
                <a:ea typeface="Arial" pitchFamily="34" charset="-122"/>
                <a:cs typeface="Arial" pitchFamily="34" charset="-120"/>
              </a:rPr>
              <a:t>mo</a:t>
            </a:r>
            <a:endParaRPr lang="en-US" sz="6000" dirty="0"/>
          </a:p>
        </p:txBody>
      </p:sp>
      <p:sp>
        <p:nvSpPr>
          <p:cNvPr id="26" name="Text 24"/>
          <p:cNvSpPr/>
          <p:nvPr/>
        </p:nvSpPr>
        <p:spPr>
          <a:xfrm>
            <a:off x="13702650" y="6040076"/>
            <a:ext cx="3500561" cy="193964"/>
          </a:xfrm>
          <a:prstGeom prst="rect">
            <a:avLst/>
          </a:prstGeom>
          <a:noFill/>
          <a:ln/>
        </p:spPr>
        <p:txBody>
          <a:bodyPr wrap="square" lIns="25400" tIns="25400" rIns="25400" bIns="25400" rtlCol="0" anchor="t">
            <a:normAutofit/>
          </a:bodyPr>
          <a:lstStyle/>
          <a:p>
            <a:pPr algn="l" indent="0" marL="0">
              <a:buNone/>
            </a:pPr>
            <a:r>
              <a:rPr lang="en-US" sz="1050" dirty="0">
                <a:solidFill>
                  <a:srgbClr val="C8C8C8"/>
                </a:solidFill>
                <a:latin typeface="Arial" pitchFamily="34" charset="0"/>
                <a:ea typeface="Arial" pitchFamily="34" charset="-122"/>
                <a:cs typeface="Arial" pitchFamily="34" charset="-120"/>
              </a:rPr>
              <a:t>Median student retention</a:t>
            </a:r>
            <a:endParaRPr lang="en-US" sz="1050" dirty="0"/>
          </a:p>
        </p:txBody>
      </p:sp>
      <p:sp>
        <p:nvSpPr>
          <p:cNvPr id="27" name="Text 25"/>
          <p:cNvSpPr/>
          <p:nvPr/>
        </p:nvSpPr>
        <p:spPr>
          <a:xfrm>
            <a:off x="13702650" y="6310222"/>
            <a:ext cx="3500561" cy="188191"/>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7ED9A8"/>
                </a:solidFill>
                <a:latin typeface="DM Mono" pitchFamily="34" charset="0"/>
                <a:ea typeface="DM Mono" pitchFamily="34" charset="-122"/>
                <a:cs typeface="DM Mono" pitchFamily="34" charset="-120"/>
              </a:rPr>
              <a:t>Incumbent: ~6 mo</a:t>
            </a:r>
            <a:endParaRPr lang="en-US" sz="900" dirty="0"/>
          </a:p>
        </p:txBody>
      </p:sp>
      <p:sp>
        <p:nvSpPr>
          <p:cNvPr id="28" name="Shape 26"/>
          <p:cNvSpPr/>
          <p:nvPr/>
        </p:nvSpPr>
        <p:spPr>
          <a:xfrm>
            <a:off x="914346" y="7548292"/>
            <a:ext cx="5372153" cy="533256"/>
          </a:xfrm>
          <a:prstGeom prst="roundRect">
            <a:avLst>
              <a:gd name="adj" fmla="val 28579"/>
            </a:avLst>
          </a:prstGeom>
          <a:solidFill>
            <a:srgbClr val="FFFFFF">
              <a:alpha val="3000"/>
            </a:srgbClr>
          </a:solidFill>
          <a:ln w="5773">
            <a:solidFill>
              <a:srgbClr val="FFFFFF">
                <a:alpha val="8000"/>
              </a:srgbClr>
            </a:solidFill>
            <a:prstDash val="solid"/>
          </a:ln>
        </p:spPr>
      </p:sp>
      <p:sp>
        <p:nvSpPr>
          <p:cNvPr id="29" name="Shape 27"/>
          <p:cNvSpPr/>
          <p:nvPr/>
        </p:nvSpPr>
        <p:spPr>
          <a:xfrm>
            <a:off x="1129651" y="7776856"/>
            <a:ext cx="76128" cy="76128"/>
          </a:xfrm>
          <a:prstGeom prst="ellipse">
            <a:avLst/>
          </a:prstGeom>
          <a:solidFill>
            <a:srgbClr val="FFC83D"/>
          </a:solidFill>
          <a:ln/>
        </p:spPr>
      </p:sp>
      <p:sp>
        <p:nvSpPr>
          <p:cNvPr id="30" name="Text 28"/>
          <p:cNvSpPr/>
          <p:nvPr/>
        </p:nvSpPr>
        <p:spPr>
          <a:xfrm>
            <a:off x="1339092" y="7725442"/>
            <a:ext cx="1914453" cy="217055"/>
          </a:xfrm>
          <a:prstGeom prst="rect">
            <a:avLst/>
          </a:prstGeom>
          <a:noFill/>
          <a:ln/>
        </p:spPr>
        <p:txBody>
          <a:bodyPr wrap="square" lIns="25400" tIns="25400" rIns="25400" bIns="25400" rtlCol="0" anchor="t">
            <a:normAutofit/>
          </a:bodyPr>
          <a:lstStyle/>
          <a:p>
            <a:pPr algn="l" indent="0" marL="0">
              <a:buNone/>
            </a:pPr>
            <a:r>
              <a:rPr lang="en-US" sz="1200" dirty="0">
                <a:solidFill>
                  <a:srgbClr val="C8C8C8"/>
                </a:solidFill>
                <a:latin typeface="Arial" pitchFamily="34" charset="0"/>
                <a:ea typeface="Arial" pitchFamily="34" charset="-122"/>
                <a:cs typeface="Arial" pitchFamily="34" charset="-120"/>
              </a:rPr>
              <a:t>Verification-completion rate</a:t>
            </a:r>
            <a:endParaRPr lang="en-US" sz="1200" dirty="0"/>
          </a:p>
        </p:txBody>
      </p:sp>
      <p:sp>
        <p:nvSpPr>
          <p:cNvPr id="31" name="Shape 29"/>
          <p:cNvSpPr/>
          <p:nvPr/>
        </p:nvSpPr>
        <p:spPr>
          <a:xfrm>
            <a:off x="6457877" y="7548292"/>
            <a:ext cx="5372153" cy="533256"/>
          </a:xfrm>
          <a:prstGeom prst="roundRect">
            <a:avLst>
              <a:gd name="adj" fmla="val 28579"/>
            </a:avLst>
          </a:prstGeom>
          <a:solidFill>
            <a:srgbClr val="FFFFFF">
              <a:alpha val="3000"/>
            </a:srgbClr>
          </a:solidFill>
          <a:ln w="5773">
            <a:solidFill>
              <a:srgbClr val="FFFFFF">
                <a:alpha val="8000"/>
              </a:srgbClr>
            </a:solidFill>
            <a:prstDash val="solid"/>
          </a:ln>
        </p:spPr>
      </p:sp>
      <p:sp>
        <p:nvSpPr>
          <p:cNvPr id="32" name="Shape 30"/>
          <p:cNvSpPr/>
          <p:nvPr/>
        </p:nvSpPr>
        <p:spPr>
          <a:xfrm>
            <a:off x="6673182" y="7776856"/>
            <a:ext cx="76128" cy="76128"/>
          </a:xfrm>
          <a:prstGeom prst="ellipse">
            <a:avLst/>
          </a:prstGeom>
          <a:solidFill>
            <a:srgbClr val="FFC83D"/>
          </a:solidFill>
          <a:ln/>
        </p:spPr>
      </p:sp>
      <p:sp>
        <p:nvSpPr>
          <p:cNvPr id="33" name="Text 31"/>
          <p:cNvSpPr/>
          <p:nvPr/>
        </p:nvSpPr>
        <p:spPr>
          <a:xfrm>
            <a:off x="6882624" y="7725442"/>
            <a:ext cx="1406363" cy="217055"/>
          </a:xfrm>
          <a:prstGeom prst="rect">
            <a:avLst/>
          </a:prstGeom>
          <a:noFill/>
          <a:ln/>
        </p:spPr>
        <p:txBody>
          <a:bodyPr wrap="square" lIns="25400" tIns="25400" rIns="25400" bIns="25400" rtlCol="0" anchor="t">
            <a:normAutofit/>
          </a:bodyPr>
          <a:lstStyle/>
          <a:p>
            <a:pPr algn="l" indent="0" marL="0">
              <a:buNone/>
            </a:pPr>
            <a:r>
              <a:rPr lang="en-US" sz="1200" dirty="0">
                <a:solidFill>
                  <a:srgbClr val="C8C8C8"/>
                </a:solidFill>
                <a:latin typeface="Arial" pitchFamily="34" charset="0"/>
                <a:ea typeface="Arial" pitchFamily="34" charset="-122"/>
                <a:cs typeface="Arial" pitchFamily="34" charset="-120"/>
              </a:rPr>
              <a:t>Applications per job</a:t>
            </a:r>
            <a:endParaRPr lang="en-US" sz="1200" dirty="0"/>
          </a:p>
        </p:txBody>
      </p:sp>
      <p:sp>
        <p:nvSpPr>
          <p:cNvPr id="34" name="Shape 32"/>
          <p:cNvSpPr/>
          <p:nvPr/>
        </p:nvSpPr>
        <p:spPr>
          <a:xfrm>
            <a:off x="12001409" y="7548292"/>
            <a:ext cx="5372153" cy="533256"/>
          </a:xfrm>
          <a:prstGeom prst="roundRect">
            <a:avLst>
              <a:gd name="adj" fmla="val 28579"/>
            </a:avLst>
          </a:prstGeom>
          <a:solidFill>
            <a:srgbClr val="FFFFFF">
              <a:alpha val="3000"/>
            </a:srgbClr>
          </a:solidFill>
          <a:ln w="5773">
            <a:solidFill>
              <a:srgbClr val="FFFFFF">
                <a:alpha val="8000"/>
              </a:srgbClr>
            </a:solidFill>
            <a:prstDash val="solid"/>
          </a:ln>
        </p:spPr>
      </p:sp>
      <p:sp>
        <p:nvSpPr>
          <p:cNvPr id="35" name="Shape 33"/>
          <p:cNvSpPr/>
          <p:nvPr/>
        </p:nvSpPr>
        <p:spPr>
          <a:xfrm>
            <a:off x="12216714" y="7776856"/>
            <a:ext cx="76128" cy="76128"/>
          </a:xfrm>
          <a:prstGeom prst="ellipse">
            <a:avLst/>
          </a:prstGeom>
          <a:solidFill>
            <a:srgbClr val="FFC83D"/>
          </a:solidFill>
          <a:ln/>
        </p:spPr>
      </p:sp>
      <p:sp>
        <p:nvSpPr>
          <p:cNvPr id="36" name="Text 34"/>
          <p:cNvSpPr/>
          <p:nvPr/>
        </p:nvSpPr>
        <p:spPr>
          <a:xfrm>
            <a:off x="12426155" y="7725442"/>
            <a:ext cx="2007628" cy="217055"/>
          </a:xfrm>
          <a:prstGeom prst="rect">
            <a:avLst/>
          </a:prstGeom>
          <a:noFill/>
          <a:ln/>
        </p:spPr>
        <p:txBody>
          <a:bodyPr wrap="square" lIns="25400" tIns="25400" rIns="25400" bIns="25400" rtlCol="0" anchor="t">
            <a:normAutofit/>
          </a:bodyPr>
          <a:lstStyle/>
          <a:p>
            <a:pPr algn="l" indent="0" marL="0">
              <a:buNone/>
            </a:pPr>
            <a:r>
              <a:rPr lang="en-US" sz="1200" dirty="0">
                <a:solidFill>
                  <a:srgbClr val="C8C8C8"/>
                </a:solidFill>
                <a:latin typeface="Arial" pitchFamily="34" charset="0"/>
                <a:ea typeface="Arial" pitchFamily="34" charset="-122"/>
                <a:cs typeface="Arial" pitchFamily="34" charset="-120"/>
              </a:rPr>
              <a:t>Recurring-payment retention</a:t>
            </a:r>
            <a:endParaRPr lang="en-US" sz="1200" dirty="0"/>
          </a:p>
        </p:txBody>
      </p:sp>
      <p:sp>
        <p:nvSpPr>
          <p:cNvPr id="37" name="Shape 35"/>
          <p:cNvSpPr/>
          <p:nvPr/>
        </p:nvSpPr>
        <p:spPr>
          <a:xfrm>
            <a:off x="914346" y="8252925"/>
            <a:ext cx="5372153" cy="533256"/>
          </a:xfrm>
          <a:prstGeom prst="roundRect">
            <a:avLst>
              <a:gd name="adj" fmla="val 28579"/>
            </a:avLst>
          </a:prstGeom>
          <a:solidFill>
            <a:srgbClr val="FFFFFF">
              <a:alpha val="3000"/>
            </a:srgbClr>
          </a:solidFill>
          <a:ln w="5773">
            <a:solidFill>
              <a:srgbClr val="FFFFFF">
                <a:alpha val="8000"/>
              </a:srgbClr>
            </a:solidFill>
            <a:prstDash val="solid"/>
          </a:ln>
        </p:spPr>
      </p:sp>
      <p:sp>
        <p:nvSpPr>
          <p:cNvPr id="38" name="Shape 36"/>
          <p:cNvSpPr/>
          <p:nvPr/>
        </p:nvSpPr>
        <p:spPr>
          <a:xfrm>
            <a:off x="1129651" y="8481489"/>
            <a:ext cx="76128" cy="76128"/>
          </a:xfrm>
          <a:prstGeom prst="ellipse">
            <a:avLst/>
          </a:prstGeom>
          <a:solidFill>
            <a:srgbClr val="FFC83D"/>
          </a:solidFill>
          <a:ln/>
        </p:spPr>
      </p:sp>
      <p:sp>
        <p:nvSpPr>
          <p:cNvPr id="39" name="Text 37"/>
          <p:cNvSpPr/>
          <p:nvPr/>
        </p:nvSpPr>
        <p:spPr>
          <a:xfrm>
            <a:off x="1339092" y="8430076"/>
            <a:ext cx="1629154" cy="217055"/>
          </a:xfrm>
          <a:prstGeom prst="rect">
            <a:avLst/>
          </a:prstGeom>
          <a:noFill/>
          <a:ln/>
        </p:spPr>
        <p:txBody>
          <a:bodyPr wrap="square" lIns="25400" tIns="25400" rIns="25400" bIns="25400" rtlCol="0" anchor="t">
            <a:normAutofit/>
          </a:bodyPr>
          <a:lstStyle/>
          <a:p>
            <a:pPr algn="l" indent="0" marL="0">
              <a:buNone/>
            </a:pPr>
            <a:r>
              <a:rPr lang="en-US" sz="1200" dirty="0">
                <a:solidFill>
                  <a:srgbClr val="C8C8C8"/>
                </a:solidFill>
                <a:latin typeface="Arial" pitchFamily="34" charset="0"/>
                <a:ea typeface="Arial" pitchFamily="34" charset="-122"/>
                <a:cs typeface="Arial" pitchFamily="34" charset="-120"/>
              </a:rPr>
              <a:t>Tutor retention (12 mo)</a:t>
            </a:r>
            <a:endParaRPr lang="en-US" sz="1200" dirty="0"/>
          </a:p>
        </p:txBody>
      </p:sp>
      <p:sp>
        <p:nvSpPr>
          <p:cNvPr id="40" name="Shape 38"/>
          <p:cNvSpPr/>
          <p:nvPr/>
        </p:nvSpPr>
        <p:spPr>
          <a:xfrm>
            <a:off x="6457877" y="8252925"/>
            <a:ext cx="5372153" cy="533256"/>
          </a:xfrm>
          <a:prstGeom prst="roundRect">
            <a:avLst>
              <a:gd name="adj" fmla="val 28579"/>
            </a:avLst>
          </a:prstGeom>
          <a:solidFill>
            <a:srgbClr val="FFFFFF">
              <a:alpha val="3000"/>
            </a:srgbClr>
          </a:solidFill>
          <a:ln w="5773">
            <a:solidFill>
              <a:srgbClr val="FFFFFF">
                <a:alpha val="8000"/>
              </a:srgbClr>
            </a:solidFill>
            <a:prstDash val="solid"/>
          </a:ln>
        </p:spPr>
      </p:sp>
      <p:sp>
        <p:nvSpPr>
          <p:cNvPr id="41" name="Shape 39"/>
          <p:cNvSpPr/>
          <p:nvPr/>
        </p:nvSpPr>
        <p:spPr>
          <a:xfrm>
            <a:off x="6673182" y="8481489"/>
            <a:ext cx="76128" cy="76128"/>
          </a:xfrm>
          <a:prstGeom prst="ellipse">
            <a:avLst/>
          </a:prstGeom>
          <a:solidFill>
            <a:srgbClr val="FFC83D"/>
          </a:solidFill>
          <a:ln/>
        </p:spPr>
      </p:sp>
      <p:sp>
        <p:nvSpPr>
          <p:cNvPr id="42" name="Text 40"/>
          <p:cNvSpPr/>
          <p:nvPr/>
        </p:nvSpPr>
        <p:spPr>
          <a:xfrm>
            <a:off x="6882624" y="8430076"/>
            <a:ext cx="897912" cy="217055"/>
          </a:xfrm>
          <a:prstGeom prst="rect">
            <a:avLst/>
          </a:prstGeom>
          <a:noFill/>
          <a:ln/>
        </p:spPr>
        <p:txBody>
          <a:bodyPr wrap="square" lIns="25400" tIns="25400" rIns="25400" bIns="25400" rtlCol="0" anchor="t">
            <a:normAutofit/>
          </a:bodyPr>
          <a:lstStyle/>
          <a:p>
            <a:pPr algn="l" indent="0" marL="0">
              <a:buNone/>
            </a:pPr>
            <a:r>
              <a:rPr lang="en-US" sz="1200" dirty="0">
                <a:solidFill>
                  <a:srgbClr val="C8C8C8"/>
                </a:solidFill>
                <a:latin typeface="Arial" pitchFamily="34" charset="0"/>
                <a:ea typeface="Arial" pitchFamily="34" charset="-122"/>
                <a:cs typeface="Arial" pitchFamily="34" charset="-120"/>
              </a:rPr>
              <a:t>Dispute rate</a:t>
            </a:r>
            <a:endParaRPr lang="en-US" sz="1200" dirty="0"/>
          </a:p>
        </p:txBody>
      </p:sp>
      <p:sp>
        <p:nvSpPr>
          <p:cNvPr id="43" name="Shape 41"/>
          <p:cNvSpPr/>
          <p:nvPr/>
        </p:nvSpPr>
        <p:spPr>
          <a:xfrm>
            <a:off x="12001409" y="8252925"/>
            <a:ext cx="5372153" cy="533256"/>
          </a:xfrm>
          <a:prstGeom prst="roundRect">
            <a:avLst>
              <a:gd name="adj" fmla="val 28579"/>
            </a:avLst>
          </a:prstGeom>
          <a:solidFill>
            <a:srgbClr val="FFFFFF">
              <a:alpha val="3000"/>
            </a:srgbClr>
          </a:solidFill>
          <a:ln w="5773">
            <a:solidFill>
              <a:srgbClr val="FFFFFF">
                <a:alpha val="8000"/>
              </a:srgbClr>
            </a:solidFill>
            <a:prstDash val="solid"/>
          </a:ln>
        </p:spPr>
      </p:sp>
      <p:sp>
        <p:nvSpPr>
          <p:cNvPr id="44" name="Shape 42"/>
          <p:cNvSpPr/>
          <p:nvPr/>
        </p:nvSpPr>
        <p:spPr>
          <a:xfrm>
            <a:off x="12216714" y="8481489"/>
            <a:ext cx="76128" cy="76128"/>
          </a:xfrm>
          <a:prstGeom prst="ellipse">
            <a:avLst/>
          </a:prstGeom>
          <a:solidFill>
            <a:srgbClr val="FFC83D"/>
          </a:solidFill>
          <a:ln/>
        </p:spPr>
      </p:sp>
      <p:sp>
        <p:nvSpPr>
          <p:cNvPr id="45" name="Text 43"/>
          <p:cNvSpPr/>
          <p:nvPr/>
        </p:nvSpPr>
        <p:spPr>
          <a:xfrm>
            <a:off x="12426155" y="8430076"/>
            <a:ext cx="2409193" cy="217055"/>
          </a:xfrm>
          <a:prstGeom prst="rect">
            <a:avLst/>
          </a:prstGeom>
          <a:noFill/>
          <a:ln/>
        </p:spPr>
        <p:txBody>
          <a:bodyPr wrap="square" lIns="25400" tIns="25400" rIns="25400" bIns="25400" rtlCol="0" anchor="t">
            <a:normAutofit/>
          </a:bodyPr>
          <a:lstStyle/>
          <a:p>
            <a:pPr algn="l" indent="0" marL="0">
              <a:buNone/>
            </a:pPr>
            <a:r>
              <a:rPr lang="en-US" sz="1200" dirty="0">
                <a:solidFill>
                  <a:srgbClr val="C8C8C8"/>
                </a:solidFill>
                <a:latin typeface="Arial" pitchFamily="34" charset="0"/>
                <a:ea typeface="Arial" pitchFamily="34" charset="-122"/>
                <a:cs typeface="Arial" pitchFamily="34" charset="-120"/>
              </a:rPr>
              <a:t>Referral rate · vs incumbent's 20%</a:t>
            </a:r>
            <a:endParaRPr lang="en-US" sz="1200" dirty="0"/>
          </a:p>
        </p:txBody>
      </p:sp>
      <p:sp>
        <p:nvSpPr>
          <p:cNvPr id="46" name="Shape 44"/>
          <p:cNvSpPr/>
          <p:nvPr/>
        </p:nvSpPr>
        <p:spPr>
          <a:xfrm>
            <a:off x="914346" y="9129026"/>
            <a:ext cx="16459307" cy="9525"/>
          </a:xfrm>
          <a:prstGeom prst="rect">
            <a:avLst/>
          </a:prstGeom>
          <a:solidFill>
            <a:srgbClr val="FFFFFF">
              <a:alpha val="8000"/>
            </a:srgbClr>
          </a:solidFill>
          <a:ln/>
        </p:spPr>
      </p:sp>
      <p:sp>
        <p:nvSpPr>
          <p:cNvPr id="47" name="Text 45"/>
          <p:cNvSpPr/>
          <p:nvPr/>
        </p:nvSpPr>
        <p:spPr>
          <a:xfrm>
            <a:off x="914346" y="9363363"/>
            <a:ext cx="1450740"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INSTRUMENTATION</a:t>
            </a:r>
            <a:endParaRPr lang="en-US" sz="975" dirty="0"/>
          </a:p>
        </p:txBody>
      </p:sp>
      <p:sp>
        <p:nvSpPr>
          <p:cNvPr id="48" name="Text 46"/>
          <p:cNvSpPr/>
          <p:nvPr/>
        </p:nvSpPr>
        <p:spPr>
          <a:xfrm>
            <a:off x="16732159" y="9363363"/>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13 / 14</a:t>
            </a:r>
            <a:endParaRPr lang="en-US" sz="9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0F0F"/>
        </a:solidFill>
      </p:bgPr>
    </p:bg>
    <p:spTree>
      <p:nvGrpSpPr>
        <p:cNvPr id="1" name=""/>
        <p:cNvGrpSpPr/>
        <p:nvPr/>
      </p:nvGrpSpPr>
      <p:grpSpPr>
        <a:xfrm>
          <a:off x="0" y="0"/>
          <a:ext cx="0" cy="0"/>
          <a:chOff x="0" y="0"/>
          <a:chExt cx="0" cy="0"/>
        </a:xfrm>
      </p:grpSpPr>
      <p:sp>
        <p:nvSpPr>
          <p:cNvPr id="2" name="Shape 0"/>
          <p:cNvSpPr/>
          <p:nvPr/>
        </p:nvSpPr>
        <p:spPr>
          <a:xfrm>
            <a:off x="914346" y="1186837"/>
            <a:ext cx="16459307" cy="9525"/>
          </a:xfrm>
          <a:prstGeom prst="rect">
            <a:avLst/>
          </a:prstGeom>
          <a:solidFill>
            <a:srgbClr val="FFFFFF">
              <a:alpha val="8000"/>
            </a:srgbClr>
          </a:solidFill>
          <a:ln/>
        </p:spPr>
      </p:sp>
      <p:sp>
        <p:nvSpPr>
          <p:cNvPr id="3" name="Shape 1"/>
          <p:cNvSpPr/>
          <p:nvPr/>
        </p:nvSpPr>
        <p:spPr>
          <a:xfrm>
            <a:off x="914346" y="822072"/>
            <a:ext cx="76128" cy="76128"/>
          </a:xfrm>
          <a:prstGeom prst="ellipse">
            <a:avLst/>
          </a:prstGeom>
          <a:solidFill>
            <a:srgbClr val="FFC83D"/>
          </a:solidFill>
          <a:ln/>
        </p:spPr>
      </p:sp>
      <p:sp>
        <p:nvSpPr>
          <p:cNvPr id="4" name="Text 2"/>
          <p:cNvSpPr/>
          <p:nvPr/>
        </p:nvSpPr>
        <p:spPr>
          <a:xfrm>
            <a:off x="1104756" y="762000"/>
            <a:ext cx="1052693" cy="234373"/>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DM Sans" pitchFamily="34" charset="0"/>
                <a:ea typeface="DM Sans" pitchFamily="34" charset="-122"/>
                <a:cs typeface="DM Sans" pitchFamily="34" charset="-120"/>
              </a:rPr>
              <a:t>Tution</a:t>
            </a:r>
            <a:pPr algn="l" indent="0" marL="0">
              <a:buNone/>
            </a:pPr>
            <a:r>
              <a:rPr lang="en-US" sz="1200" b="1" dirty="0">
                <a:solidFill>
                  <a:srgbClr val="FFC83D"/>
                </a:solidFill>
                <a:latin typeface="DM Sans" pitchFamily="34" charset="0"/>
                <a:ea typeface="DM Sans" pitchFamily="34" charset="-122"/>
                <a:cs typeface="DM Sans" pitchFamily="34" charset="-120"/>
              </a:rPr>
              <a:t>.</a:t>
            </a:r>
            <a:pPr algn="l" indent="0" marL="0">
              <a:buNone/>
            </a:pPr>
            <a:r>
              <a:rPr lang="en-US" sz="1200" b="1" dirty="0">
                <a:solidFill>
                  <a:srgbClr val="FFFFFF"/>
                </a:solidFill>
                <a:latin typeface="DM Sans" pitchFamily="34" charset="0"/>
                <a:ea typeface="DM Sans" pitchFamily="34" charset="-122"/>
                <a:cs typeface="DM Sans" pitchFamily="34" charset="-120"/>
              </a:rPr>
              <a:t>media</a:t>
            </a:r>
            <a:endParaRPr lang="en-US" sz="1200" dirty="0"/>
          </a:p>
        </p:txBody>
      </p:sp>
      <p:sp>
        <p:nvSpPr>
          <p:cNvPr id="5" name="Text 3"/>
          <p:cNvSpPr/>
          <p:nvPr/>
        </p:nvSpPr>
        <p:spPr>
          <a:xfrm>
            <a:off x="16333480" y="773545"/>
            <a:ext cx="1116373" cy="211282"/>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888888"/>
                </a:solidFill>
                <a:latin typeface="DM Mono" pitchFamily="34" charset="0"/>
                <a:ea typeface="DM Mono" pitchFamily="34" charset="-122"/>
                <a:cs typeface="DM Mono" pitchFamily="34" charset="-120"/>
              </a:rPr>
              <a:t>14 · CLOSE</a:t>
            </a:r>
            <a:endParaRPr lang="en-US" sz="1050" dirty="0"/>
          </a:p>
        </p:txBody>
      </p:sp>
      <p:sp>
        <p:nvSpPr>
          <p:cNvPr id="6" name="Text 4"/>
          <p:cNvSpPr/>
          <p:nvPr/>
        </p:nvSpPr>
        <p:spPr>
          <a:xfrm>
            <a:off x="914346" y="1954609"/>
            <a:ext cx="16953086" cy="211282"/>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88888"/>
                </a:solidFill>
                <a:latin typeface="DM Mono" pitchFamily="34" charset="0"/>
                <a:ea typeface="DM Mono" pitchFamily="34" charset="-122"/>
                <a:cs typeface="DM Mono" pitchFamily="34" charset="-120"/>
              </a:rPr>
              <a:t>WHY US · WHY NOW</a:t>
            </a:r>
            <a:endParaRPr lang="en-US" sz="1050" dirty="0"/>
          </a:p>
        </p:txBody>
      </p:sp>
      <p:sp>
        <p:nvSpPr>
          <p:cNvPr id="7" name="Text 5"/>
          <p:cNvSpPr/>
          <p:nvPr/>
        </p:nvSpPr>
        <p:spPr>
          <a:xfrm>
            <a:off x="914346" y="2699291"/>
            <a:ext cx="16953086" cy="4564279"/>
          </a:xfrm>
          <a:prstGeom prst="rect">
            <a:avLst/>
          </a:prstGeom>
          <a:noFill/>
          <a:ln/>
        </p:spPr>
        <p:txBody>
          <a:bodyPr wrap="square" lIns="25400" tIns="25400" rIns="25400" bIns="25400" rtlCol="0" anchor="t">
            <a:normAutofit/>
          </a:bodyPr>
          <a:lstStyle/>
          <a:p>
            <a:pPr algn="l" indent="0" marL="0">
              <a:lnSpc>
                <a:spcPct val="90000"/>
              </a:lnSpc>
              <a:buNone/>
            </a:pPr>
            <a:r>
              <a:rPr lang="en-US" sz="9900" b="1" spc="-445" kern="0" dirty="0">
                <a:solidFill>
                  <a:srgbClr val="FFFFFF"/>
                </a:solidFill>
                <a:latin typeface="DM Sans" pitchFamily="34" charset="0"/>
                <a:ea typeface="DM Sans" pitchFamily="34" charset="-122"/>
                <a:cs typeface="DM Sans" pitchFamily="34" charset="-120"/>
              </a:rPr>
              <a:t>We out-engineer 13 years of inertia by owning what the incumbent </a:t>
            </a:r>
            <a:pPr algn="l" indent="0" marL="0">
              <a:lnSpc>
                <a:spcPct val="90000"/>
              </a:lnSpc>
              <a:buNone/>
            </a:pPr>
            <a:r>
              <a:rPr lang="en-US" sz="9900" b="1" spc="-445" kern="0" dirty="0">
                <a:solidFill>
                  <a:srgbClr val="FFC83D"/>
                </a:solidFill>
                <a:latin typeface="DM Sans" pitchFamily="34" charset="0"/>
                <a:ea typeface="DM Sans" pitchFamily="34" charset="-122"/>
                <a:cs typeface="DM Sans" pitchFamily="34" charset="-120"/>
              </a:rPr>
              <a:t>never bothered </a:t>
            </a:r>
            <a:pPr algn="l" indent="0" marL="0">
              <a:lnSpc>
                <a:spcPct val="90000"/>
              </a:lnSpc>
              <a:buNone/>
            </a:pPr>
            <a:r>
              <a:rPr lang="en-US" sz="9900" b="1" spc="-445" kern="0" dirty="0">
                <a:solidFill>
                  <a:srgbClr val="FFFFFF"/>
                </a:solidFill>
                <a:latin typeface="DM Sans" pitchFamily="34" charset="0"/>
                <a:ea typeface="DM Sans" pitchFamily="34" charset="-122"/>
                <a:cs typeface="DM Sans" pitchFamily="34" charset="-120"/>
              </a:rPr>
              <a:t>to.</a:t>
            </a:r>
            <a:endParaRPr lang="en-US" sz="9900" dirty="0"/>
          </a:p>
        </p:txBody>
      </p:sp>
      <p:sp>
        <p:nvSpPr>
          <p:cNvPr id="8" name="Text 6"/>
          <p:cNvSpPr/>
          <p:nvPr/>
        </p:nvSpPr>
        <p:spPr>
          <a:xfrm>
            <a:off x="914346" y="8177969"/>
            <a:ext cx="5467913"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ROUND SIZE</a:t>
            </a:r>
            <a:endParaRPr lang="en-US" sz="1050" dirty="0"/>
          </a:p>
        </p:txBody>
      </p:sp>
      <p:sp>
        <p:nvSpPr>
          <p:cNvPr id="9" name="Text 7"/>
          <p:cNvSpPr/>
          <p:nvPr/>
        </p:nvSpPr>
        <p:spPr>
          <a:xfrm>
            <a:off x="914346" y="8465433"/>
            <a:ext cx="5467913" cy="723882"/>
          </a:xfrm>
          <a:prstGeom prst="rect">
            <a:avLst/>
          </a:prstGeom>
          <a:noFill/>
          <a:ln/>
        </p:spPr>
        <p:txBody>
          <a:bodyPr wrap="square" lIns="25400" tIns="25400" rIns="25400" bIns="25400" rtlCol="0" anchor="t">
            <a:normAutofit/>
          </a:bodyPr>
          <a:lstStyle/>
          <a:p>
            <a:pPr algn="l" indent="0" marL="0">
              <a:lnSpc>
                <a:spcPct val="90000"/>
              </a:lnSpc>
              <a:buNone/>
            </a:pPr>
            <a:r>
              <a:rPr lang="en-US" sz="6000" b="1" spc="-150" kern="0" dirty="0">
                <a:solidFill>
                  <a:srgbClr val="FFFFFF"/>
                </a:solidFill>
                <a:latin typeface="Arial" pitchFamily="34" charset="0"/>
                <a:ea typeface="Arial" pitchFamily="34" charset="-122"/>
                <a:cs typeface="Arial" pitchFamily="34" charset="-120"/>
              </a:rPr>
              <a:t>$650k</a:t>
            </a:r>
            <a:endParaRPr lang="en-US" sz="6000" dirty="0"/>
          </a:p>
        </p:txBody>
      </p:sp>
      <p:sp>
        <p:nvSpPr>
          <p:cNvPr id="10" name="Text 8"/>
          <p:cNvSpPr/>
          <p:nvPr/>
        </p:nvSpPr>
        <p:spPr>
          <a:xfrm>
            <a:off x="914346" y="9246465"/>
            <a:ext cx="5467913" cy="266754"/>
          </a:xfrm>
          <a:prstGeom prst="rect">
            <a:avLst/>
          </a:prstGeom>
          <a:noFill/>
          <a:ln/>
        </p:spPr>
        <p:txBody>
          <a:bodyPr wrap="square" lIns="25400" tIns="25400" rIns="25400" bIns="25400" rtlCol="0" anchor="t">
            <a:normAutofit/>
          </a:bodyPr>
          <a:lstStyle/>
          <a:p>
            <a:pPr algn="l" indent="0" marL="0">
              <a:lnSpc>
                <a:spcPct val="150000"/>
              </a:lnSpc>
              <a:buNone/>
            </a:pPr>
            <a:r>
              <a:rPr lang="en-US" sz="1200" dirty="0">
                <a:solidFill>
                  <a:srgbClr val="C8C8C8"/>
                </a:solidFill>
                <a:latin typeface="Arial" pitchFamily="34" charset="0"/>
                <a:ea typeface="Arial" pitchFamily="34" charset="-122"/>
                <a:cs typeface="Arial" pitchFamily="34" charset="-120"/>
              </a:rPr>
              <a:t>18-month runway through V2 launch + 2 Dhaka clusters.</a:t>
            </a:r>
            <a:endParaRPr lang="en-US" sz="1200" dirty="0"/>
          </a:p>
        </p:txBody>
      </p:sp>
      <p:sp>
        <p:nvSpPr>
          <p:cNvPr id="11" name="Text 9"/>
          <p:cNvSpPr/>
          <p:nvPr/>
        </p:nvSpPr>
        <p:spPr>
          <a:xfrm>
            <a:off x="6489627" y="8177969"/>
            <a:ext cx="5467913"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USE OF FUNDS</a:t>
            </a:r>
            <a:endParaRPr lang="en-US" sz="1050" dirty="0"/>
          </a:p>
        </p:txBody>
      </p:sp>
      <p:sp>
        <p:nvSpPr>
          <p:cNvPr id="12" name="Text 10"/>
          <p:cNvSpPr/>
          <p:nvPr/>
        </p:nvSpPr>
        <p:spPr>
          <a:xfrm>
            <a:off x="6489627" y="8503497"/>
            <a:ext cx="940485" cy="251691"/>
          </a:xfrm>
          <a:prstGeom prst="rect">
            <a:avLst/>
          </a:prstGeom>
          <a:noFill/>
          <a:ln/>
        </p:spPr>
        <p:txBody>
          <a:bodyPr wrap="square" lIns="25400" tIns="25400" rIns="25400" bIns="25400" rtlCol="0" anchor="t">
            <a:normAutofit/>
          </a:bodyPr>
          <a:lstStyle/>
          <a:p>
            <a:pPr algn="l" indent="0" marL="0">
              <a:buNone/>
            </a:pPr>
            <a:r>
              <a:rPr lang="en-US" sz="1275" dirty="0">
                <a:solidFill>
                  <a:srgbClr val="FFFFFF"/>
                </a:solidFill>
                <a:latin typeface="Arial" pitchFamily="34" charset="0"/>
                <a:ea typeface="Arial" pitchFamily="34" charset="-122"/>
                <a:cs typeface="Arial" pitchFamily="34" charset="-120"/>
              </a:rPr>
              <a:t>Engineering</a:t>
            </a:r>
            <a:endParaRPr lang="en-US" sz="1275" dirty="0"/>
          </a:p>
        </p:txBody>
      </p:sp>
      <p:sp>
        <p:nvSpPr>
          <p:cNvPr id="13" name="Text 11"/>
          <p:cNvSpPr/>
          <p:nvPr/>
        </p:nvSpPr>
        <p:spPr>
          <a:xfrm>
            <a:off x="11506758" y="8503497"/>
            <a:ext cx="367723" cy="251691"/>
          </a:xfrm>
          <a:prstGeom prst="rect">
            <a:avLst/>
          </a:prstGeom>
          <a:noFill/>
          <a:ln/>
        </p:spPr>
        <p:txBody>
          <a:bodyPr wrap="square" lIns="25400" tIns="25400" rIns="25400" bIns="25400" rtlCol="0" anchor="t">
            <a:normAutofit/>
          </a:bodyPr>
          <a:lstStyle/>
          <a:p>
            <a:pPr algn="l" indent="0" marL="0">
              <a:buNone/>
            </a:pPr>
            <a:r>
              <a:rPr lang="en-US" sz="1275" dirty="0">
                <a:solidFill>
                  <a:srgbClr val="FFC83D"/>
                </a:solidFill>
                <a:latin typeface="DM Mono" pitchFamily="34" charset="0"/>
                <a:ea typeface="DM Mono" pitchFamily="34" charset="-122"/>
                <a:cs typeface="DM Mono" pitchFamily="34" charset="-120"/>
              </a:rPr>
              <a:t>42%</a:t>
            </a:r>
            <a:endParaRPr lang="en-US" sz="1275" dirty="0"/>
          </a:p>
        </p:txBody>
      </p:sp>
      <p:sp>
        <p:nvSpPr>
          <p:cNvPr id="14" name="Text 12"/>
          <p:cNvSpPr/>
          <p:nvPr/>
        </p:nvSpPr>
        <p:spPr>
          <a:xfrm>
            <a:off x="6489627" y="8793216"/>
            <a:ext cx="939944" cy="251691"/>
          </a:xfrm>
          <a:prstGeom prst="rect">
            <a:avLst/>
          </a:prstGeom>
          <a:noFill/>
          <a:ln/>
        </p:spPr>
        <p:txBody>
          <a:bodyPr wrap="square" lIns="25400" tIns="25400" rIns="25400" bIns="25400" rtlCol="0" anchor="t">
            <a:normAutofit/>
          </a:bodyPr>
          <a:lstStyle/>
          <a:p>
            <a:pPr algn="l" indent="0" marL="0">
              <a:buNone/>
            </a:pPr>
            <a:r>
              <a:rPr lang="en-US" sz="1275" dirty="0">
                <a:solidFill>
                  <a:srgbClr val="FFFFFF"/>
                </a:solidFill>
                <a:latin typeface="Arial" pitchFamily="34" charset="0"/>
                <a:ea typeface="Arial" pitchFamily="34" charset="-122"/>
                <a:cs typeface="Arial" pitchFamily="34" charset="-120"/>
              </a:rPr>
              <a:t>Ops &amp; CRM</a:t>
            </a:r>
            <a:endParaRPr lang="en-US" sz="1275" dirty="0"/>
          </a:p>
        </p:txBody>
      </p:sp>
      <p:sp>
        <p:nvSpPr>
          <p:cNvPr id="15" name="Text 13"/>
          <p:cNvSpPr/>
          <p:nvPr/>
        </p:nvSpPr>
        <p:spPr>
          <a:xfrm>
            <a:off x="11506758" y="8793216"/>
            <a:ext cx="367723" cy="251691"/>
          </a:xfrm>
          <a:prstGeom prst="rect">
            <a:avLst/>
          </a:prstGeom>
          <a:noFill/>
          <a:ln/>
        </p:spPr>
        <p:txBody>
          <a:bodyPr wrap="square" lIns="25400" tIns="25400" rIns="25400" bIns="25400" rtlCol="0" anchor="t">
            <a:normAutofit/>
          </a:bodyPr>
          <a:lstStyle/>
          <a:p>
            <a:pPr algn="l" indent="0" marL="0">
              <a:buNone/>
            </a:pPr>
            <a:r>
              <a:rPr lang="en-US" sz="1275" dirty="0">
                <a:solidFill>
                  <a:srgbClr val="FFC83D"/>
                </a:solidFill>
                <a:latin typeface="DM Mono" pitchFamily="34" charset="0"/>
                <a:ea typeface="DM Mono" pitchFamily="34" charset="-122"/>
                <a:cs typeface="DM Mono" pitchFamily="34" charset="-120"/>
              </a:rPr>
              <a:t>28%</a:t>
            </a:r>
            <a:endParaRPr lang="en-US" sz="1275" dirty="0"/>
          </a:p>
        </p:txBody>
      </p:sp>
      <p:sp>
        <p:nvSpPr>
          <p:cNvPr id="16" name="Text 14"/>
          <p:cNvSpPr/>
          <p:nvPr/>
        </p:nvSpPr>
        <p:spPr>
          <a:xfrm>
            <a:off x="6489627" y="9082935"/>
            <a:ext cx="787238" cy="251691"/>
          </a:xfrm>
          <a:prstGeom prst="rect">
            <a:avLst/>
          </a:prstGeom>
          <a:noFill/>
          <a:ln/>
        </p:spPr>
        <p:txBody>
          <a:bodyPr wrap="square" lIns="25400" tIns="25400" rIns="25400" bIns="25400" rtlCol="0" anchor="t">
            <a:normAutofit/>
          </a:bodyPr>
          <a:lstStyle/>
          <a:p>
            <a:pPr algn="l" indent="0" marL="0">
              <a:buNone/>
            </a:pPr>
            <a:r>
              <a:rPr lang="en-US" sz="1275" dirty="0">
                <a:solidFill>
                  <a:srgbClr val="FFFFFF"/>
                </a:solidFill>
                <a:latin typeface="Arial" pitchFamily="34" charset="0"/>
                <a:ea typeface="Arial" pitchFamily="34" charset="-122"/>
                <a:cs typeface="Arial" pitchFamily="34" charset="-120"/>
              </a:rPr>
              <a:t>Marketing</a:t>
            </a:r>
            <a:endParaRPr lang="en-US" sz="1275" dirty="0"/>
          </a:p>
        </p:txBody>
      </p:sp>
      <p:sp>
        <p:nvSpPr>
          <p:cNvPr id="17" name="Text 15"/>
          <p:cNvSpPr/>
          <p:nvPr/>
        </p:nvSpPr>
        <p:spPr>
          <a:xfrm>
            <a:off x="11506758" y="9082935"/>
            <a:ext cx="367723" cy="251691"/>
          </a:xfrm>
          <a:prstGeom prst="rect">
            <a:avLst/>
          </a:prstGeom>
          <a:noFill/>
          <a:ln/>
        </p:spPr>
        <p:txBody>
          <a:bodyPr wrap="square" lIns="25400" tIns="25400" rIns="25400" bIns="25400" rtlCol="0" anchor="t">
            <a:normAutofit/>
          </a:bodyPr>
          <a:lstStyle/>
          <a:p>
            <a:pPr algn="l" indent="0" marL="0">
              <a:buNone/>
            </a:pPr>
            <a:r>
              <a:rPr lang="en-US" sz="1275" dirty="0">
                <a:solidFill>
                  <a:srgbClr val="FFC83D"/>
                </a:solidFill>
                <a:latin typeface="DM Mono" pitchFamily="34" charset="0"/>
                <a:ea typeface="DM Mono" pitchFamily="34" charset="-122"/>
                <a:cs typeface="DM Mono" pitchFamily="34" charset="-120"/>
              </a:rPr>
              <a:t>18%</a:t>
            </a:r>
            <a:endParaRPr lang="en-US" sz="1275" dirty="0"/>
          </a:p>
        </p:txBody>
      </p:sp>
      <p:sp>
        <p:nvSpPr>
          <p:cNvPr id="18" name="Text 16"/>
          <p:cNvSpPr/>
          <p:nvPr/>
        </p:nvSpPr>
        <p:spPr>
          <a:xfrm>
            <a:off x="6489627" y="9372653"/>
            <a:ext cx="1192321" cy="251691"/>
          </a:xfrm>
          <a:prstGeom prst="rect">
            <a:avLst/>
          </a:prstGeom>
          <a:noFill/>
          <a:ln/>
        </p:spPr>
        <p:txBody>
          <a:bodyPr wrap="square" lIns="25400" tIns="25400" rIns="25400" bIns="25400" rtlCol="0" anchor="t">
            <a:normAutofit/>
          </a:bodyPr>
          <a:lstStyle/>
          <a:p>
            <a:pPr algn="l" indent="0" marL="0">
              <a:buNone/>
            </a:pPr>
            <a:r>
              <a:rPr lang="en-US" sz="1275" dirty="0">
                <a:solidFill>
                  <a:srgbClr val="FFFFFF"/>
                </a:solidFill>
                <a:latin typeface="Arial" pitchFamily="34" charset="0"/>
                <a:ea typeface="Arial" pitchFamily="34" charset="-122"/>
                <a:cs typeface="Arial" pitchFamily="34" charset="-120"/>
              </a:rPr>
              <a:t>Payment / legal</a:t>
            </a:r>
            <a:endParaRPr lang="en-US" sz="1275" dirty="0"/>
          </a:p>
        </p:txBody>
      </p:sp>
      <p:sp>
        <p:nvSpPr>
          <p:cNvPr id="19" name="Text 17"/>
          <p:cNvSpPr/>
          <p:nvPr/>
        </p:nvSpPr>
        <p:spPr>
          <a:xfrm>
            <a:off x="11506758" y="9372653"/>
            <a:ext cx="367723" cy="251691"/>
          </a:xfrm>
          <a:prstGeom prst="rect">
            <a:avLst/>
          </a:prstGeom>
          <a:noFill/>
          <a:ln/>
        </p:spPr>
        <p:txBody>
          <a:bodyPr wrap="square" lIns="25400" tIns="25400" rIns="25400" bIns="25400" rtlCol="0" anchor="t">
            <a:normAutofit/>
          </a:bodyPr>
          <a:lstStyle/>
          <a:p>
            <a:pPr algn="l" indent="0" marL="0">
              <a:buNone/>
            </a:pPr>
            <a:r>
              <a:rPr lang="en-US" sz="1275" dirty="0">
                <a:solidFill>
                  <a:srgbClr val="FFC83D"/>
                </a:solidFill>
                <a:latin typeface="DM Mono" pitchFamily="34" charset="0"/>
                <a:ea typeface="DM Mono" pitchFamily="34" charset="-122"/>
                <a:cs typeface="DM Mono" pitchFamily="34" charset="-120"/>
              </a:rPr>
              <a:t>12%</a:t>
            </a:r>
            <a:endParaRPr lang="en-US" sz="1275" dirty="0"/>
          </a:p>
        </p:txBody>
      </p:sp>
      <p:sp>
        <p:nvSpPr>
          <p:cNvPr id="20" name="Text 18"/>
          <p:cNvSpPr/>
          <p:nvPr/>
        </p:nvSpPr>
        <p:spPr>
          <a:xfrm>
            <a:off x="12064909" y="8177969"/>
            <a:ext cx="5467913" cy="211282"/>
          </a:xfrm>
          <a:prstGeom prst="rect">
            <a:avLst/>
          </a:prstGeom>
          <a:noFill/>
          <a:ln/>
        </p:spPr>
        <p:txBody>
          <a:bodyPr wrap="square" lIns="25400" tIns="25400" rIns="25400" bIns="25400" rtlCol="0" anchor="t">
            <a:normAutofit/>
          </a:bodyPr>
          <a:lstStyle/>
          <a:p>
            <a:pPr algn="l" indent="0" marL="0">
              <a:buNone/>
            </a:pPr>
            <a:r>
              <a:rPr lang="en-US" sz="1050" spc="126" kern="0" dirty="0">
                <a:solidFill>
                  <a:srgbClr val="888888"/>
                </a:solidFill>
                <a:latin typeface="DM Mono" pitchFamily="34" charset="0"/>
                <a:ea typeface="DM Mono" pitchFamily="34" charset="-122"/>
                <a:cs typeface="DM Mono" pitchFamily="34" charset="-120"/>
              </a:rPr>
              <a:t>NEXT 6 MONTHS</a:t>
            </a:r>
            <a:endParaRPr lang="en-US" sz="1050" dirty="0"/>
          </a:p>
        </p:txBody>
      </p:sp>
      <p:sp>
        <p:nvSpPr>
          <p:cNvPr id="21" name="Text 19"/>
          <p:cNvSpPr/>
          <p:nvPr/>
        </p:nvSpPr>
        <p:spPr>
          <a:xfrm>
            <a:off x="12064909" y="8503497"/>
            <a:ext cx="5467913" cy="28091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C8C8C8"/>
                </a:solidFill>
                <a:latin typeface="Arial" pitchFamily="34" charset="0"/>
                <a:ea typeface="Arial" pitchFamily="34" charset="-122"/>
                <a:cs typeface="Arial" pitchFamily="34" charset="-120"/>
              </a:rPr>
              <a:t>· Ship V1 in 2 clusters</a:t>
            </a:r>
            <a:endParaRPr lang="en-US" sz="1275" dirty="0"/>
          </a:p>
        </p:txBody>
      </p:sp>
      <p:sp>
        <p:nvSpPr>
          <p:cNvPr id="22" name="Text 20"/>
          <p:cNvSpPr/>
          <p:nvPr/>
        </p:nvSpPr>
        <p:spPr>
          <a:xfrm>
            <a:off x="12064909" y="8841563"/>
            <a:ext cx="5467913" cy="28091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C8C8C8"/>
                </a:solidFill>
                <a:latin typeface="Arial" pitchFamily="34" charset="0"/>
                <a:ea typeface="Arial" pitchFamily="34" charset="-122"/>
                <a:cs typeface="Arial" pitchFamily="34" charset="-120"/>
              </a:rPr>
              <a:t>· 1,200 verified tutors</a:t>
            </a:r>
            <a:endParaRPr lang="en-US" sz="1275" dirty="0"/>
          </a:p>
        </p:txBody>
      </p:sp>
      <p:sp>
        <p:nvSpPr>
          <p:cNvPr id="23" name="Text 21"/>
          <p:cNvSpPr/>
          <p:nvPr/>
        </p:nvSpPr>
        <p:spPr>
          <a:xfrm>
            <a:off x="12064909" y="9179628"/>
            <a:ext cx="5467913" cy="28091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C8C8C8"/>
                </a:solidFill>
                <a:latin typeface="Arial" pitchFamily="34" charset="0"/>
                <a:ea typeface="Arial" pitchFamily="34" charset="-122"/>
                <a:cs typeface="Arial" pitchFamily="34" charset="-120"/>
              </a:rPr>
              <a:t>· 350 active placements</a:t>
            </a:r>
            <a:endParaRPr lang="en-US" sz="1275" dirty="0"/>
          </a:p>
        </p:txBody>
      </p:sp>
      <p:sp>
        <p:nvSpPr>
          <p:cNvPr id="24" name="Text 22"/>
          <p:cNvSpPr/>
          <p:nvPr/>
        </p:nvSpPr>
        <p:spPr>
          <a:xfrm>
            <a:off x="12064909" y="9517693"/>
            <a:ext cx="5467913" cy="28091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C8C8C8"/>
                </a:solidFill>
                <a:latin typeface="Arial" pitchFamily="34" charset="0"/>
                <a:ea typeface="Arial" pitchFamily="34" charset="-122"/>
                <a:cs typeface="Arial" pitchFamily="34" charset="-120"/>
              </a:rPr>
              <a:t>· Validate ৳-recurring pilot</a:t>
            </a:r>
            <a:endParaRPr lang="en-US" sz="1275" dirty="0"/>
          </a:p>
        </p:txBody>
      </p:sp>
      <p:sp>
        <p:nvSpPr>
          <p:cNvPr id="25" name="Shape 23"/>
          <p:cNvSpPr/>
          <p:nvPr/>
        </p:nvSpPr>
        <p:spPr>
          <a:xfrm>
            <a:off x="914346" y="10560573"/>
            <a:ext cx="1436507" cy="436382"/>
          </a:xfrm>
          <a:prstGeom prst="roundRect">
            <a:avLst>
              <a:gd name="adj" fmla="val 50000"/>
            </a:avLst>
          </a:prstGeom>
          <a:solidFill>
            <a:srgbClr val="FFC83D"/>
          </a:solidFill>
          <a:ln/>
        </p:spPr>
      </p:sp>
      <p:sp>
        <p:nvSpPr>
          <p:cNvPr id="26" name="Text 24"/>
          <p:cNvSpPr/>
          <p:nvPr/>
        </p:nvSpPr>
        <p:spPr>
          <a:xfrm>
            <a:off x="1129669" y="10680646"/>
            <a:ext cx="1082061" cy="234337"/>
          </a:xfrm>
          <a:prstGeom prst="rect">
            <a:avLst/>
          </a:prstGeom>
          <a:noFill/>
          <a:ln/>
        </p:spPr>
        <p:txBody>
          <a:bodyPr wrap="square" lIns="25400" tIns="25400" rIns="25400" bIns="25400" rtlCol="0" anchor="ctr">
            <a:normAutofit/>
          </a:bodyPr>
          <a:lstStyle/>
          <a:p>
            <a:pPr algn="l" indent="0" marL="0">
              <a:buNone/>
            </a:pPr>
            <a:r>
              <a:rPr lang="en-US" sz="1200" spc="72" kern="0" dirty="0">
                <a:solidFill>
                  <a:srgbClr val="0F0F0F"/>
                </a:solidFill>
                <a:latin typeface="DM Mono" pitchFamily="34" charset="0"/>
                <a:ea typeface="DM Mono" pitchFamily="34" charset="-122"/>
                <a:cs typeface="DM Mono" pitchFamily="34" charset="-120"/>
              </a:rPr>
              <a:t>LET'S TALK</a:t>
            </a:r>
            <a:endParaRPr lang="en-US" sz="1200" dirty="0"/>
          </a:p>
        </p:txBody>
      </p:sp>
      <p:sp>
        <p:nvSpPr>
          <p:cNvPr id="27" name="Text 25"/>
          <p:cNvSpPr/>
          <p:nvPr/>
        </p:nvSpPr>
        <p:spPr>
          <a:xfrm>
            <a:off x="2503199" y="10680627"/>
            <a:ext cx="4247701" cy="234373"/>
          </a:xfrm>
          <a:prstGeom prst="rect">
            <a:avLst/>
          </a:prstGeom>
          <a:noFill/>
          <a:ln/>
        </p:spPr>
        <p:txBody>
          <a:bodyPr wrap="square" lIns="25400" tIns="25400" rIns="25400" bIns="25400" rtlCol="0" anchor="t">
            <a:normAutofit/>
          </a:bodyPr>
          <a:lstStyle/>
          <a:p>
            <a:pPr algn="l" indent="0" marL="0">
              <a:buNone/>
            </a:pPr>
            <a:r>
              <a:rPr lang="en-US" sz="1200" spc="72" kern="0" dirty="0">
                <a:solidFill>
                  <a:srgbClr val="C8C8C8"/>
                </a:solidFill>
                <a:latin typeface="DM Mono" pitchFamily="34" charset="0"/>
                <a:ea typeface="DM Mono" pitchFamily="34" charset="-122"/>
                <a:cs typeface="DM Mono" pitchFamily="34" charset="-120"/>
              </a:rPr>
              <a:t>founders@tution.media · +880 1712 048 391</a:t>
            </a:r>
            <a:endParaRPr lang="en-US" sz="1200" dirty="0"/>
          </a:p>
        </p:txBody>
      </p:sp>
      <p:sp>
        <p:nvSpPr>
          <p:cNvPr id="28" name="Shape 26"/>
          <p:cNvSpPr/>
          <p:nvPr/>
        </p:nvSpPr>
        <p:spPr>
          <a:xfrm>
            <a:off x="914346" y="11758954"/>
            <a:ext cx="16459307" cy="9525"/>
          </a:xfrm>
          <a:prstGeom prst="rect">
            <a:avLst/>
          </a:prstGeom>
          <a:solidFill>
            <a:srgbClr val="FFFFFF">
              <a:alpha val="8000"/>
            </a:srgbClr>
          </a:solidFill>
          <a:ln/>
        </p:spPr>
      </p:sp>
      <p:sp>
        <p:nvSpPr>
          <p:cNvPr id="29" name="Text 27"/>
          <p:cNvSpPr/>
          <p:nvPr/>
        </p:nvSpPr>
        <p:spPr>
          <a:xfrm>
            <a:off x="914346" y="11993291"/>
            <a:ext cx="255026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CONFIDENTIAL · TUTION MEDIA</a:t>
            </a:r>
            <a:endParaRPr lang="en-US" sz="975" dirty="0"/>
          </a:p>
        </p:txBody>
      </p:sp>
      <p:sp>
        <p:nvSpPr>
          <p:cNvPr id="30" name="Text 28"/>
          <p:cNvSpPr/>
          <p:nvPr/>
        </p:nvSpPr>
        <p:spPr>
          <a:xfrm>
            <a:off x="16732159" y="11993291"/>
            <a:ext cx="717694" cy="199736"/>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88888"/>
                </a:solidFill>
                <a:latin typeface="DM Mono" pitchFamily="34" charset="0"/>
                <a:ea typeface="DM Mono" pitchFamily="34" charset="-122"/>
                <a:cs typeface="DM Mono" pitchFamily="34" charset="-120"/>
              </a:rPr>
              <a:t>14 / 14</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2026-05-25T05:41:20Z</dcterms:created>
  <dcterms:modified xsi:type="dcterms:W3CDTF">2026-05-25T05:41:20Z</dcterms:modified>
</cp:coreProperties>
</file>