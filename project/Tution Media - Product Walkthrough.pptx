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Tution Media product walkthrough. We're going to go screen by screen through the tutor app — the priority side of the marketplace, since this is a supply-first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Easy OTP signup. No documents required to start. We mirror the bKash mental model — value before friction. The tutor can browse, profile, and apply immediately. Verification happens later, when a real job is on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 builder. Subjects, levels, curricula, service areas at neighborhood granularity, weekly availability grid, and an optional 30-second intro video. The grid is what guardians see when they shortlist.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live job feed — the spine of the app. Match score on every card, live updates, push and SMS the instant a matching job posts. One-tap apply. The verification-nudge ribbon at top gates placement, not signup.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tracker. Tutors see the funnel — Applied, Shortlisted, Location granted, Trial booked, Confirmed. The current step is always actionable. Speed and transparency on this funnel is the tutor's #1 pain we 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verification ladder. Four tiers — Phone, NID, Education, Reference. Tier 0 is auto. Tier 2 is required before placement. Tier 3 unlocks premium-rate jobs. Visible badges on every application drive voluntary climbing.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near you. A live heatmap showing where requests are clustering and which subjects are trending. Tutors use it to expand their service areas to the highest-fill zones. Same data layer powers ops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Privacy-controlled location reveal. Before approval, only a fuzzed area pin shows. On approval, the exact address and Google Maps turn-by-turn navigation unlock — for that single tutor, for that single job. Scoped and revocable.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 + attendance. Tutors see their week, mark attendance per class, and watch earnings accumulate. Attendance logging is the link to payment — payment protection only fires when attendance is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Masked inbox. Every chat and call routes through the platform — guardians never see the tutor's phone number, and vice versa. Anti-leakage and anti-harassment in one mechanism. System messages confirm transitions like trial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Reputation profile. Verified ratings, on-time percentage, retention rate, hires count, monthly earnings. Reputation accrues only on confirmed, paid, on-platform tuitions — it's the asset tutors would forfeit by going informal.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full system at a glance. Ten screens, four loops: get started, find work, build trust, run the day-to-day. Every screen serves at least one of our five product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cross-cutting features make the whole thing work. Masked communication keeps everyone safe and on-platform. Auto-collected payments remove the awkward monthly ask. Verified reputation compounds — but only on-platform.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the tutor app. Thank you — questions and feedback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46" y="990564"/>
            <a:ext cx="16459307" cy="9525"/>
          </a:xfrm>
          <a:prstGeom prst="rect">
            <a:avLst/>
          </a:prstGeom>
          <a:solidFill>
            <a:srgbClr val="0F0F0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346" y="666750"/>
            <a:ext cx="76128" cy="76128"/>
          </a:xfrm>
          <a:prstGeom prst="ellipse">
            <a:avLst/>
          </a:prstGeom>
          <a:solidFill>
            <a:srgbClr val="FFC83D"/>
          </a:solidFill>
          <a:ln/>
        </p:spPr>
      </p:sp>
      <p:sp>
        <p:nvSpPr>
          <p:cNvPr id="4" name="Text 2"/>
          <p:cNvSpPr/>
          <p:nvPr/>
        </p:nvSpPr>
        <p:spPr>
          <a:xfrm>
            <a:off x="1085724" y="609564"/>
            <a:ext cx="9917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0F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Tution</a:t>
            </a:r>
            <a:pPr algn="l" indent="0" marL="0">
              <a:buNone/>
            </a:pPr>
            <a:r>
              <a:rPr lang="en-US" sz="1125" b="1" dirty="0">
                <a:solidFill>
                  <a:srgbClr val="B885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pPr algn="l" indent="0" marL="0">
              <a:buNone/>
            </a:pPr>
            <a:r>
              <a:rPr lang="en-US" sz="1125" b="1" dirty="0">
                <a:solidFill>
                  <a:srgbClr val="0F0F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14832752" y="623996"/>
            <a:ext cx="2617129" cy="199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0F0F0F">
                    <a:alpha val="48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 · REPUTATION · THE ASSET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1104846" y="1077516"/>
            <a:ext cx="4000500" cy="8191499"/>
          </a:xfrm>
          <a:prstGeom prst="roundRect">
            <a:avLst>
              <a:gd name="adj" fmla="val 10476"/>
            </a:avLst>
          </a:prstGeom>
          <a:solidFill>
            <a:srgbClr val="0F0F0F"/>
          </a:solidFill>
          <a:ln w="80818">
            <a:solidFill>
              <a:srgbClr val="2A2A2A"/>
            </a:solidFill>
            <a:prstDash val="solid"/>
          </a:ln>
          <a:effectLst>
            <a:outerShdw sx="100000" sy="100000" kx="0" ky="0" algn="bl" rotWithShape="0" blurRad="952500" dist="476250" dir="54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19407" y="1272616"/>
            <a:ext cx="171378" cy="171378"/>
          </a:xfrm>
          <a:prstGeom prst="ellipse">
            <a:avLst/>
          </a:prstGeom>
          <a:solidFill>
            <a:srgbClr val="050505"/>
          </a:solidFill>
          <a:ln/>
        </p:spPr>
      </p:sp>
      <p:sp>
        <p:nvSpPr>
          <p:cNvPr id="8" name="Text 6"/>
          <p:cNvSpPr/>
          <p:nvPr/>
        </p:nvSpPr>
        <p:spPr>
          <a:xfrm>
            <a:off x="1395196" y="1254666"/>
            <a:ext cx="350585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9:30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72569" y="1254666"/>
            <a:ext cx="818627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8C8C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● ●●● ▮▮▮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95106" y="1634494"/>
            <a:ext cx="533346" cy="533346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11" name="Text 9"/>
          <p:cNvSpPr/>
          <p:nvPr/>
        </p:nvSpPr>
        <p:spPr>
          <a:xfrm>
            <a:off x="1357006" y="1634494"/>
            <a:ext cx="609546" cy="571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42733" y="1694837"/>
            <a:ext cx="2855523" cy="234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Tanvir Hasan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042733" y="1929173"/>
            <a:ext cx="518824" cy="178233"/>
          </a:xfrm>
          <a:prstGeom prst="roundRect">
            <a:avLst>
              <a:gd name="adj" fmla="val 50000"/>
            </a:avLst>
          </a:prstGeom>
          <a:solidFill>
            <a:srgbClr val="7ED9A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109408" y="1957748"/>
            <a:ext cx="461674" cy="15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675" spc="54" kern="0" dirty="0">
                <a:solidFill>
                  <a:srgbClr val="7ED9A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🛡 ●●●○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2599621" y="1960562"/>
            <a:ext cx="570039" cy="153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27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@tanvir.h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1357042" y="2358249"/>
            <a:ext cx="3496108" cy="1148051"/>
          </a:xfrm>
          <a:prstGeom prst="roundRect">
            <a:avLst>
              <a:gd name="adj" fmla="val 13275"/>
            </a:avLst>
          </a:prstGeom>
          <a:solidFill>
            <a:srgbClr val="181818"/>
          </a:solidFill>
          <a:ln w="5773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6128" y="2497336"/>
            <a:ext cx="1082278" cy="153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08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REPUTATION TIER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496128" y="2631822"/>
            <a:ext cx="1082278" cy="285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b="1" spc="-3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96128" y="2936604"/>
            <a:ext cx="1082278" cy="147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of 25 hires to </a:t>
            </a:r>
            <a:pPr algn="l" indent="0" marL="0">
              <a:buNone/>
            </a:pPr>
            <a:r>
              <a:rPr lang="en-US" sz="750" b="1" dirty="0">
                <a:solidFill>
                  <a:srgbClr val="B88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95540" y="2642195"/>
            <a:ext cx="494723" cy="44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496128" y="3141536"/>
            <a:ext cx="3217934" cy="38064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96128" y="3141536"/>
            <a:ext cx="1544565" cy="38064"/>
          </a:xfrm>
          <a:prstGeom prst="rect">
            <a:avLst/>
          </a:prstGeom>
          <a:solidFill>
            <a:srgbClr val="FFC83D"/>
          </a:solidFill>
          <a:ln/>
        </p:spPr>
      </p:sp>
      <p:sp>
        <p:nvSpPr>
          <p:cNvPr id="23" name="Text 21"/>
          <p:cNvSpPr/>
          <p:nvPr/>
        </p:nvSpPr>
        <p:spPr>
          <a:xfrm>
            <a:off x="1496128" y="3274850"/>
            <a:ext cx="547579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34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APPRENTICE</a:t>
            </a:r>
            <a:endParaRPr lang="en-US" sz="563" dirty="0"/>
          </a:p>
        </p:txBody>
      </p:sp>
      <p:sp>
        <p:nvSpPr>
          <p:cNvPr id="24" name="Text 22"/>
          <p:cNvSpPr/>
          <p:nvPr/>
        </p:nvSpPr>
        <p:spPr>
          <a:xfrm>
            <a:off x="2371328" y="3274850"/>
            <a:ext cx="311890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34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TUTOR</a:t>
            </a:r>
            <a:endParaRPr lang="en-US" sz="563" dirty="0"/>
          </a:p>
        </p:txBody>
      </p:sp>
      <p:sp>
        <p:nvSpPr>
          <p:cNvPr id="25" name="Text 23"/>
          <p:cNvSpPr/>
          <p:nvPr/>
        </p:nvSpPr>
        <p:spPr>
          <a:xfrm>
            <a:off x="3010838" y="3274850"/>
            <a:ext cx="406147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34" kern="0" dirty="0">
                <a:solidFill>
                  <a:srgbClr val="B8850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TRUSTED</a:t>
            </a:r>
            <a:endParaRPr lang="en-US" sz="563" dirty="0"/>
          </a:p>
        </p:txBody>
      </p:sp>
      <p:sp>
        <p:nvSpPr>
          <p:cNvPr id="26" name="Text 24"/>
          <p:cNvSpPr/>
          <p:nvPr/>
        </p:nvSpPr>
        <p:spPr>
          <a:xfrm>
            <a:off x="3744515" y="3274850"/>
            <a:ext cx="359064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34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EXPERT</a:t>
            </a:r>
            <a:endParaRPr lang="en-US" sz="563" dirty="0"/>
          </a:p>
        </p:txBody>
      </p:sp>
      <p:sp>
        <p:nvSpPr>
          <p:cNvPr id="27" name="Text 25"/>
          <p:cNvSpPr/>
          <p:nvPr/>
        </p:nvSpPr>
        <p:spPr>
          <a:xfrm>
            <a:off x="4431199" y="3274850"/>
            <a:ext cx="359064" cy="130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34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MENTOR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1357042" y="3620582"/>
            <a:ext cx="3496108" cy="614705"/>
          </a:xfrm>
          <a:prstGeom prst="roundRect">
            <a:avLst>
              <a:gd name="adj" fmla="val 24792"/>
            </a:avLst>
          </a:prstGeom>
          <a:solidFill>
            <a:srgbClr val="181818"/>
          </a:solidFill>
          <a:ln w="5773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96128" y="3759669"/>
            <a:ext cx="837839" cy="257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96128" y="3998064"/>
            <a:ext cx="837839" cy="136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RATING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314863" y="3759669"/>
            <a:ext cx="837839" cy="257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314863" y="3998064"/>
            <a:ext cx="837839" cy="136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HIRES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133599" y="3759669"/>
            <a:ext cx="837839" cy="257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133599" y="3998064"/>
            <a:ext cx="837839" cy="136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ON-TIME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952333" y="3759669"/>
            <a:ext cx="837929" cy="2574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952333" y="3998064"/>
            <a:ext cx="837929" cy="136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RETAINED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395142" y="4387669"/>
            <a:ext cx="3524791" cy="153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08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VERIFIED REVIEWS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1357042" y="4617370"/>
            <a:ext cx="3496108" cy="1175291"/>
          </a:xfrm>
          <a:prstGeom prst="roundRect">
            <a:avLst>
              <a:gd name="adj" fmla="val 12967"/>
            </a:avLst>
          </a:prstGeom>
          <a:solidFill>
            <a:srgbClr val="181818"/>
          </a:solidFill>
          <a:ln w="5773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77096" y="4737424"/>
            <a:ext cx="190500" cy="190500"/>
          </a:xfrm>
          <a:prstGeom prst="ellipse">
            <a:avLst/>
          </a:prstGeom>
          <a:solidFill>
            <a:srgbClr val="6B5B95"/>
          </a:solidFill>
          <a:ln/>
        </p:spPr>
      </p:sp>
      <p:sp>
        <p:nvSpPr>
          <p:cNvPr id="40" name="Text 38"/>
          <p:cNvSpPr/>
          <p:nvPr/>
        </p:nvSpPr>
        <p:spPr>
          <a:xfrm>
            <a:off x="1438996" y="4737424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1724692" y="4760515"/>
            <a:ext cx="777677" cy="182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Rahman ✓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4336310" y="4769174"/>
            <a:ext cx="4729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C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477096" y="5099302"/>
            <a:ext cx="3353678" cy="3418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"Tanvir is patient and explains physics in a way my daughter finally gets. On-time every class."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477096" y="5574470"/>
            <a:ext cx="3353678" cy="136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MAY · 3-MONTH ENGAGEMENT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1357042" y="5906943"/>
            <a:ext cx="3496108" cy="769937"/>
          </a:xfrm>
          <a:prstGeom prst="roundRect">
            <a:avLst>
              <a:gd name="adj" fmla="val 19794"/>
            </a:avLst>
          </a:prstGeom>
          <a:solidFill>
            <a:srgbClr val="181818"/>
          </a:solidFill>
          <a:ln w="5773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96128" y="6046029"/>
            <a:ext cx="911261" cy="136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84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1496128" y="6163198"/>
            <a:ext cx="911261" cy="24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spc="-3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৳ 28,400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496128" y="6410794"/>
            <a:ext cx="91126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E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৳3,200 vs April</a:t>
            </a:r>
            <a:endParaRPr lang="en-US" sz="75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063" y="6156793"/>
            <a:ext cx="762000" cy="38100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1357042" y="8413749"/>
            <a:ext cx="3496108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1601841" y="8495650"/>
            <a:ext cx="285732" cy="24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📋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599045" y="8743246"/>
            <a:ext cx="291324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Jobs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2301063" y="8495650"/>
            <a:ext cx="285732" cy="24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🗺️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2217178" y="8743246"/>
            <a:ext cx="453502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Demand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3000285" y="8495650"/>
            <a:ext cx="285732" cy="24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📅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2896556" y="8743246"/>
            <a:ext cx="493280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3699506" y="8495650"/>
            <a:ext cx="285732" cy="24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💬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3682188" y="8743246"/>
            <a:ext cx="320459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Inbox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4398728" y="8495650"/>
            <a:ext cx="285732" cy="2476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C8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👤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4363009" y="8743246"/>
            <a:ext cx="357169" cy="159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C8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2628846" y="9026290"/>
            <a:ext cx="952500" cy="38064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5867345" y="1377337"/>
            <a:ext cx="11851496" cy="211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0F0F0F">
                    <a:alpha val="48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SCREEN 10 · REPUTATION PROFILE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5867345" y="1779082"/>
            <a:ext cx="11851496" cy="2671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200" b="1" spc="-252" kern="0" dirty="0">
                <a:solidFill>
                  <a:srgbClr val="0F0F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Reputation that </a:t>
            </a:r>
            <a:pPr algn="l" indent="0" marL="0">
              <a:lnSpc>
                <a:spcPct val="96000"/>
              </a:lnSpc>
              <a:buNone/>
            </a:pPr>
            <a:r>
              <a:rPr lang="en-US" sz="7200" b="1" spc="-252" kern="0" dirty="0">
                <a:solidFill>
                  <a:srgbClr val="B885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compounds </a:t>
            </a:r>
            <a:pPr algn="l" indent="0" marL="0">
              <a:lnSpc>
                <a:spcPct val="96000"/>
              </a:lnSpc>
              <a:buNone/>
            </a:pPr>
            <a:r>
              <a:rPr lang="en-US" sz="7200" b="1" spc="-252" kern="0" dirty="0">
                <a:solidFill>
                  <a:srgbClr val="0F0F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on-platform.</a:t>
            </a:r>
            <a:endParaRPr lang="en-US" sz="7200" dirty="0"/>
          </a:p>
        </p:txBody>
      </p:sp>
      <p:sp>
        <p:nvSpPr>
          <p:cNvPr id="64" name="Text 61"/>
          <p:cNvSpPr/>
          <p:nvPr/>
        </p:nvSpPr>
        <p:spPr>
          <a:xfrm>
            <a:off x="5867345" y="4850624"/>
            <a:ext cx="7848599" cy="9808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0F0F0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Ratings, on-time percentage, retention, hires, earnings. Every metric accrues only from confirmed, paid, on-platform tuitions. The asset tutors would forfeit by leaving.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5867345" y="6517138"/>
            <a:ext cx="76128" cy="76128"/>
          </a:xfrm>
          <a:prstGeom prst="ellipse">
            <a:avLst/>
          </a:prstGeom>
          <a:solidFill>
            <a:srgbClr val="FFC83D"/>
          </a:solidFill>
          <a:ln/>
        </p:spPr>
      </p:sp>
      <p:sp>
        <p:nvSpPr>
          <p:cNvPr id="66" name="Text 63"/>
          <p:cNvSpPr/>
          <p:nvPr/>
        </p:nvSpPr>
        <p:spPr>
          <a:xfrm>
            <a:off x="6305351" y="6402856"/>
            <a:ext cx="11400351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-8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tiers · ladder visible</a:t>
            </a:r>
            <a:endParaRPr lang="en-US" sz="1650" dirty="0"/>
          </a:p>
        </p:txBody>
      </p:sp>
      <p:sp>
        <p:nvSpPr>
          <p:cNvPr id="67" name="Text 64"/>
          <p:cNvSpPr/>
          <p:nvPr/>
        </p:nvSpPr>
        <p:spPr>
          <a:xfrm>
            <a:off x="6305351" y="6702407"/>
            <a:ext cx="11400351" cy="26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F0F0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Apprentice → Tutor → Trusted → Expert → Mentor. Higher tiers unlock higher-paying jobs.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867345" y="7216721"/>
            <a:ext cx="76128" cy="76128"/>
          </a:xfrm>
          <a:prstGeom prst="ellipse">
            <a:avLst/>
          </a:prstGeom>
          <a:solidFill>
            <a:srgbClr val="FFC83D"/>
          </a:solidFill>
          <a:ln/>
        </p:spPr>
      </p:sp>
      <p:sp>
        <p:nvSpPr>
          <p:cNvPr id="69" name="Text 66"/>
          <p:cNvSpPr/>
          <p:nvPr/>
        </p:nvSpPr>
        <p:spPr>
          <a:xfrm>
            <a:off x="6305351" y="7102439"/>
            <a:ext cx="11400351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-8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reviews only</a:t>
            </a:r>
            <a:endParaRPr lang="en-US" sz="1650" dirty="0"/>
          </a:p>
        </p:txBody>
      </p:sp>
      <p:sp>
        <p:nvSpPr>
          <p:cNvPr id="70" name="Text 67"/>
          <p:cNvSpPr/>
          <p:nvPr/>
        </p:nvSpPr>
        <p:spPr>
          <a:xfrm>
            <a:off x="6305351" y="7401989"/>
            <a:ext cx="11400351" cy="26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F0F0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can only be left from confirmed, paid tuitions. Unfakeable.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5867345" y="7916303"/>
            <a:ext cx="76128" cy="76128"/>
          </a:xfrm>
          <a:prstGeom prst="ellipse">
            <a:avLst/>
          </a:prstGeom>
          <a:solidFill>
            <a:srgbClr val="FFC83D"/>
          </a:solidFill>
          <a:ln/>
        </p:spPr>
      </p:sp>
      <p:sp>
        <p:nvSpPr>
          <p:cNvPr id="72" name="Text 69"/>
          <p:cNvSpPr/>
          <p:nvPr/>
        </p:nvSpPr>
        <p:spPr>
          <a:xfrm>
            <a:off x="6305351" y="7802021"/>
            <a:ext cx="11400351" cy="280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-8" kern="0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income statement</a:t>
            </a:r>
            <a:endParaRPr lang="en-US" sz="1650" dirty="0"/>
          </a:p>
        </p:txBody>
      </p:sp>
      <p:sp>
        <p:nvSpPr>
          <p:cNvPr id="73" name="Text 70"/>
          <p:cNvSpPr/>
          <p:nvPr/>
        </p:nvSpPr>
        <p:spPr>
          <a:xfrm>
            <a:off x="6305351" y="8101571"/>
            <a:ext cx="11400351" cy="266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F0F0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earnings with a paper trail. The basis for our future tutor lending product.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5867345" y="8655302"/>
            <a:ext cx="1560621" cy="313892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/>
        </p:spPr>
      </p:sp>
      <p:sp>
        <p:nvSpPr>
          <p:cNvPr id="75" name="Text 72"/>
          <p:cNvSpPr/>
          <p:nvPr/>
        </p:nvSpPr>
        <p:spPr>
          <a:xfrm>
            <a:off x="6006468" y="8737275"/>
            <a:ext cx="1358575" cy="18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0F0F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TRUST IS THE MOAT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7542248" y="8655302"/>
            <a:ext cx="1485214" cy="313892"/>
          </a:xfrm>
          <a:prstGeom prst="roundRect">
            <a:avLst>
              <a:gd name="adj" fmla="val 50000"/>
            </a:avLst>
          </a:prstGeom>
          <a:solidFill>
            <a:srgbClr val="0F0F0F">
              <a:alpha val="5000"/>
            </a:srgbClr>
          </a:solidFill>
          <a:ln w="5773">
            <a:solidFill>
              <a:srgbClr val="0F0F0F">
                <a:alpha val="14000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681371" y="8737275"/>
            <a:ext cx="1283169" cy="188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0F0F0F">
                    <a:alpha val="7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KILL THE LEAKAGE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914346" y="9350194"/>
            <a:ext cx="16459307" cy="9525"/>
          </a:xfrm>
          <a:prstGeom prst="rect">
            <a:avLst/>
          </a:prstGeom>
          <a:solidFill>
            <a:srgbClr val="0F0F0F">
              <a:alpha val="8000"/>
            </a:srgbClr>
          </a:solidFill>
          <a:ln/>
        </p:spPr>
      </p:sp>
      <p:sp>
        <p:nvSpPr>
          <p:cNvPr id="79" name="Text 76"/>
          <p:cNvSpPr/>
          <p:nvPr/>
        </p:nvSpPr>
        <p:spPr>
          <a:xfrm>
            <a:off x="914346" y="9527345"/>
            <a:ext cx="922085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0F0F0F">
                    <a:alpha val="48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REPUTATION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6781498" y="9527345"/>
            <a:ext cx="668355" cy="18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26" kern="0" dirty="0">
                <a:solidFill>
                  <a:srgbClr val="0F0F0F">
                    <a:alpha val="48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2026-05-26T04:22:46Z</dcterms:created>
  <dcterms:modified xsi:type="dcterms:W3CDTF">2026-05-26T04:22:46Z</dcterms:modified>
</cp:coreProperties>
</file>